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4" r:id="rId4"/>
    <p:sldMasterId id="2147484275" r:id="rId5"/>
    <p:sldMasterId id="2147484207" r:id="rId6"/>
    <p:sldMasterId id="2147484321" r:id="rId7"/>
  </p:sldMasterIdLst>
  <p:notesMasterIdLst>
    <p:notesMasterId r:id="rId40"/>
  </p:notesMasterIdLst>
  <p:sldIdLst>
    <p:sldId id="291" r:id="rId8"/>
    <p:sldId id="257" r:id="rId9"/>
    <p:sldId id="286" r:id="rId10"/>
    <p:sldId id="287" r:id="rId11"/>
    <p:sldId id="258" r:id="rId12"/>
    <p:sldId id="259" r:id="rId13"/>
    <p:sldId id="260" r:id="rId14"/>
    <p:sldId id="261" r:id="rId15"/>
    <p:sldId id="262" r:id="rId16"/>
    <p:sldId id="263" r:id="rId17"/>
    <p:sldId id="290" r:id="rId18"/>
    <p:sldId id="264" r:id="rId19"/>
    <p:sldId id="310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80" r:id="rId33"/>
    <p:sldId id="281" r:id="rId34"/>
    <p:sldId id="282" r:id="rId35"/>
    <p:sldId id="283" r:id="rId36"/>
    <p:sldId id="284" r:id="rId37"/>
    <p:sldId id="285" r:id="rId38"/>
    <p:sldId id="288" r:id="rId39"/>
  </p:sldIdLst>
  <p:sldSz cx="12192000" cy="6858000"/>
  <p:notesSz cx="6858000" cy="9144000"/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21" userDrawn="1">
          <p15:clr>
            <a:srgbClr val="A4A3A4"/>
          </p15:clr>
        </p15:guide>
        <p15:guide id="2" orient="horz" pos="1037" userDrawn="1">
          <p15:clr>
            <a:srgbClr val="A4A3A4"/>
          </p15:clr>
        </p15:guide>
        <p15:guide id="3" orient="horz" pos="1296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cy Fox" initials="NF" lastIdx="7" clrIdx="0"/>
  <p:cmAuthor id="1" name="Ryan, Susan" initials="RS" lastIdx="1" clrIdx="1">
    <p:extLst>
      <p:ext uri="{19B8F6BF-5375-455C-9EA6-DF929625EA0E}">
        <p15:presenceInfo xmlns:p15="http://schemas.microsoft.com/office/powerpoint/2012/main" userId="S-1-5-21-2036949977-1304579848-9522986-2390" providerId="AD"/>
      </p:ext>
    </p:extLst>
  </p:cmAuthor>
  <p:cmAuthor id="2" name="Almes, Beth" initials="AB" lastIdx="8" clrIdx="2">
    <p:extLst>
      <p:ext uri="{19B8F6BF-5375-455C-9EA6-DF929625EA0E}">
        <p15:presenceInfo xmlns:p15="http://schemas.microsoft.com/office/powerpoint/2012/main" userId="S::Beth.Almes@ddiworld.com::2e0d2334-c6a5-43ad-983e-6761f5f62d30" providerId="AD"/>
      </p:ext>
    </p:extLst>
  </p:cmAuthor>
  <p:cmAuthor id="3" name="Ryan, Susan" initials="RS [2]" lastIdx="7" clrIdx="3">
    <p:extLst>
      <p:ext uri="{19B8F6BF-5375-455C-9EA6-DF929625EA0E}">
        <p15:presenceInfo xmlns:p15="http://schemas.microsoft.com/office/powerpoint/2012/main" userId="S::Susan.Ryan@ddiworld.com::02e6e479-9499-4b51-b795-489b7ef40b87" providerId="AD"/>
      </p:ext>
    </p:extLst>
  </p:cmAuthor>
  <p:cmAuthor id="4" name="Paese, Matt" initials="PM" lastIdx="4" clrIdx="4">
    <p:extLst>
      <p:ext uri="{19B8F6BF-5375-455C-9EA6-DF929625EA0E}">
        <p15:presenceInfo xmlns:p15="http://schemas.microsoft.com/office/powerpoint/2012/main" userId="S::Matt.Paese@ddiworld.com::ffc5a47b-d0d0-4f59-bc1f-713ac5a1730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F2F2"/>
    <a:srgbClr val="DFE7E9"/>
    <a:srgbClr val="FAA21A"/>
    <a:srgbClr val="425664"/>
    <a:srgbClr val="D9E2E4"/>
    <a:srgbClr val="236294"/>
    <a:srgbClr val="0FAEC7"/>
    <a:srgbClr val="EF6723"/>
    <a:srgbClr val="EE2F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783FD5-8488-43AC-B2B5-C56FD2B36AD5}" v="15" dt="2025-03-21T13:14:45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96" y="312"/>
      </p:cViewPr>
      <p:guideLst>
        <p:guide orient="horz" pos="3721"/>
        <p:guide orient="horz" pos="1037"/>
        <p:guide orient="horz" pos="1296"/>
        <p:guide pos="3840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microsoft.com/office/2015/10/relationships/revisionInfo" Target="revisionInfo.xml"/><Relationship Id="rId20" Type="http://schemas.openxmlformats.org/officeDocument/2006/relationships/slide" Target="slides/slide13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749B84D0-BCEA-484E-A491-68624C2BBF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DFB61CBC-9511-4E43-82A9-47BCA7A931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E19FAED-E1F9-4526-AE42-D991ACB5F4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A86CFAF-0BA6-4E71-B77B-95DE0466E95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7D10C-787C-4FA5-802C-79023EC0D10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8DF84E61-9D7F-4CF5-8195-F29D125C1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DBE421-0DA4-4C19-AB91-A46E98871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4F545-3DDD-4EDB-B2F6-847791C8F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54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Slide Image Placeholder 11">
            <a:extLst>
              <a:ext uri="{FF2B5EF4-FFF2-40B4-BE49-F238E27FC236}">
                <a16:creationId xmlns:a16="http://schemas.microsoft.com/office/drawing/2014/main" id="{9D70856D-651D-4C00-B991-B26644C97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" name="Notes Placeholder 12">
            <a:extLst>
              <a:ext uri="{FF2B5EF4-FFF2-40B4-BE49-F238E27FC236}">
                <a16:creationId xmlns:a16="http://schemas.microsoft.com/office/drawing/2014/main" id="{E64F3E01-2323-45A1-87D4-348ABA826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17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2308C1F4-EC44-480B-A585-A59524DCC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775F3DB6-FA31-41FA-B541-3B17B2BD3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65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5B30E4-EC08-4FC4-9742-3568A2FC9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B37E31F0-861B-46D0-BBA1-F7BE7A3EB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41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13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53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0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59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43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78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02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73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65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2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20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342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898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91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732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417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06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464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679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940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177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197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721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313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245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925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172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374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4F545-3DDD-4EDB-B2F6-847791C8FBE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33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DD6690-B36B-4959-99D4-34F65C8274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070600"/>
          </a:xfrm>
        </p:spPr>
        <p:txBody>
          <a:bodyPr anchor="ctr"/>
          <a:lstStyle>
            <a:lvl1pPr algn="ctr">
              <a:buFontTx/>
              <a:buNone/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162098-88A4-4001-8ED0-ACF627D95D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905001"/>
            <a:ext cx="5181600" cy="1146175"/>
          </a:xfrm>
        </p:spPr>
        <p:txBody>
          <a:bodyPr lIns="0" tIns="0" rIns="0" bIns="0" anchor="b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Slide</a:t>
            </a:r>
            <a:br>
              <a:rPr lang="en-US"/>
            </a:br>
            <a:r>
              <a:rPr lang="en-US"/>
              <a:t>Click to Edit Master Title Slide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AEC0C86-0C88-4BAA-A4F4-6F15AA60E3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3142517"/>
            <a:ext cx="5181600" cy="9976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133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9F307AF-2AD2-4031-9552-EF1B2FF3C7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371658"/>
            <a:ext cx="5181600" cy="784543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9B02CE2-D64E-443E-B75A-17E45EDCF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4800" y="64166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rgbClr val="4256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35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 Slide - Text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162098-88A4-4001-8ED0-ACF627D95D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800" y="1905001"/>
            <a:ext cx="7823200" cy="1146175"/>
          </a:xfrm>
        </p:spPr>
        <p:txBody>
          <a:bodyPr lIns="0" tIns="0" rIns="0" bIns="0" anchor="b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Slide</a:t>
            </a:r>
            <a:br>
              <a:rPr lang="en-US"/>
            </a:br>
            <a:r>
              <a:rPr lang="en-US"/>
              <a:t>Click to Edit Master Title Slide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AEC0C86-0C88-4BAA-A4F4-6F15AA60E3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800" y="3142518"/>
            <a:ext cx="7823200" cy="896081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133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9F307AF-2AD2-4031-9552-EF1B2FF3C7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800" y="4168775"/>
            <a:ext cx="7823200" cy="784543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697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/ Section Slide Gray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11BF2B1-4F6E-4CA5-9510-AAA84761D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4800" y="64166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rgbClr val="4256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9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/ Section Slide Gray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FF7AB281-A271-4B17-9450-B7652935A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584200"/>
            <a:ext cx="11058596" cy="812800"/>
          </a:xfrm>
        </p:spPr>
        <p:txBody>
          <a:bodyPr anchor="b">
            <a:noAutofit/>
          </a:bodyPr>
          <a:lstStyle>
            <a:lvl1pPr>
              <a:lnSpc>
                <a:spcPts val="3463"/>
              </a:lnSpc>
              <a:defRPr sz="26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AAD9DA2-9A81-431A-BD5E-A5AC670B3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4800" y="64166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rgbClr val="4256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5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/ Section Slide Gra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AEC77D0-D270-4415-91CF-23534CD0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84200"/>
            <a:ext cx="11058596" cy="8128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9BFC9C-3E0E-4A48-894E-55A9DB15E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1" y="1600200"/>
            <a:ext cx="11058596" cy="4267200"/>
          </a:xfrm>
        </p:spPr>
        <p:txBody>
          <a:bodyPr>
            <a:noAutofit/>
          </a:bodyPr>
          <a:lstStyle>
            <a:lvl1pPr marL="156629" indent="-156629">
              <a:lnSpc>
                <a:spcPct val="100000"/>
              </a:lnSpc>
              <a:buClr>
                <a:srgbClr val="DFE7E9"/>
              </a:buClr>
              <a:buSzPct val="90000"/>
              <a:defRPr sz="21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9865" indent="-224361">
              <a:lnSpc>
                <a:spcPct val="100000"/>
              </a:lnSpc>
              <a:buSzPct val="80000"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095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/ Section Slide Gray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3725035-0186-40F9-9E38-F91A7B34F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5" y="584200"/>
            <a:ext cx="11085689" cy="812800"/>
          </a:xfrm>
        </p:spPr>
        <p:txBody>
          <a:bodyPr anchor="b">
            <a:noAutofit/>
          </a:bodyPr>
          <a:lstStyle>
            <a:lvl1pPr>
              <a:lnSpc>
                <a:spcPts val="3463"/>
              </a:lnSpc>
              <a:defRPr sz="26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27D6ED5A-23E2-4B84-97D1-91FD9AFDA58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0378" y="1803400"/>
            <a:ext cx="5429647" cy="3962400"/>
          </a:xfrm>
        </p:spPr>
        <p:txBody>
          <a:bodyPr>
            <a:noAutofit/>
          </a:bodyPr>
          <a:lstStyle>
            <a:lvl1pPr marL="156629" indent="-156629">
              <a:lnSpc>
                <a:spcPts val="3197"/>
              </a:lnSpc>
              <a:buClr>
                <a:srgbClr val="DFE7E9"/>
              </a:buClr>
              <a:buSzPct val="90000"/>
              <a:defRPr sz="21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21943DC7-15E9-4BE7-B6F0-5D0AFF8387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5647" y="1803400"/>
            <a:ext cx="5429647" cy="3962400"/>
          </a:xfrm>
        </p:spPr>
        <p:txBody>
          <a:bodyPr>
            <a:noAutofit/>
          </a:bodyPr>
          <a:lstStyle>
            <a:lvl1pPr marL="156629" indent="-156629">
              <a:lnSpc>
                <a:spcPts val="3197"/>
              </a:lnSpc>
              <a:buClr>
                <a:srgbClr val="DFE7E9"/>
              </a:buClr>
              <a:buSzPct val="90000"/>
              <a:defRPr sz="21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667ED2-A441-40CD-88C2-DA0C58F66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4800" y="64166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rgbClr val="4256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4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/ Section Slide Gray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3725035-0186-40F9-9E38-F91A7B34F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5" y="584200"/>
            <a:ext cx="11112783" cy="812800"/>
          </a:xfrm>
        </p:spPr>
        <p:txBody>
          <a:bodyPr anchor="b">
            <a:noAutofit/>
          </a:bodyPr>
          <a:lstStyle>
            <a:lvl1pPr>
              <a:lnSpc>
                <a:spcPts val="3463"/>
              </a:lnSpc>
              <a:defRPr sz="26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6A6F8EB7-6BF5-4216-9ECC-3E2D5A975C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75204" y="1807992"/>
            <a:ext cx="6947183" cy="3957808"/>
          </a:xfrm>
        </p:spPr>
        <p:txBody>
          <a:bodyPr>
            <a:noAutofit/>
          </a:bodyPr>
          <a:lstStyle>
            <a:lvl1pPr marL="156629" indent="-156629">
              <a:lnSpc>
                <a:spcPct val="100000"/>
              </a:lnSpc>
              <a:buClr>
                <a:srgbClr val="DFE7E9"/>
              </a:buClr>
              <a:buSzPct val="90000"/>
              <a:defRPr sz="21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0D428-5F52-481E-9395-595951DDAC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600" y="1807992"/>
            <a:ext cx="4049184" cy="39578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EB01E60-605D-4F58-AE21-46201E636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4800" y="64166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rgbClr val="4256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71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/ Section Slide Gra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029864" y="2518927"/>
            <a:ext cx="5791200" cy="1146175"/>
          </a:xfrm>
        </p:spPr>
        <p:txBody>
          <a:bodyPr anchor="ctr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9EEDE1A-1D9A-4EED-A07A-3AD335AC8A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0936" y="357189"/>
            <a:ext cx="5471064" cy="5662612"/>
          </a:xfr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166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/ Section Slide Gra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165600" y="2514601"/>
            <a:ext cx="7416800" cy="605273"/>
          </a:xfrm>
        </p:spPr>
        <p:txBody>
          <a:bodyPr anchor="t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9EEDE1A-1D9A-4EED-A07A-3AD335AC8A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0935" y="357189"/>
            <a:ext cx="3499391" cy="5662612"/>
          </a:xfr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B4F9A-0594-4083-821D-FB98CFE2C2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65600" y="3225800"/>
            <a:ext cx="7416800" cy="2540000"/>
          </a:xfrm>
        </p:spPr>
        <p:txBody>
          <a:bodyPr/>
          <a:lstStyle>
            <a:lvl1pPr marL="156629" indent="-156629">
              <a:spcBef>
                <a:spcPts val="800"/>
              </a:spcBef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defRPr sz="18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defRPr sz="18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defRPr sz="18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defRPr sz="18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624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 quote or story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759200" y="2069829"/>
            <a:ext cx="7620000" cy="609600"/>
          </a:xfrm>
        </p:spPr>
        <p:txBody>
          <a:bodyPr lIns="0" anchor="t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9EEDE1A-1D9A-4EED-A07A-3AD335AC8A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17600" y="1847176"/>
            <a:ext cx="2438400" cy="2438400"/>
          </a:xfrm>
          <a:solidFill>
            <a:schemeClr val="bg1"/>
          </a:solidFill>
          <a:ln>
            <a:noFill/>
          </a:ln>
        </p:spPr>
        <p:txBody>
          <a:bodyPr lIns="0" rIns="0" anchor="ctr">
            <a:normAutofit/>
          </a:bodyPr>
          <a:lstStyle>
            <a:lvl1pPr algn="ctr">
              <a:buFontTx/>
              <a:buNone/>
              <a:defRPr sz="1867"/>
            </a:lvl1pPr>
          </a:lstStyle>
          <a:p>
            <a:r>
              <a:rPr lang="en-US"/>
              <a:t>Client logo or image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D45B73-207C-4F81-AD5D-9F708AF4D1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59200" y="2696994"/>
            <a:ext cx="7620001" cy="2781300"/>
          </a:xfrm>
        </p:spPr>
        <p:txBody>
          <a:bodyPr lIns="0" rIns="0">
            <a:noAutofit/>
          </a:bodyPr>
          <a:lstStyle>
            <a:lvl1pPr marL="156629" indent="-156629">
              <a:spcBef>
                <a:spcPts val="800"/>
              </a:spcBef>
              <a:buClr>
                <a:schemeClr val="bg1"/>
              </a:buClr>
              <a:buSzPct val="90000"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5284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06400" y="584200"/>
            <a:ext cx="11277600" cy="8128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406400" y="6416675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11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406400" y="6416675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400" y="1803400"/>
            <a:ext cx="11277600" cy="4267200"/>
          </a:xfrm>
        </p:spPr>
        <p:txBody>
          <a:bodyPr>
            <a:noAutofit/>
          </a:bodyPr>
          <a:lstStyle>
            <a:lvl1pPr marL="156629" indent="-156629">
              <a:lnSpc>
                <a:spcPct val="100000"/>
              </a:lnSpc>
              <a:buSzPct val="90000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5504" indent="-232828">
              <a:lnSpc>
                <a:spcPct val="100000"/>
              </a:lnSpc>
              <a:buSzPct val="90000"/>
              <a:defRPr sz="18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6494" indent="-156629">
              <a:lnSpc>
                <a:spcPct val="100000"/>
              </a:lnSpc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FF5CB36-D43F-4DF2-BE9C-62301D411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584200"/>
            <a:ext cx="11277600" cy="8128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658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-column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406400" y="6416675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07176" y="1803400"/>
            <a:ext cx="5282424" cy="4165600"/>
          </a:xfrm>
        </p:spPr>
        <p:txBody>
          <a:bodyPr>
            <a:noAutofit/>
          </a:bodyPr>
          <a:lstStyle>
            <a:lvl1pPr marL="232828" indent="-232828">
              <a:lnSpc>
                <a:spcPct val="100000"/>
              </a:lnSpc>
              <a:buSzPct val="90000"/>
              <a:defRPr lang="en-US" sz="2133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156629" lvl="0" indent="-156629" algn="l" defTabSz="121917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425664"/>
              </a:buClr>
              <a:buSzPct val="90000"/>
              <a:buFont typeface="Arial" pitchFamily="34" charset="0"/>
              <a:buChar char="•"/>
            </a:pPr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5892800" y="1803400"/>
            <a:ext cx="5588000" cy="4165600"/>
          </a:xfrm>
        </p:spPr>
        <p:txBody>
          <a:bodyPr>
            <a:noAutofit/>
          </a:bodyPr>
          <a:lstStyle>
            <a:lvl1pPr marL="232828" indent="-232828">
              <a:lnSpc>
                <a:spcPct val="100000"/>
              </a:lnSpc>
              <a:buSzPct val="90000"/>
              <a:defRPr lang="en-US" sz="2133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156629" lvl="0" indent="-156629" algn="l" defTabSz="121917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425664"/>
              </a:buClr>
              <a:buSzPct val="90000"/>
              <a:buFont typeface="Arial" pitchFamily="34" charset="0"/>
              <a:buChar char="•"/>
            </a:pPr>
            <a:r>
              <a:rPr lang="en-US"/>
              <a:t>Edit Master text styles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64D889DD-8870-47FC-A953-3590A46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584200"/>
            <a:ext cx="11277600" cy="8128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4516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+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06400" y="584200"/>
            <a:ext cx="11277600" cy="8128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lang="en-US" sz="2667" b="1" kern="1200" dirty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406400" y="6416675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1" y="1803400"/>
            <a:ext cx="7136836" cy="4165600"/>
          </a:xfrm>
        </p:spPr>
        <p:txBody>
          <a:bodyPr>
            <a:noAutofit/>
          </a:bodyPr>
          <a:lstStyle>
            <a:lvl1pPr marL="232828" indent="-232828">
              <a:lnSpc>
                <a:spcPct val="100000"/>
              </a:lnSpc>
              <a:buSzPct val="90000"/>
              <a:defRPr lang="en-US" sz="2133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156629" lvl="0" indent="-156629" algn="l" defTabSz="121917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425664"/>
              </a:buClr>
              <a:buSzPct val="90000"/>
              <a:buFont typeface="Arial" pitchFamily="34" charset="0"/>
              <a:buChar char="•"/>
            </a:pPr>
            <a:r>
              <a:rPr lang="en-US"/>
              <a:t>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406400" y="1803400"/>
            <a:ext cx="3982720" cy="4165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2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+ Text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406400" y="6416675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EE51BB2-CDA6-4449-95D2-3C56CBB4A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59200" y="580106"/>
            <a:ext cx="8128000" cy="549049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US" sz="2133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156629" lvl="0" indent="-156629" algn="l" defTabSz="121917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425664"/>
              </a:buClr>
              <a:buSzPct val="90000"/>
              <a:buFont typeface="Arial" pitchFamily="34" charset="0"/>
              <a:buChar char="•"/>
            </a:pPr>
            <a:r>
              <a:rPr lang="en-US"/>
              <a:t>Edit Master text styles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C4A2B78A-962D-4C6D-B4BF-41489ED40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584200"/>
            <a:ext cx="3048000" cy="2235201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lang="en-US" sz="2667" b="1" kern="1200" dirty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3084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ram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06400" y="6416675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CDFC3C6-2AAC-4034-BD2A-EFD0CE500A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5100" y="423042"/>
            <a:ext cx="11529965" cy="5647559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48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rame with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06400" y="6416675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4590" y="5156200"/>
            <a:ext cx="11566693" cy="914400"/>
          </a:xfrm>
        </p:spPr>
        <p:txBody>
          <a:bodyPr anchor="t">
            <a:noAutofit/>
          </a:bodyPr>
          <a:lstStyle>
            <a:lvl1pPr algn="l">
              <a:defRPr sz="2667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1D66DE3-DC0B-4374-BB54-CDA95EDB9C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5100" y="423042"/>
            <a:ext cx="11529965" cy="4631559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601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Frame with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06400" y="6416675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4590" y="5156200"/>
            <a:ext cx="11566693" cy="914400"/>
          </a:xfrm>
        </p:spPr>
        <p:txBody>
          <a:bodyPr anchor="t">
            <a:noAutofit/>
          </a:bodyPr>
          <a:lstStyle>
            <a:lvl1pPr algn="l">
              <a:defRPr sz="2667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1D66DE3-DC0B-4374-BB54-CDA95EDB9C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2191999" cy="50546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284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06400" y="6416676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CDFC3C6-2AAC-4034-BD2A-EFD0CE500A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2192000" cy="607060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55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06400" y="6416676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CDFC3C6-2AAC-4034-BD2A-EFD0CE500A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01800"/>
            <a:ext cx="12192000" cy="29464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566E43-E76A-4F62-9D45-AC19600796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6400" y="4749800"/>
            <a:ext cx="11379200" cy="1320800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89804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CDFC3C6-2AAC-4034-BD2A-EFD0CE500A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070061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06400" y="6416676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2AC459-E366-4CB9-B742-D3D999F4C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92" y="3605720"/>
            <a:ext cx="11566693" cy="2464341"/>
          </a:xfrm>
        </p:spPr>
        <p:txBody>
          <a:bodyPr anchor="t">
            <a:noAutofit/>
          </a:bodyPr>
          <a:lstStyle>
            <a:lvl1pPr algn="l">
              <a:defRPr sz="2667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070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CDFC3C6-2AAC-4034-BD2A-EFD0CE500A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0706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06400" y="6416676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2AC459-E366-4CB9-B742-D3D999F4C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92" y="4213699"/>
            <a:ext cx="11566693" cy="1552101"/>
          </a:xfrm>
        </p:spPr>
        <p:txBody>
          <a:bodyPr anchor="t">
            <a:noAutofit/>
          </a:bodyPr>
          <a:lstStyle>
            <a:lvl1pPr algn="l">
              <a:defRPr sz="2667"/>
            </a:lvl1pPr>
          </a:lstStyle>
          <a:p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7741854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06400" y="6416675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885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25664"/>
                </a:solidFill>
              </a:defRPr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425664"/>
                </a:solidFill>
              </a:defRPr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831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/ Section Slide 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4C5E18-A5FE-4022-86CA-077582635B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800" y="1905001"/>
            <a:ext cx="10363200" cy="1146175"/>
          </a:xfrm>
        </p:spPr>
        <p:txBody>
          <a:bodyPr lIns="0" tIns="0" rIns="0" bIns="0" anchor="b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</a:t>
            </a:r>
          </a:p>
        </p:txBody>
      </p:sp>
    </p:spTree>
    <p:extLst>
      <p:ext uri="{BB962C8B-B14F-4D97-AF65-F5344CB8AC3E}">
        <p14:creationId xmlns:p14="http://schemas.microsoft.com/office/powerpoint/2010/main" val="33622038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/ Section Slid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5F1798-3D04-4D42-9600-D00BEA61B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800" y="1905001"/>
            <a:ext cx="10871200" cy="1146175"/>
          </a:xfrm>
        </p:spPr>
        <p:txBody>
          <a:bodyPr lIns="0" tIns="0" rIns="0" bIns="0" anchor="b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</a:t>
            </a:r>
          </a:p>
        </p:txBody>
      </p:sp>
    </p:spTree>
    <p:extLst>
      <p:ext uri="{BB962C8B-B14F-4D97-AF65-F5344CB8AC3E}">
        <p14:creationId xmlns:p14="http://schemas.microsoft.com/office/powerpoint/2010/main" val="21902833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/ Section Slide Gra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B296F4-8AB2-43ED-8FB4-A3A9934312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800" y="1905001"/>
            <a:ext cx="10871200" cy="1146175"/>
          </a:xfrm>
        </p:spPr>
        <p:txBody>
          <a:bodyPr lIns="0" tIns="0" rIns="0" bIns="0" anchor="b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</a:t>
            </a:r>
          </a:p>
        </p:txBody>
      </p:sp>
    </p:spTree>
    <p:extLst>
      <p:ext uri="{BB962C8B-B14F-4D97-AF65-F5344CB8AC3E}">
        <p14:creationId xmlns:p14="http://schemas.microsoft.com/office/powerpoint/2010/main" val="1074807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/ Section Slide Gra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5D3131-4D21-44D1-96A8-ED7CA280C7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800" y="1905001"/>
            <a:ext cx="10972800" cy="1146175"/>
          </a:xfrm>
        </p:spPr>
        <p:txBody>
          <a:bodyPr lIns="0" tIns="0" rIns="0" bIns="0" anchor="b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</a:t>
            </a:r>
          </a:p>
        </p:txBody>
      </p:sp>
    </p:spTree>
    <p:extLst>
      <p:ext uri="{BB962C8B-B14F-4D97-AF65-F5344CB8AC3E}">
        <p14:creationId xmlns:p14="http://schemas.microsoft.com/office/powerpoint/2010/main" val="24011342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/ Section Slide Gra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2B6992-3B71-4955-BF70-FA3A5A35B9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800" y="1905001"/>
            <a:ext cx="10972800" cy="1146175"/>
          </a:xfrm>
        </p:spPr>
        <p:txBody>
          <a:bodyPr lIns="0" tIns="0" rIns="0" bIns="0" anchor="b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</a:t>
            </a:r>
          </a:p>
        </p:txBody>
      </p:sp>
    </p:spTree>
    <p:extLst>
      <p:ext uri="{BB962C8B-B14F-4D97-AF65-F5344CB8AC3E}">
        <p14:creationId xmlns:p14="http://schemas.microsoft.com/office/powerpoint/2010/main" val="36526842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/ Section Slide Gra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76C8BB-E798-4544-83C1-55BD1946402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800" y="1905001"/>
            <a:ext cx="10972800" cy="1146175"/>
          </a:xfrm>
        </p:spPr>
        <p:txBody>
          <a:bodyPr lIns="0" tIns="0" rIns="0" bIns="0" anchor="b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</a:t>
            </a:r>
          </a:p>
        </p:txBody>
      </p:sp>
    </p:spTree>
    <p:extLst>
      <p:ext uri="{BB962C8B-B14F-4D97-AF65-F5344CB8AC3E}">
        <p14:creationId xmlns:p14="http://schemas.microsoft.com/office/powerpoint/2010/main" val="3500129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/ Section Slide 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1D91F6-CC57-45D7-B6F5-CFB6473EF8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9148" y="4581427"/>
            <a:ext cx="11453973" cy="1436752"/>
          </a:xfr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tabLst/>
              <a:defRPr sz="2667" b="1">
                <a:solidFill>
                  <a:srgbClr val="425664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02B7DD6-7B15-49AD-9B19-728D407A9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148" y="349695"/>
            <a:ext cx="11453973" cy="4231735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D522F-F14D-45A9-A7E2-53249F6B1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AA48-E352-482A-A4EA-4BC14669C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4800" y="6416676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F6C080-8E1C-4192-8FF1-F349B14F4C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3" y="6353768"/>
            <a:ext cx="963748" cy="30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559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/ Section Slide 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02B7DD6-7B15-49AD-9B19-728D407A9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148" y="349695"/>
            <a:ext cx="11453973" cy="5668484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75760-046A-42CB-9486-58BC19772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D6E5E-377C-49E1-A13D-7040B619B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4800" y="6416676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78166-CBCC-4D78-8693-0A9AF163A8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3" y="6353768"/>
            <a:ext cx="963748" cy="30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676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lling or Quiz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600200"/>
            <a:ext cx="10972800" cy="1143000"/>
          </a:xfrm>
        </p:spPr>
        <p:txBody>
          <a:bodyPr>
            <a:noAutofit/>
          </a:bodyPr>
          <a:lstStyle>
            <a:lvl1pPr>
              <a:defRPr sz="2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600">
                <a:solidFill>
                  <a:srgbClr val="425664"/>
                </a:solidFill>
              </a:defRPr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600">
                <a:solidFill>
                  <a:srgbClr val="425664"/>
                </a:solidFill>
              </a:defRPr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06400" y="3632200"/>
            <a:ext cx="11379200" cy="2336800"/>
          </a:xfrm>
        </p:spPr>
        <p:txBody>
          <a:bodyPr>
            <a:noAutofit/>
          </a:bodyPr>
          <a:lstStyle>
            <a:lvl1pPr marL="0" indent="0">
              <a:buNone/>
              <a:defRPr sz="2133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5543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Pictur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E4ADDD-B7F2-4A96-B658-8D2F6B693174}"/>
              </a:ext>
            </a:extLst>
          </p:cNvPr>
          <p:cNvSpPr/>
          <p:nvPr/>
        </p:nvSpPr>
        <p:spPr>
          <a:xfrm>
            <a:off x="0" y="1"/>
            <a:ext cx="12192000" cy="6169890"/>
          </a:xfrm>
          <a:prstGeom prst="rect">
            <a:avLst/>
          </a:prstGeom>
          <a:solidFill>
            <a:srgbClr val="D9E1E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61DC20B-57E4-4F44-8996-9DD8DEBDA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584200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3467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049603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Pictur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E4ADDD-B7F2-4A96-B658-8D2F6B693174}"/>
              </a:ext>
            </a:extLst>
          </p:cNvPr>
          <p:cNvSpPr/>
          <p:nvPr/>
        </p:nvSpPr>
        <p:spPr>
          <a:xfrm>
            <a:off x="0" y="1"/>
            <a:ext cx="12192000" cy="6070607"/>
          </a:xfrm>
          <a:prstGeom prst="rect">
            <a:avLst/>
          </a:prstGeom>
          <a:solidFill>
            <a:srgbClr val="D9E1E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61DC20B-57E4-4F44-8996-9DD8DEBDA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584200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3467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23503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Pictur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E4ADDD-B7F2-4A96-B658-8D2F6B693174}"/>
              </a:ext>
            </a:extLst>
          </p:cNvPr>
          <p:cNvSpPr/>
          <p:nvPr/>
        </p:nvSpPr>
        <p:spPr>
          <a:xfrm>
            <a:off x="0" y="1"/>
            <a:ext cx="12192000" cy="6070607"/>
          </a:xfrm>
          <a:prstGeom prst="rect">
            <a:avLst/>
          </a:prstGeom>
          <a:solidFill>
            <a:srgbClr val="D9E1E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61DC20B-57E4-4F44-8996-9DD8DEBDA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584200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3467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93762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Pictur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E4ADDD-B7F2-4A96-B658-8D2F6B693174}"/>
              </a:ext>
            </a:extLst>
          </p:cNvPr>
          <p:cNvSpPr/>
          <p:nvPr/>
        </p:nvSpPr>
        <p:spPr>
          <a:xfrm>
            <a:off x="0" y="1"/>
            <a:ext cx="12192000" cy="6070607"/>
          </a:xfrm>
          <a:prstGeom prst="rect">
            <a:avLst/>
          </a:prstGeom>
          <a:solidFill>
            <a:srgbClr val="D9E1E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61DC20B-57E4-4F44-8996-9DD8DEBDA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584200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3467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40472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DD6690-B36B-4959-99D4-34F65C8274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070600"/>
          </a:xfrm>
        </p:spPr>
        <p:txBody>
          <a:bodyPr anchor="ctr"/>
          <a:lstStyle>
            <a:lvl1pPr algn="ctr">
              <a:buFontTx/>
              <a:buNone/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162098-88A4-4001-8ED0-ACF627D95D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905001"/>
            <a:ext cx="5181600" cy="1146175"/>
          </a:xfrm>
        </p:spPr>
        <p:txBody>
          <a:bodyPr lIns="0" tIns="0" rIns="0" bIns="0" anchor="b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Slide</a:t>
            </a:r>
            <a:br>
              <a:rPr lang="en-US"/>
            </a:br>
            <a:r>
              <a:rPr lang="en-US"/>
              <a:t>Click to Edit Master Title Slide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AEC0C86-0C88-4BAA-A4F4-6F15AA60E3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3142517"/>
            <a:ext cx="5181600" cy="9976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133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9F307AF-2AD2-4031-9552-EF1B2FF3C7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371658"/>
            <a:ext cx="5181600" cy="784543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01211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y Title Slide - Text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162098-88A4-4001-8ED0-ACF627D95D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800" y="1905001"/>
            <a:ext cx="7823200" cy="1146175"/>
          </a:xfrm>
        </p:spPr>
        <p:txBody>
          <a:bodyPr lIns="0" tIns="0" rIns="0" bIns="0" anchor="b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Slide</a:t>
            </a:r>
            <a:br>
              <a:rPr lang="en-US"/>
            </a:br>
            <a:r>
              <a:rPr lang="en-US"/>
              <a:t>Click to Edit Master Title Slide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AEC0C86-0C88-4BAA-A4F4-6F15AA60E3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800" y="3142518"/>
            <a:ext cx="7823200" cy="896081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133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9F307AF-2AD2-4031-9552-EF1B2FF3C7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800" y="4168775"/>
            <a:ext cx="7823200" cy="784543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76249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/ Section Slide Gray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1456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/ Section Slide Gray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FF7AB281-A271-4B17-9450-B7652935A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584200"/>
            <a:ext cx="11058596" cy="812800"/>
          </a:xfrm>
        </p:spPr>
        <p:txBody>
          <a:bodyPr anchor="b">
            <a:noAutofit/>
          </a:bodyPr>
          <a:lstStyle>
            <a:lvl1pPr>
              <a:lnSpc>
                <a:spcPts val="3463"/>
              </a:lnSpc>
              <a:defRPr sz="26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70225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/ Section Slide Gra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AEC77D0-D270-4415-91CF-23534CD0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84200"/>
            <a:ext cx="11058596" cy="8128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9BFC9C-3E0E-4A48-894E-55A9DB15E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1" y="1600200"/>
            <a:ext cx="11058596" cy="4267200"/>
          </a:xfrm>
        </p:spPr>
        <p:txBody>
          <a:bodyPr>
            <a:noAutofit/>
          </a:bodyPr>
          <a:lstStyle>
            <a:lvl1pPr marL="156629" indent="-156629">
              <a:lnSpc>
                <a:spcPct val="100000"/>
              </a:lnSpc>
              <a:buClr>
                <a:srgbClr val="DFE7E9"/>
              </a:buClr>
              <a:buSzPct val="90000"/>
              <a:defRPr sz="21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9865" indent="-224361">
              <a:lnSpc>
                <a:spcPct val="100000"/>
              </a:lnSpc>
              <a:buSzPct val="80000"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815990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/ Section Slide Gray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53725035-0186-40F9-9E38-F91A7B34F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5" y="584200"/>
            <a:ext cx="11085689" cy="812800"/>
          </a:xfrm>
        </p:spPr>
        <p:txBody>
          <a:bodyPr anchor="b">
            <a:noAutofit/>
          </a:bodyPr>
          <a:lstStyle>
            <a:lvl1pPr>
              <a:lnSpc>
                <a:spcPts val="3463"/>
              </a:lnSpc>
              <a:defRPr sz="26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27D6ED5A-23E2-4B84-97D1-91FD9AFDA58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0378" y="1803400"/>
            <a:ext cx="5429647" cy="3962400"/>
          </a:xfrm>
        </p:spPr>
        <p:txBody>
          <a:bodyPr>
            <a:noAutofit/>
          </a:bodyPr>
          <a:lstStyle>
            <a:lvl1pPr marL="156629" indent="-156629">
              <a:lnSpc>
                <a:spcPts val="3197"/>
              </a:lnSpc>
              <a:buClr>
                <a:srgbClr val="DFE7E9"/>
              </a:buClr>
              <a:buSzPct val="90000"/>
              <a:defRPr sz="21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21943DC7-15E9-4BE7-B6F0-5D0AFF8387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5647" y="1803400"/>
            <a:ext cx="5429647" cy="3962400"/>
          </a:xfrm>
        </p:spPr>
        <p:txBody>
          <a:bodyPr>
            <a:noAutofit/>
          </a:bodyPr>
          <a:lstStyle>
            <a:lvl1pPr marL="156629" indent="-156629">
              <a:lnSpc>
                <a:spcPts val="3197"/>
              </a:lnSpc>
              <a:buClr>
                <a:srgbClr val="DFE7E9"/>
              </a:buClr>
              <a:buSzPct val="90000"/>
              <a:defRPr sz="21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19745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/ Section Slide Gray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53725035-0186-40F9-9E38-F91A7B34F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5" y="584200"/>
            <a:ext cx="11112783" cy="812800"/>
          </a:xfrm>
        </p:spPr>
        <p:txBody>
          <a:bodyPr anchor="b">
            <a:noAutofit/>
          </a:bodyPr>
          <a:lstStyle>
            <a:lvl1pPr>
              <a:lnSpc>
                <a:spcPts val="3463"/>
              </a:lnSpc>
              <a:defRPr sz="26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6A6F8EB7-6BF5-4216-9ECC-3E2D5A975C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75204" y="1807992"/>
            <a:ext cx="6947183" cy="3957808"/>
          </a:xfrm>
        </p:spPr>
        <p:txBody>
          <a:bodyPr>
            <a:noAutofit/>
          </a:bodyPr>
          <a:lstStyle>
            <a:lvl1pPr marL="156629" indent="-156629">
              <a:lnSpc>
                <a:spcPct val="100000"/>
              </a:lnSpc>
              <a:buClr>
                <a:srgbClr val="DFE7E9"/>
              </a:buClr>
              <a:buSzPct val="90000"/>
              <a:defRPr sz="21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0D428-5F52-481E-9395-595951DDAC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600" y="1807992"/>
            <a:ext cx="4049184" cy="39578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525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/ Section Slide Gra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029864" y="2518927"/>
            <a:ext cx="5791200" cy="1146175"/>
          </a:xfrm>
        </p:spPr>
        <p:txBody>
          <a:bodyPr anchor="ctr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9EEDE1A-1D9A-4EED-A07A-3AD335AC8A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0936" y="357189"/>
            <a:ext cx="5471064" cy="5662612"/>
          </a:xfr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056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/ Section Slide Gra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165600" y="2514601"/>
            <a:ext cx="7416800" cy="605273"/>
          </a:xfrm>
        </p:spPr>
        <p:txBody>
          <a:bodyPr anchor="t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9EEDE1A-1D9A-4EED-A07A-3AD335AC8A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0935" y="357189"/>
            <a:ext cx="3499391" cy="5662612"/>
          </a:xfr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B4F9A-0594-4083-821D-FB98CFE2C2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65600" y="3225800"/>
            <a:ext cx="7416800" cy="2540000"/>
          </a:xfrm>
        </p:spPr>
        <p:txBody>
          <a:bodyPr/>
          <a:lstStyle>
            <a:lvl1pPr marL="156629" indent="-156629">
              <a:spcBef>
                <a:spcPts val="800"/>
              </a:spcBef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defRPr sz="186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defRPr sz="186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defRPr sz="1867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defRPr sz="1867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28839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ient quote or story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759200" y="2069829"/>
            <a:ext cx="7620000" cy="609600"/>
          </a:xfrm>
        </p:spPr>
        <p:txBody>
          <a:bodyPr lIns="0" anchor="t">
            <a:noAutofit/>
          </a:bodyPr>
          <a:lstStyle>
            <a:lvl1pPr algn="l">
              <a:defRPr sz="2667" b="1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9EEDE1A-1D9A-4EED-A07A-3AD335AC8A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17600" y="1847176"/>
            <a:ext cx="2438400" cy="2438400"/>
          </a:xfrm>
          <a:solidFill>
            <a:schemeClr val="bg1"/>
          </a:solidFill>
          <a:ln>
            <a:noFill/>
          </a:ln>
        </p:spPr>
        <p:txBody>
          <a:bodyPr lIns="0" rIns="0" anchor="ctr">
            <a:normAutofit/>
          </a:bodyPr>
          <a:lstStyle>
            <a:lvl1pPr algn="ctr">
              <a:buFontTx/>
              <a:buNone/>
              <a:defRPr sz="1867"/>
            </a:lvl1pPr>
          </a:lstStyle>
          <a:p>
            <a:r>
              <a:rPr lang="en-US"/>
              <a:t>Client logo or image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D45B73-207C-4F81-AD5D-9F708AF4D1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59200" y="2696994"/>
            <a:ext cx="7620001" cy="2781300"/>
          </a:xfrm>
        </p:spPr>
        <p:txBody>
          <a:bodyPr lIns="0" rIns="0">
            <a:noAutofit/>
          </a:bodyPr>
          <a:lstStyle>
            <a:lvl1pPr marL="156629" indent="-156629">
              <a:spcBef>
                <a:spcPts val="800"/>
              </a:spcBef>
              <a:buClr>
                <a:schemeClr val="bg1"/>
              </a:buClr>
              <a:buSzPct val="90000"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1068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588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3400"/>
            <a:ext cx="10972800" cy="406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rgbClr val="4256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" y="64166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rgbClr val="4256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BC29C2-C572-4C74-B847-68A0E85D4B8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3" y="6353768"/>
            <a:ext cx="963748" cy="30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154" r:id="rId2"/>
    <p:sldLayoutId id="2147484163" r:id="rId3"/>
    <p:sldLayoutId id="2147484164" r:id="rId4"/>
    <p:sldLayoutId id="2147484155" r:id="rId5"/>
    <p:sldLayoutId id="2147484160" r:id="rId6"/>
    <p:sldLayoutId id="2147484162" r:id="rId7"/>
    <p:sldLayoutId id="2147484250" r:id="rId8"/>
    <p:sldLayoutId id="2147484319" r:id="rId9"/>
    <p:sldLayoutId id="2147484316" r:id="rId10"/>
  </p:sldLayoutIdLst>
  <p:hf hdr="0" dt="0"/>
  <p:txStyles>
    <p:titleStyle>
      <a:lvl1pPr algn="l" defTabSz="121917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</a:defRPr>
      </a:lvl1pPr>
    </p:titleStyle>
    <p:bodyStyle>
      <a:lvl1pPr marL="302676" indent="-302676" algn="l" defTabSz="1219170" rtl="0" eaLnBrk="1" latinLnBrk="0" hangingPunct="1">
        <a:spcBef>
          <a:spcPct val="20000"/>
        </a:spcBef>
        <a:buClr>
          <a:srgbClr val="425664"/>
        </a:buClr>
        <a:buSzPct val="100000"/>
        <a:buFont typeface="Arial" pitchFamily="34" charset="0"/>
        <a:buChar char="•"/>
        <a:defRPr sz="3200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1pPr>
      <a:lvl2pPr marL="916494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2pPr>
      <a:lvl3pPr marL="1219170" indent="-302676" algn="l" defTabSz="1219170" rtl="0" eaLnBrk="1" latinLnBrk="0" hangingPunct="1">
        <a:spcBef>
          <a:spcPct val="20000"/>
        </a:spcBef>
        <a:buClr>
          <a:srgbClr val="425664"/>
        </a:buClr>
        <a:buSzPct val="9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588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3400"/>
            <a:ext cx="10972800" cy="406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56629" lvl="0" indent="-156629" algn="l" defTabSz="121917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425664"/>
              </a:buClr>
              <a:buSzPct val="90000"/>
              <a:buFont typeface="Arial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535504" lvl="1" indent="-232828" algn="l" defTabSz="1219170" rtl="0" eaLnBrk="1" latinLnBrk="0" hangingPunct="1">
              <a:lnSpc>
                <a:spcPct val="100000"/>
              </a:lnSpc>
              <a:spcBef>
                <a:spcPct val="20000"/>
              </a:spcBef>
              <a:buSzPct val="90000"/>
              <a:buFont typeface="Arial" pitchFamily="34" charset="0"/>
              <a:buChar char="–"/>
            </a:pPr>
            <a:r>
              <a:rPr lang="en-US"/>
              <a:t>Second level</a:t>
            </a:r>
          </a:p>
          <a:p>
            <a:pPr marL="916494" lvl="2" indent="-156629" algn="l" defTabSz="121917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425664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416675"/>
            <a:ext cx="5791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rgbClr val="4256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" y="64166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rgbClr val="4256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5897F2-412E-44D1-B10E-F4B14C4DEA1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3" y="6353768"/>
            <a:ext cx="963748" cy="30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24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4" r:id="rId1"/>
    <p:sldLayoutId id="2147484285" r:id="rId2"/>
    <p:sldLayoutId id="2147484286" r:id="rId3"/>
    <p:sldLayoutId id="2147484287" r:id="rId4"/>
    <p:sldLayoutId id="2147484288" r:id="rId5"/>
    <p:sldLayoutId id="2147484289" r:id="rId6"/>
    <p:sldLayoutId id="2147484290" r:id="rId7"/>
    <p:sldLayoutId id="2147484318" r:id="rId8"/>
    <p:sldLayoutId id="2147484171" r:id="rId9"/>
    <p:sldLayoutId id="2147484317" r:id="rId10"/>
    <p:sldLayoutId id="2147484235" r:id="rId11"/>
    <p:sldLayoutId id="2147484234" r:id="rId12"/>
    <p:sldLayoutId id="2147484291" r:id="rId13"/>
    <p:sldLayoutId id="2147484292" r:id="rId14"/>
  </p:sldLayoutIdLst>
  <p:hf hdr="0" dt="0"/>
  <p:txStyles>
    <p:titleStyle>
      <a:lvl1pPr algn="l" defTabSz="121917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</a:defRPr>
      </a:lvl1pPr>
    </p:titleStyle>
    <p:bodyStyle>
      <a:lvl1pPr marL="302676" indent="-302676" algn="l" defTabSz="1219170" rtl="0" eaLnBrk="1" latinLnBrk="0" hangingPunct="1">
        <a:spcBef>
          <a:spcPct val="20000"/>
        </a:spcBef>
        <a:buClr>
          <a:srgbClr val="425664"/>
        </a:buClr>
        <a:buSzPct val="100000"/>
        <a:buFont typeface="Arial" pitchFamily="34" charset="0"/>
        <a:buChar char="•"/>
        <a:defRPr lang="en-US" sz="2133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9865" indent="-457189" algn="l" defTabSz="1219170" rtl="0" eaLnBrk="1" latinLnBrk="0" hangingPunct="1">
        <a:spcBef>
          <a:spcPct val="20000"/>
        </a:spcBef>
        <a:buFont typeface="Arial" pitchFamily="34" charset="0"/>
        <a:buChar char="–"/>
        <a:defRPr lang="en-US" sz="1867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0855" indent="-380990" algn="l" defTabSz="1219170" rtl="0" eaLnBrk="1" latinLnBrk="0" hangingPunct="1">
        <a:spcBef>
          <a:spcPct val="20000"/>
        </a:spcBef>
        <a:buClr>
          <a:srgbClr val="425664"/>
        </a:buClr>
        <a:buSzPct val="90000"/>
        <a:buFont typeface="Wingdings" panose="05000000000000000000" pitchFamily="2" charset="2"/>
        <a:buChar char="§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588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3401"/>
            <a:ext cx="10972800" cy="426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416676"/>
            <a:ext cx="5791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" y="6416676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F88223-C401-4DAA-AD2D-93728BB9A4B6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3" y="6353768"/>
            <a:ext cx="963748" cy="30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39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2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5" r:id="rId8"/>
    <p:sldLayoutId id="2147484174" r:id="rId9"/>
  </p:sldLayoutIdLst>
  <p:hf hdr="0" dt="0"/>
  <p:txStyles>
    <p:titleStyle>
      <a:lvl1pPr algn="l" defTabSz="1217951" rtl="0" eaLnBrk="1" latinLnBrk="0" hangingPunct="1">
        <a:spcBef>
          <a:spcPct val="0"/>
        </a:spcBef>
        <a:buNone/>
        <a:defRPr sz="3197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</a:defRPr>
      </a:lvl1pPr>
    </p:titleStyle>
    <p:bodyStyle>
      <a:lvl1pPr marL="302374" indent="-302374" algn="l" defTabSz="1217951" rtl="0" eaLnBrk="1" latinLnBrk="0" hangingPunct="1">
        <a:spcBef>
          <a:spcPct val="20000"/>
        </a:spcBef>
        <a:buClr>
          <a:srgbClr val="425664"/>
        </a:buClr>
        <a:buSzPct val="90000"/>
        <a:buFont typeface="Arial" pitchFamily="34" charset="0"/>
        <a:buChar char="•"/>
        <a:defRPr sz="3197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1pPr>
      <a:lvl2pPr marL="915578" indent="-380609" algn="l" defTabSz="1217951" rtl="0" eaLnBrk="1" latinLnBrk="0" hangingPunct="1">
        <a:spcBef>
          <a:spcPct val="20000"/>
        </a:spcBef>
        <a:buFont typeface="Arial" pitchFamily="34" charset="0"/>
        <a:buChar char="–"/>
        <a:defRPr sz="2664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2pPr>
      <a:lvl3pPr marL="1217951" indent="-302374" algn="l" defTabSz="1217951" rtl="0" eaLnBrk="1" latinLnBrk="0" hangingPunct="1">
        <a:spcBef>
          <a:spcPct val="20000"/>
        </a:spcBef>
        <a:buClr>
          <a:srgbClr val="425664"/>
        </a:buClr>
        <a:buSzPct val="90000"/>
        <a:buFont typeface="Wingdings" panose="05000000000000000000" pitchFamily="2" charset="2"/>
        <a:buChar char="§"/>
        <a:defRPr sz="2399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3pPr>
      <a:lvl4pPr marL="2131413" indent="-304487" algn="l" defTabSz="1217951" rtl="0" eaLnBrk="1" latinLnBrk="0" hangingPunct="1">
        <a:spcBef>
          <a:spcPct val="20000"/>
        </a:spcBef>
        <a:buFont typeface="Arial" pitchFamily="34" charset="0"/>
        <a:buChar char="–"/>
        <a:defRPr sz="2399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4pPr>
      <a:lvl5pPr marL="2740389" indent="-304487" algn="l" defTabSz="1217951" rtl="0" eaLnBrk="1" latinLnBrk="0" hangingPunct="1">
        <a:spcBef>
          <a:spcPct val="20000"/>
        </a:spcBef>
        <a:buFont typeface="Arial" pitchFamily="34" charset="0"/>
        <a:buChar char="»"/>
        <a:defRPr sz="2664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5pPr>
      <a:lvl6pPr marL="3349363" indent="-304487" algn="l" defTabSz="1217951" rtl="0" eaLnBrk="1" latinLnBrk="0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6pPr>
      <a:lvl7pPr marL="3958340" indent="-304487" algn="l" defTabSz="1217951" rtl="0" eaLnBrk="1" latinLnBrk="0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7pPr>
      <a:lvl8pPr marL="4567314" indent="-304487" algn="l" defTabSz="1217951" rtl="0" eaLnBrk="1" latinLnBrk="0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8pPr>
      <a:lvl9pPr marL="5176289" indent="-304487" algn="l" defTabSz="1217951" rtl="0" eaLnBrk="1" latinLnBrk="0" hangingPunct="1">
        <a:spcBef>
          <a:spcPct val="20000"/>
        </a:spcBef>
        <a:buFont typeface="Arial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95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8975" algn="l" defTabSz="121795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7951" algn="l" defTabSz="121795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6925" algn="l" defTabSz="121795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5902" algn="l" defTabSz="121795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4876" algn="l" defTabSz="121795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3851" algn="l" defTabSz="121795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2827" algn="l" defTabSz="121795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1801" algn="l" defTabSz="121795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1" y="6353768"/>
            <a:ext cx="963748" cy="30466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588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3400"/>
            <a:ext cx="10972800" cy="40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6747D95B-C779-4A34-5247-278D888ABFD4}"/>
              </a:ext>
            </a:extLst>
          </p:cNvPr>
          <p:cNvSpPr txBox="1">
            <a:spLocks/>
          </p:cNvSpPr>
          <p:nvPr/>
        </p:nvSpPr>
        <p:spPr>
          <a:xfrm>
            <a:off x="0" y="6368589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219048" rtl="0" eaLnBrk="1" latinLnBrk="0" hangingPunct="1">
              <a:defRPr sz="800" kern="1200">
                <a:solidFill>
                  <a:srgbClr val="42566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23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048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572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095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618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142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665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90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©Development Dimensions International, Inc., 2025. All rights reserved.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A5ACB9A6-3599-7598-53DE-3AA5CECFCCBB}"/>
              </a:ext>
            </a:extLst>
          </p:cNvPr>
          <p:cNvSpPr txBox="1">
            <a:spLocks/>
          </p:cNvSpPr>
          <p:nvPr/>
        </p:nvSpPr>
        <p:spPr>
          <a:xfrm>
            <a:off x="609600" y="637531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1219048" rtl="0" eaLnBrk="1" latinLnBrk="0" hangingPunct="1">
              <a:defRPr sz="800" kern="1200">
                <a:solidFill>
                  <a:srgbClr val="42566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23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048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572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095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618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142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665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90" algn="l" defTabSz="121904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98746-2835-4097-ADF7-F4A925C340FA}" type="slidenum">
              <a:rPr lang="en-US" sz="6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pPr/>
              <a:t>‹#›</a:t>
            </a:fld>
            <a:endParaRPr lang="en-US" sz="6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88343B-ED56-D2CA-FCB9-F2E754B00F17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3" y="6353768"/>
            <a:ext cx="963748" cy="30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6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2" r:id="rId1"/>
    <p:sldLayoutId id="2147484323" r:id="rId2"/>
    <p:sldLayoutId id="2147484324" r:id="rId3"/>
    <p:sldLayoutId id="2147484325" r:id="rId4"/>
    <p:sldLayoutId id="2147484326" r:id="rId5"/>
    <p:sldLayoutId id="2147484327" r:id="rId6"/>
    <p:sldLayoutId id="2147484328" r:id="rId7"/>
    <p:sldLayoutId id="2147484329" r:id="rId8"/>
    <p:sldLayoutId id="2147484330" r:id="rId9"/>
    <p:sldLayoutId id="2147484331" r:id="rId10"/>
    <p:sldLayoutId id="2147484332" r:id="rId11"/>
    <p:sldLayoutId id="2147484333" r:id="rId12"/>
    <p:sldLayoutId id="2147484334" r:id="rId13"/>
    <p:sldLayoutId id="2147484335" r:id="rId14"/>
  </p:sldLayoutIdLst>
  <p:hf hdr="0" dt="0"/>
  <p:txStyles>
    <p:titleStyle>
      <a:lvl1pPr algn="l" defTabSz="121917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</a:defRPr>
      </a:lvl1pPr>
    </p:titleStyle>
    <p:bodyStyle>
      <a:lvl1pPr marL="302676" indent="-302676" algn="l" defTabSz="1219170" rtl="0" eaLnBrk="1" latinLnBrk="0" hangingPunct="1">
        <a:spcBef>
          <a:spcPct val="20000"/>
        </a:spcBef>
        <a:buClr>
          <a:srgbClr val="425664"/>
        </a:buClr>
        <a:buSzPct val="100000"/>
        <a:buFont typeface="Arial" pitchFamily="34" charset="0"/>
        <a:buChar char="•"/>
        <a:defRPr sz="3200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1pPr>
      <a:lvl2pPr marL="916494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2pPr>
      <a:lvl3pPr marL="1219170" indent="-302676" algn="l" defTabSz="1219170" rtl="0" eaLnBrk="1" latinLnBrk="0" hangingPunct="1">
        <a:spcBef>
          <a:spcPct val="20000"/>
        </a:spcBef>
        <a:buClr>
          <a:srgbClr val="425664"/>
        </a:buClr>
        <a:buSzPct val="9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Constantia" panose="02030602050306030303" pitchFamily="18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C67673A1-20D7-4EB4-8BE3-52581FE998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1BFBB1A-B264-425E-B86E-30871CAEF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 this chat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49CC6E33-3D65-4FC3-AB14-FEE71CCA33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A5DB5A-9AC0-4B6B-AED4-92DDCE3DE1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44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F2215E-FA91-9818-3240-60979EFC21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6EF248-EB62-4D66-B2FB-1FC64A7FDE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9861D24-19BB-40D2-ABD1-575E8CA230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C6F74A-C2E4-439B-A56C-0BFF91CC4F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36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CDDEA-B6A5-4ACA-89F0-38CDA9DA6E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3B99A72-0EBC-4111-B94D-B412DFBE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3C1764-97BA-46F6-8DCD-7D8EF0B2B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600" dirty="0"/>
              <a:t>©Development Dimensions International, Inc., 2025.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B63BB0-3716-2397-2819-4DE179B65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9698746-2835-4097-ADF7-F4A925C340FA}" type="slidenum">
              <a:rPr lang="en-US" sz="600" smtClean="0"/>
              <a:pPr/>
              <a:t>3</a:t>
            </a:fld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3557268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58F046B-9538-4F83-A357-CEDA6B24B7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66334-4832-4246-BCFE-B90CCEF021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600" dirty="0"/>
              <a:t>©Development Dimensions International, Inc., 2025.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3672C5-F3FB-B23D-900A-09D0FEC1D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9698746-2835-4097-ADF7-F4A925C340FA}" type="slidenum">
              <a:rPr lang="en-US" sz="600" smtClean="0"/>
              <a:pPr/>
              <a:t>4</a:t>
            </a:fld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960709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300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51D66BA-AB9C-4AEC-86E7-DE4FF1E1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30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EAF4C1-8783-FD26-E5C1-53A781B30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36BD1A3-83B0-4796-A0E3-248A46D85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E5B1D58-0FE7-4AD2-B874-790E49EFAD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71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F37FD52-910E-46A3-A7ED-269F1BA9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3F0CFA-3947-4590-967F-683702BF5B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B2B749-CE54-4AFB-A379-4CA1C9ED74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39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8121327-F52C-422E-817C-61BE2795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82023C-F661-4333-BC89-53A7C06324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D78E678-7ABF-4C3C-A393-8A22001D0A8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31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56D39D-722B-4ACA-A534-B0CD1582E3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7F96DA-C384-9F00-AE5C-694E8D5AA5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26C6E6-7EB8-42FD-B771-367482E0071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4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4F743DFD-035B-4AED-98DC-D994407F5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5DC94D-C36C-E7A6-854D-608FAC0744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D3D6A6AC-29E7-4BAF-9988-F1C94CEFEB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A3B4CCC-4270-440D-BE5C-4273CA698B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77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90F7961-C296-4B3E-9477-7AF0A38A4A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B794FC-DDF8-44C5-6F45-B78FF90DEB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C9F945-B428-4D5C-8C17-E84DA54FF5E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87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23CA61-5FA6-4A68-8413-2E063974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FCC8BA-B22D-46BE-B437-1CFD8F6957F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C330E-DDA8-E83E-C932-AB288CA1B8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13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73C2BAB-5C17-4798-90AD-6736F00B82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0A4A31-BCB0-4268-941D-455AF8C76E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B0FE9D9-0010-4B49-B636-81A19E25D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32A665-F0AA-4CA1-9804-96D27EABCC2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630363-BCD8-27EB-1B63-6A6714A3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69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ADDB2A5-348C-4DD3-94FA-CBB83FD4B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2768F1-5AA4-40EA-A01E-FD0C0F2E28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30AC84B-E978-409B-97BA-5086EE7FB7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1D4BEF-6A67-46C4-9DF1-0ACDFEE3DC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©Development Dimensions International, Inc., 2025. All rights reserved.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5E0F3B-5944-7385-2CAA-8F515229A1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56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EBC748-8FDC-4047-AFD6-409C61E1F6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CC7F9CE-6915-4B1D-931A-2E2DAA7ED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39B08C-EAAC-4027-B6E7-AB1E7FF6F98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A3973A-AA46-8BC5-B5A6-E6CC69AB5E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84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8284A04-4847-417E-9EC3-3E599D48B5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951CA7-AC02-4121-842F-363038B7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C83756-29BF-AB65-9544-8153E172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82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9060F7C-10EB-4234-8AD6-4CD2701BB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EE4A33C-96A7-45DD-AC06-84511CE26B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4303A9-593D-467F-8D61-3D56863D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31BA4B-E32E-F327-BBCA-7E9B56A5E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9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54F133A-E116-4FBE-8E07-987EA1BB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AE2FB6-F016-45F5-ABD8-DB467241C0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5DE7AC-333B-4D86-9585-D26863529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FE82B3-82B7-CA72-6975-30C1A43FE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1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97FD22-CE25-40A0-9B2C-E26D47745A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4C5DA2-B127-4894-A500-41B34B19E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3E84C6-2B79-4C71-3183-B0A9A04C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22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6B12234-9722-44C0-8E97-BD18E7F713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EF7396-422A-4E7F-A291-A8A72484B1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78D584-4EAC-44ED-B9B1-F6700393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A64405-A892-5C5E-C1D5-EAD27E4D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6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0579BE9-029F-45A8-989D-A9487F2A69D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073349F-69FF-43A3-B28E-F8A0755F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0C02D0-205A-4A66-A941-7B8BEBFC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148B44-54B7-CC45-477E-3680E2BC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92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CCA59F0-5019-4F7A-BA35-3405A5ED7B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50CBA6B-580B-4D64-AC3F-D4973D26F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D89BC8-A1E4-4F2A-86D4-1527939F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3BC874-E9F2-ABD8-8D01-2A25FA2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50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E813B1-3820-4AC9-8375-09D0CF5D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4BD500-5C7E-AF0D-3B19-431923BB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11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E7FD36-C96B-4BF9-A7FB-3E348EC6A5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961806-8E1E-52DC-E0E9-525C75F208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12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394315-4A96-40B6-B407-B6CCB9ACD3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2CF87D-DA97-43E8-AAAF-2F7A378773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0F6C3E-7BA5-3A71-739B-CF4D57C47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33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C8B885-96F6-4518-BC47-84D873DAA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51FEA5-8F6A-4754-86E3-208957ECA0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99B2D1-EA1B-C0C5-834E-2A7953D12C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3476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3666BD-9C2D-422B-AB0A-9C86C1F086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B7CCE8-35B5-41DD-8EBE-FFF3A1C42C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3B493C-1918-100B-7FB5-D767E78157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85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E37368B-D2AB-4927-9B49-4A04F94215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D0E6A3-DE09-4284-8EA5-9652E36F58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E44C15-660B-C03A-10FF-BE9CC1DFB3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53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0999C84-548A-4EA6-9FC1-9226DBE521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BD2C92-ECE4-4D7A-95C0-37DEEF8861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5AB510-AE0A-434E-AFE0-893C291C8D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32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8D146AD-105E-49F1-99A7-259AD5C2C8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CD813-D0A4-4D8D-97CE-AF143EDC8D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709921-F6BD-BFB6-A572-82CE717533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399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836F03F-8F15-444B-9EEC-AFAD5E7F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46E80D-6DE2-48E0-BF9E-6E6BCADB35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1E196E-BF39-44FD-9FEF-4C5313AF39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©Development Dimensions International, Inc., 2025.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0B3D60-10FB-5A29-CEFA-4FA80FFC16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98746-2835-4097-ADF7-F4A925C340F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31575"/>
      </p:ext>
    </p:extLst>
  </p:cSld>
  <p:clrMapOvr>
    <a:masterClrMapping/>
  </p:clrMapOvr>
</p:sld>
</file>

<file path=ppt/theme/theme1.xml><?xml version="1.0" encoding="utf-8"?>
<a:theme xmlns:a="http://schemas.openxmlformats.org/drawingml/2006/main" name="DDI Gray Series">
  <a:themeElements>
    <a:clrScheme name="DDI Brand">
      <a:dk1>
        <a:srgbClr val="425563"/>
      </a:dk1>
      <a:lt1>
        <a:srgbClr val="FFFFFF"/>
      </a:lt1>
      <a:dk2>
        <a:srgbClr val="236192"/>
      </a:dk2>
      <a:lt2>
        <a:srgbClr val="FFFFFF"/>
      </a:lt2>
      <a:accent1>
        <a:srgbClr val="FFB81C"/>
      </a:accent1>
      <a:accent2>
        <a:srgbClr val="D9E1E2"/>
      </a:accent2>
      <a:accent3>
        <a:srgbClr val="89B5D4"/>
      </a:accent3>
      <a:accent4>
        <a:srgbClr val="3A84B6"/>
      </a:accent4>
      <a:accent5>
        <a:srgbClr val="236192"/>
      </a:accent5>
      <a:accent6>
        <a:srgbClr val="ACB0B7"/>
      </a:accent6>
      <a:hlink>
        <a:srgbClr val="85888C"/>
      </a:hlink>
      <a:folHlink>
        <a:srgbClr val="F6A01F"/>
      </a:folHlink>
    </a:clrScheme>
    <a:fontScheme name="Custom 1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4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DDI Standard White">
  <a:themeElements>
    <a:clrScheme name="DDI Brand Colors">
      <a:dk1>
        <a:srgbClr val="000000"/>
      </a:dk1>
      <a:lt1>
        <a:sysClr val="window" lastClr="FFFFFF"/>
      </a:lt1>
      <a:dk2>
        <a:srgbClr val="425563"/>
      </a:dk2>
      <a:lt2>
        <a:srgbClr val="FFF6E5"/>
      </a:lt2>
      <a:accent1>
        <a:srgbClr val="FFA300"/>
      </a:accent1>
      <a:accent2>
        <a:srgbClr val="8A1B61"/>
      </a:accent2>
      <a:accent3>
        <a:srgbClr val="949300"/>
      </a:accent3>
      <a:accent4>
        <a:srgbClr val="236192"/>
      </a:accent4>
      <a:accent5>
        <a:srgbClr val="F06400"/>
      </a:accent5>
      <a:accent6>
        <a:srgbClr val="EF3340"/>
      </a:accent6>
      <a:hlink>
        <a:srgbClr val="00AEC7"/>
      </a:hlink>
      <a:folHlink>
        <a:srgbClr val="FFB81C"/>
      </a:folHlink>
    </a:clrScheme>
    <a:fontScheme name="DDI Brand">
      <a:majorFont>
        <a:latin typeface="Century Gothic Std"/>
        <a:ea typeface=""/>
        <a:cs typeface=""/>
      </a:majorFont>
      <a:minorFont>
        <a:latin typeface="Constant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4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DDI Cover and Section Slides">
  <a:themeElements>
    <a:clrScheme name="DDI Brand Colors">
      <a:dk1>
        <a:srgbClr val="000000"/>
      </a:dk1>
      <a:lt1>
        <a:sysClr val="window" lastClr="FFFFFF"/>
      </a:lt1>
      <a:dk2>
        <a:srgbClr val="425563"/>
      </a:dk2>
      <a:lt2>
        <a:srgbClr val="FFF6E5"/>
      </a:lt2>
      <a:accent1>
        <a:srgbClr val="FFA300"/>
      </a:accent1>
      <a:accent2>
        <a:srgbClr val="8A1B61"/>
      </a:accent2>
      <a:accent3>
        <a:srgbClr val="949300"/>
      </a:accent3>
      <a:accent4>
        <a:srgbClr val="236192"/>
      </a:accent4>
      <a:accent5>
        <a:srgbClr val="F06400"/>
      </a:accent5>
      <a:accent6>
        <a:srgbClr val="EF3340"/>
      </a:accent6>
      <a:hlink>
        <a:srgbClr val="00AEC7"/>
      </a:hlink>
      <a:folHlink>
        <a:srgbClr val="FFB81C"/>
      </a:folHlink>
    </a:clrScheme>
    <a:fontScheme name="DDI Brand">
      <a:majorFont>
        <a:latin typeface="Century Gothic Std"/>
        <a:ea typeface=""/>
        <a:cs typeface=""/>
      </a:majorFont>
      <a:minorFont>
        <a:latin typeface="Constant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4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DDI Brand">
  <a:themeElements>
    <a:clrScheme name="DDI Brand">
      <a:dk1>
        <a:srgbClr val="425563"/>
      </a:dk1>
      <a:lt1>
        <a:srgbClr val="FFFFFF"/>
      </a:lt1>
      <a:dk2>
        <a:srgbClr val="236192"/>
      </a:dk2>
      <a:lt2>
        <a:srgbClr val="FFFFFF"/>
      </a:lt2>
      <a:accent1>
        <a:srgbClr val="FFB81C"/>
      </a:accent1>
      <a:accent2>
        <a:srgbClr val="D9E1E2"/>
      </a:accent2>
      <a:accent3>
        <a:srgbClr val="89B5D4"/>
      </a:accent3>
      <a:accent4>
        <a:srgbClr val="3A84B6"/>
      </a:accent4>
      <a:accent5>
        <a:srgbClr val="236192"/>
      </a:accent5>
      <a:accent6>
        <a:srgbClr val="ACB0B7"/>
      </a:accent6>
      <a:hlink>
        <a:srgbClr val="85888C"/>
      </a:hlink>
      <a:folHlink>
        <a:srgbClr val="F6A01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4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DI Brand" id="{FD542E3B-DC79-47BF-98FA-46B24241CB34}" vid="{662F7E9F-5A78-40C3-AA45-51302AC740F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TaxCatchAll xmlns="07180c36-e63a-457f-b527-7ae0d11b35fa" xsi:nil="true"/>
    <lcf76f155ced4ddcb4097134ff3c332f xmlns="31fc13c2-c056-4e02-a357-e870c07d9b18">
      <Terms xmlns="http://schemas.microsoft.com/office/infopath/2007/PartnerControls"/>
    </lcf76f155ced4ddcb4097134ff3c332f>
    <TemplateUrl xmlns="http://schemas.microsoft.com/sharepoint/v3" xsi:nil="true"/>
    <Course xmlns="31fc13c2-c056-4e02-a357-e870c07d9b18" xsi:nil="true"/>
    <Product_x002f_Service xmlns="31fc13c2-c056-4e02-a357-e870c07d9b18" xsi:nil="true"/>
    <Project_x0020_Stage xmlns="31fc13c2-c056-4e02-a357-e870c07d9b18" xsi:nil="true"/>
    <ID xmlns="http://schemas.microsoft.com/sharepoint/v3" xsi:nil="true"/>
    <Best_x0020_Bet xmlns="31fc13c2-c056-4e02-a357-e870c07d9b18">No</Best_x0020_Bet>
    <Document_x0020_Date xmlns="31fc13c2-c056-4e02-a357-e870c07d9b18" xsi:nil="true"/>
    <Author xmlns="http://schemas.microsoft.com/sharepoint/v3">
      <UserInfo>
        <DisplayName/>
        <AccountId xsi:nil="true"/>
        <AccountType/>
      </UserInfo>
    </Author>
    <Industry xmlns="31fc13c2-c056-4e02-a357-e870c07d9b18" xsi:nil="true"/>
    <_UIVersionString xmlns="http://schemas.microsoft.com/sharepoint/v3" xsi:nil="true"/>
    <Competitor xmlns="31fc13c2-c056-4e02-a357-e870c07d9b18" xsi:nil="true"/>
    <_CopySource xmlns="http://schemas.microsoft.com/sharepoint/v3" xsi:nil="true"/>
    <Division xmlns="31fc13c2-c056-4e02-a357-e870c07d9b18" xsi:nil="true"/>
    <Document_x0020_Type xmlns="31fc13c2-c056-4e02-a357-e870c07d9b18" xsi:nil="true"/>
    <Internal_x0020_Use_x0020_Only xmlns="31fc13c2-c056-4e02-a357-e870c07d9b18">Yes</Internal_x0020_Use_x0020_Only>
    <Owner xmlns="31fc13c2-c056-4e02-a357-e870c07d9b18">
      <UserInfo>
        <DisplayName/>
        <AccountId xsi:nil="true"/>
        <AccountType/>
      </UserInfo>
    </Owner>
    <Topic xmlns="31fc13c2-c056-4e02-a357-e870c07d9b18" xsi:nil="true"/>
    <Job_x0020_Function xmlns="31fc13c2-c056-4e02-a357-e870c07d9b18" xsi:nil="true"/>
    <Language xmlns="31fc13c2-c056-4e02-a357-e870c07d9b18">English (U.S.)</Language>
    <Part_x0020_Number xmlns="31fc13c2-c056-4e02-a357-e870c07d9b18" xsi:nil="true"/>
    <Platform xmlns="31fc13c2-c056-4e02-a357-e870c07d9b18" xsi:nil="true"/>
    <_SourceUrl xmlns="http://schemas.microsoft.com/sharepoint/v3" xsi:nil="true"/>
    <Details xmlns="31fc13c2-c056-4e02-a357-e870c07d9b18" xsi:nil="true"/>
    <Editor xmlns="http://schemas.microsoft.com/sharepoint/v3">
      <UserInfo>
        <DisplayName/>
        <AccountId xsi:nil="true"/>
        <AccountType/>
      </UserInfo>
    </Editor>
    <Location xmlns="31fc13c2-c056-4e02-a357-e870c07d9b18">United States</Location>
    <Department xmlns="31fc13c2-c056-4e02-a357-e870c07d9b18" xsi:nil="true"/>
    <Project_x0020_Code xmlns="31fc13c2-c056-4e02-a357-e870c07d9b18" xsi:nil="true"/>
    <Job_x0020_Level xmlns="31fc13c2-c056-4e02-a357-e870c07d9b18" xsi:nil="true"/>
    <xd_ProgID xmlns="http://schemas.microsoft.com/sharepoint/v3" xsi:nil="true"/>
    <CheckoutUser xmlns="http://schemas.microsoft.com/sharepoint/v3">
      <UserInfo>
        <DisplayName/>
        <AccountId xsi:nil="true"/>
        <AccountType/>
      </UserInfo>
    </CheckoutUser>
    <Order xmlns="http://schemas.microsoft.com/sharepoint/v3" xsi:nil="true"/>
    <_SharedFileIndex xmlns="http://schemas.microsoft.com/sharepoint/v3" xsi:nil="true"/>
    <MetaInfo xmlns="http://schemas.microsoft.com/sharepoint/v3" xsi:nil="true"/>
    <Family xmlns="31fc13c2-c056-4e02-a357-e870c07d9b18" xsi:nil="true"/>
    <Solutions_x0020_Group xmlns="31fc13c2-c056-4e02-a357-e870c07d9b18" xsi:nil="true"/>
    <ContentTypeId xmlns="http://schemas.microsoft.com/sharepoint/v3">0x01010023F9BF9B70C2DC47824E433FAF63C37C</ContentTypeI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F9BF9B70C2DC47824E433FAF63C37C" ma:contentTypeVersion="59" ma:contentTypeDescription="Create a new document." ma:contentTypeScope="" ma:versionID="ef98bcd83d99c5adb7184b3786a47b06">
  <xsd:schema xmlns:xsd="http://www.w3.org/2001/XMLSchema" xmlns:xs="http://www.w3.org/2001/XMLSchema" xmlns:p="http://schemas.microsoft.com/office/2006/metadata/properties" xmlns:ns1="http://schemas.microsoft.com/sharepoint/v3" xmlns:ns2="31fc13c2-c056-4e02-a357-e870c07d9b18" xmlns:ns3="a3eaccb7-c726-448a-9915-8c8096b8be7d" xmlns:ns4="07180c36-e63a-457f-b527-7ae0d11b35fa" targetNamespace="http://schemas.microsoft.com/office/2006/metadata/properties" ma:root="true" ma:fieldsID="717486dddb67669699ad46a0865dae7c" ns1:_="" ns2:_="" ns3:_="" ns4:_="">
    <xsd:import namespace="http://schemas.microsoft.com/sharepoint/v3"/>
    <xsd:import namespace="31fc13c2-c056-4e02-a357-e870c07d9b18"/>
    <xsd:import namespace="a3eaccb7-c726-448a-9915-8c8096b8be7d"/>
    <xsd:import namespace="07180c36-e63a-457f-b527-7ae0d11b35fa"/>
    <xsd:element name="properties">
      <xsd:complexType>
        <xsd:sequence>
          <xsd:element name="documentManagement">
            <xsd:complexType>
              <xsd:all>
                <xsd:element ref="ns2:Best_x0020_Bet" minOccurs="0"/>
                <xsd:element ref="ns2:Competitor" minOccurs="0"/>
                <xsd:element ref="ns2:Course" minOccurs="0"/>
                <xsd:element ref="ns2:Department" minOccurs="0"/>
                <xsd:element ref="ns2:Details" minOccurs="0"/>
                <xsd:element ref="ns2:Division" minOccurs="0"/>
                <xsd:element ref="ns2:Document_x0020_Date" minOccurs="0"/>
                <xsd:element ref="ns2:Document_x0020_Type" minOccurs="0"/>
                <xsd:element ref="ns2:Family" minOccurs="0"/>
                <xsd:element ref="ns2:Industry" minOccurs="0"/>
                <xsd:element ref="ns2:Internal_x0020_Use_x0020_Only" minOccurs="0"/>
                <xsd:element ref="ns2:Language" minOccurs="0"/>
                <xsd:element ref="ns2:Owner" minOccurs="0"/>
                <xsd:element ref="ns2:Part_x0020_Number" minOccurs="0"/>
                <xsd:element ref="ns2:Product_x002f_Service" minOccurs="0"/>
                <xsd:element ref="ns2:Project_x0020_Code" minOccurs="0"/>
                <xsd:element ref="ns2:Project_x0020_Stage" minOccurs="0"/>
                <xsd:element ref="ns2:Solutions_x0020_Group" minOccurs="0"/>
                <xsd:element ref="ns2:Topic" minOccurs="0"/>
                <xsd:element ref="ns2:Platform" minOccurs="0"/>
                <xsd:element ref="ns2:Job_x0020_Level" minOccurs="0"/>
                <xsd:element ref="ns2:Job_x0020_Function" minOccurs="0"/>
                <xsd:element ref="ns2:Location" minOccurs="0"/>
                <xsd:element ref="ns1:_ModerationComments" minOccurs="0"/>
                <xsd:element ref="ns1:File_x0020_Type" minOccurs="0"/>
                <xsd:element ref="ns1:HTML_x0020_File_x0020_Type" minOccurs="0"/>
                <xsd:element ref="ns1:_SourceUrl" minOccurs="0"/>
                <xsd:element ref="ns1:_SharedFileIndex" minOccurs="0"/>
                <xsd:element ref="ns1:ContentTypeId" minOccurs="0"/>
                <xsd:element ref="ns1:TemplateUrl" minOccurs="0"/>
                <xsd:element ref="ns1:xd_ProgID" minOccurs="0"/>
                <xsd:element ref="ns1:xd_Signature" minOccurs="0"/>
                <xsd:element ref="ns1:ID" minOccurs="0"/>
                <xsd:element ref="ns1:Author" minOccurs="0"/>
                <xsd:element ref="ns1:Editor" minOccurs="0"/>
                <xsd:element ref="ns1:_HasCopyDestinations" minOccurs="0"/>
                <xsd:element ref="ns1:_CopySource" minOccurs="0"/>
                <xsd:element ref="ns1:_ModerationStatus" minOccurs="0"/>
                <xsd:element ref="ns1:FileRef" minOccurs="0"/>
                <xsd:element ref="ns1:FileDirRef" minOccurs="0"/>
                <xsd:element ref="ns1:Last_x0020_Modified" minOccurs="0"/>
                <xsd:element ref="ns1:Created_x0020_Date" minOccurs="0"/>
                <xsd:element ref="ns1:File_x0020_Size" minOccurs="0"/>
                <xsd:element ref="ns1:FSObjType" minOccurs="0"/>
                <xsd:element ref="ns1:SortBehavior" minOccurs="0"/>
                <xsd:element ref="ns1:CheckedOutUserId" minOccurs="0"/>
                <xsd:element ref="ns1:IsCheckedoutToLocal" minOccurs="0"/>
                <xsd:element ref="ns1:CheckoutUser" minOccurs="0"/>
                <xsd:element ref="ns1:UniqueId" minOccurs="0"/>
                <xsd:element ref="ns1:SyncClientId" minOccurs="0"/>
                <xsd:element ref="ns1:ProgId" minOccurs="0"/>
                <xsd:element ref="ns1:ScopeId" minOccurs="0"/>
                <xsd:element ref="ns1:VirusStatus" minOccurs="0"/>
                <xsd:element ref="ns1:CheckedOutTitle" minOccurs="0"/>
                <xsd:element ref="ns1:MetaInfo" minOccurs="0"/>
                <xsd:element ref="ns1:_Level" minOccurs="0"/>
                <xsd:element ref="ns1:_IsCurrentVersion" minOccurs="0"/>
                <xsd:element ref="ns1:owshiddenversion" minOccurs="0"/>
                <xsd:element ref="ns1:_UIVersion" minOccurs="0"/>
                <xsd:element ref="ns1:_UIVersionString" minOccurs="0"/>
                <xsd:element ref="ns1:InstanceID" minOccurs="0"/>
                <xsd:element ref="ns1:Order" minOccurs="0"/>
                <xsd:element ref="ns1:GUID" minOccurs="0"/>
                <xsd:element ref="ns1:WorkflowVersion" minOccurs="0"/>
                <xsd:element ref="ns1:WorkflowInstanceID" minOccurs="0"/>
                <xsd:element ref="ns1:DocConcurrencyNumber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ModerationComments" ma:index="32" nillable="true" ma:displayName="Approver Comments" ma:hidden="true" ma:internalName="_ModerationComments" ma:readOnly="true">
      <xsd:simpleType>
        <xsd:restriction base="dms:Note"/>
      </xsd:simpleType>
    </xsd:element>
    <xsd:element name="File_x0020_Type" ma:index="33" nillable="true" ma:displayName="File Type" ma:hidden="true" ma:internalName="File_x0020_Type" ma:readOnly="true">
      <xsd:simpleType>
        <xsd:restriction base="dms:Text"/>
      </xsd:simpleType>
    </xsd:element>
    <xsd:element name="HTML_x0020_File_x0020_Type" ma:index="34" nillable="true" ma:displayName="HTML File Type" ma:hidden="true" ma:internalName="HTML_x0020_File_x0020_Type" ma:readOnly="true">
      <xsd:simpleType>
        <xsd:restriction base="dms:Text"/>
      </xsd:simpleType>
    </xsd:element>
    <xsd:element name="_SourceUrl" ma:index="35" nillable="true" ma:displayName="Source URL" ma:hidden="true" ma:internalName="_SourceUrl">
      <xsd:simpleType>
        <xsd:restriction base="dms:Text"/>
      </xsd:simpleType>
    </xsd:element>
    <xsd:element name="_SharedFileIndex" ma:index="36" nillable="true" ma:displayName="Shared File Index" ma:hidden="true" ma:internalName="_SharedFileIndex">
      <xsd:simpleType>
        <xsd:restriction base="dms:Text"/>
      </xsd:simpleType>
    </xsd:element>
    <xsd:element name="ContentTypeId" ma:index="37" nillable="true" ma:displayName="Content Type ID" ma:hidden="true" ma:internalName="ContentTypeId" ma:readOnly="true">
      <xsd:simpleType>
        <xsd:restriction base="dms:Unknown"/>
      </xsd:simpleType>
    </xsd:element>
    <xsd:element name="TemplateUrl" ma:index="38" nillable="true" ma:displayName="Template Link" ma:hidden="true" ma:internalName="TemplateUrl">
      <xsd:simpleType>
        <xsd:restriction base="dms:Text"/>
      </xsd:simpleType>
    </xsd:element>
    <xsd:element name="xd_ProgID" ma:index="39" nillable="true" ma:displayName="HTML File Link" ma:hidden="true" ma:internalName="xd_ProgID">
      <xsd:simpleType>
        <xsd:restriction base="dms:Text"/>
      </xsd:simpleType>
    </xsd:element>
    <xsd:element name="xd_Signature" ma:index="40" nillable="true" ma:displayName="Is Signed" ma:hidden="true" ma:internalName="xd_Signature" ma:readOnly="true">
      <xsd:simpleType>
        <xsd:restriction base="dms:Boolean"/>
      </xsd:simpleType>
    </xsd:element>
    <xsd:element name="ID" ma:index="41" nillable="true" ma:displayName="ID" ma:internalName="ID" ma:readOnly="false">
      <xsd:simpleType>
        <xsd:restriction base="dms:Unknown"/>
      </xsd:simpleType>
    </xsd:element>
    <xsd:element name="Author" ma:index="42" nillable="true" ma:displayName="Created By" ma:list="UserInfo" ma:internalName="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" ma:index="43" nillable="true" ma:displayName="Modified By" ma:list="UserInfo" ma:internalName="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HasCopyDestinations" ma:index="44" nillable="true" ma:displayName="Has Copy Destinations" ma:hidden="true" ma:internalName="_HasCopyDestinations" ma:readOnly="true">
      <xsd:simpleType>
        <xsd:restriction base="dms:Boolean"/>
      </xsd:simpleType>
    </xsd:element>
    <xsd:element name="_CopySource" ma:index="45" nillable="true" ma:displayName="Copy Source" ma:internalName="_CopySource" ma:readOnly="false">
      <xsd:simpleType>
        <xsd:restriction base="dms:Text"/>
      </xsd:simpleType>
    </xsd:element>
    <xsd:element name="_ModerationStatus" ma:index="46" nillable="true" ma:displayName="Approval Status" ma:default="0" ma:hidden="true" ma:internalName="_ModerationStatus" ma:readOnly="true">
      <xsd:simpleType>
        <xsd:restriction base="dms:Unknown"/>
      </xsd:simpleType>
    </xsd:element>
    <xsd:element name="FileRef" ma:index="47" nillable="true" ma:displayName="URL Path" ma:hidden="true" ma:list="Docs" ma:internalName="FileRef" ma:readOnly="true" ma:showField="FullUrl">
      <xsd:simpleType>
        <xsd:restriction base="dms:Lookup"/>
      </xsd:simpleType>
    </xsd:element>
    <xsd:element name="FileDirRef" ma:index="48" nillable="true" ma:displayName="Path" ma:hidden="true" ma:list="Docs" ma:internalName="FileDirRef" ma:readOnly="true" ma:showField="DirName">
      <xsd:simpleType>
        <xsd:restriction base="dms:Lookup"/>
      </xsd:simpleType>
    </xsd:element>
    <xsd:element name="Last_x0020_Modified" ma:index="49" nillable="true" ma:displayName="Modified" ma:format="TRUE" ma:hidden="true" ma:list="Docs" ma:internalName="Last_x0020_Modified" ma:readOnly="true" ma:showField="TimeLastModified">
      <xsd:simpleType>
        <xsd:restriction base="dms:Lookup"/>
      </xsd:simpleType>
    </xsd:element>
    <xsd:element name="Created_x0020_Date" ma:index="50" nillable="true" ma:displayName="Created" ma:format="TRUE" ma:hidden="true" ma:list="Docs" ma:internalName="Created_x0020_Date" ma:readOnly="true" ma:showField="TimeCreated">
      <xsd:simpleType>
        <xsd:restriction base="dms:Lookup"/>
      </xsd:simpleType>
    </xsd:element>
    <xsd:element name="File_x0020_Size" ma:index="51" nillable="true" ma:displayName="File Size" ma:format="TRUE" ma:hidden="true" ma:list="Docs" ma:internalName="File_x0020_Size" ma:readOnly="true" ma:showField="SizeInKB">
      <xsd:simpleType>
        <xsd:restriction base="dms:Lookup"/>
      </xsd:simpleType>
    </xsd:element>
    <xsd:element name="FSObjType" ma:index="52" nillable="true" ma:displayName="Item Type" ma:hidden="true" ma:list="Docs" ma:internalName="FSObjType" ma:readOnly="true" ma:showField="FSType">
      <xsd:simpleType>
        <xsd:restriction base="dms:Lookup"/>
      </xsd:simpleType>
    </xsd:element>
    <xsd:element name="SortBehavior" ma:index="53" nillable="true" ma:displayName="Sort Type" ma:hidden="true" ma:list="Docs" ma:internalName="SortBehavior" ma:readOnly="true" ma:showField="SortBehavior">
      <xsd:simpleType>
        <xsd:restriction base="dms:Lookup"/>
      </xsd:simpleType>
    </xsd:element>
    <xsd:element name="CheckedOutUserId" ma:index="55" nillable="true" ma:displayName="ID of the User who has the item Checked Out" ma:hidden="true" ma:list="Docs" ma:internalName="CheckedOutUserId" ma:readOnly="true" ma:showField="CheckoutUserId">
      <xsd:simpleType>
        <xsd:restriction base="dms:Lookup"/>
      </xsd:simpleType>
    </xsd:element>
    <xsd:element name="IsCheckedoutToLocal" ma:index="56" nillable="true" ma:displayName="Is Checked out to local" ma:hidden="true" ma:list="Docs" ma:internalName="IsCheckedoutToLocal" ma:readOnly="true" ma:showField="IsCheckoutToLocal">
      <xsd:simpleType>
        <xsd:restriction base="dms:Lookup"/>
      </xsd:simpleType>
    </xsd:element>
    <xsd:element name="CheckoutUser" ma:index="57" nillable="true" ma:displayName="Checked Out To" ma:list="UserInfo" ma:internalName="CheckoutUse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UniqueId" ma:index="58" nillable="true" ma:displayName="Unique Id" ma:hidden="true" ma:list="Docs" ma:internalName="UniqueId" ma:readOnly="true" ma:showField="UniqueId">
      <xsd:simpleType>
        <xsd:restriction base="dms:Lookup"/>
      </xsd:simpleType>
    </xsd:element>
    <xsd:element name="SyncClientId" ma:index="59" nillable="true" ma:displayName="Client Id" ma:hidden="true" ma:list="Docs" ma:internalName="SyncClientId" ma:readOnly="true" ma:showField="SyncClientId">
      <xsd:simpleType>
        <xsd:restriction base="dms:Lookup"/>
      </xsd:simpleType>
    </xsd:element>
    <xsd:element name="ProgId" ma:index="60" nillable="true" ma:displayName="ProgId" ma:hidden="true" ma:list="Docs" ma:internalName="ProgId" ma:readOnly="true" ma:showField="ProgId">
      <xsd:simpleType>
        <xsd:restriction base="dms:Lookup"/>
      </xsd:simpleType>
    </xsd:element>
    <xsd:element name="ScopeId" ma:index="61" nillable="true" ma:displayName="ScopeId" ma:hidden="true" ma:list="Docs" ma:internalName="ScopeId" ma:readOnly="true" ma:showField="ScopeId">
      <xsd:simpleType>
        <xsd:restriction base="dms:Lookup"/>
      </xsd:simpleType>
    </xsd:element>
    <xsd:element name="VirusStatus" ma:index="62" nillable="true" ma:displayName="Virus Status" ma:format="TRUE" ma:hidden="true" ma:list="Docs" ma:internalName="VirusStatus" ma:readOnly="true" ma:showField="Size">
      <xsd:simpleType>
        <xsd:restriction base="dms:Lookup"/>
      </xsd:simpleType>
    </xsd:element>
    <xsd:element name="CheckedOutTitle" ma:index="63" nillable="true" ma:displayName="Checked Out To" ma:format="TRUE" ma:hidden="true" ma:list="Docs" ma:internalName="CheckedOutTitle" ma:readOnly="true" ma:showField="CheckedOutTitle">
      <xsd:simpleType>
        <xsd:restriction base="dms:Lookup"/>
      </xsd:simpleType>
    </xsd:element>
    <xsd:element name="MetaInfo" ma:index="76" nillable="true" ma:displayName="Property Bag" ma:hidden="true" ma:list="Docs" ma:internalName="MetaInfo" ma:showField="MetaInfo">
      <xsd:simpleType>
        <xsd:restriction base="dms:Lookup"/>
      </xsd:simpleType>
    </xsd:element>
    <xsd:element name="_Level" ma:index="77" nillable="true" ma:displayName="Level" ma:hidden="true" ma:internalName="_Level" ma:readOnly="true">
      <xsd:simpleType>
        <xsd:restriction base="dms:Unknown"/>
      </xsd:simpleType>
    </xsd:element>
    <xsd:element name="_IsCurrentVersion" ma:index="78" nillable="true" ma:displayName="Is Current Version" ma:hidden="true" ma:internalName="_IsCurrentVersion" ma:readOnly="true">
      <xsd:simpleType>
        <xsd:restriction base="dms:Boolean"/>
      </xsd:simpleType>
    </xsd:element>
    <xsd:element name="owshiddenversion" ma:index="81" nillable="true" ma:displayName="owshiddenversion" ma:hidden="true" ma:internalName="owshiddenversion" ma:readOnly="true">
      <xsd:simpleType>
        <xsd:restriction base="dms:Unknown"/>
      </xsd:simpleType>
    </xsd:element>
    <xsd:element name="_UIVersion" ma:index="82" nillable="true" ma:displayName="UI Version" ma:hidden="true" ma:internalName="_UIVersion" ma:readOnly="true">
      <xsd:simpleType>
        <xsd:restriction base="dms:Unknown"/>
      </xsd:simpleType>
    </xsd:element>
    <xsd:element name="_UIVersionString" ma:index="83" nillable="true" ma:displayName="Version" ma:internalName="_UIVersionString" ma:readOnly="false">
      <xsd:simpleType>
        <xsd:restriction base="dms:Text"/>
      </xsd:simpleType>
    </xsd:element>
    <xsd:element name="InstanceID" ma:index="84" nillable="true" ma:displayName="Instance ID" ma:hidden="true" ma:internalName="InstanceID" ma:readOnly="true">
      <xsd:simpleType>
        <xsd:restriction base="dms:Unknown"/>
      </xsd:simpleType>
    </xsd:element>
    <xsd:element name="Order" ma:index="85" nillable="true" ma:displayName="Order" ma:hidden="true" ma:internalName="Order">
      <xsd:simpleType>
        <xsd:restriction base="dms:Number"/>
      </xsd:simpleType>
    </xsd:element>
    <xsd:element name="GUID" ma:index="86" nillable="true" ma:displayName="GUID" ma:hidden="true" ma:internalName="GUID" ma:readOnly="true">
      <xsd:simpleType>
        <xsd:restriction base="dms:Unknown"/>
      </xsd:simpleType>
    </xsd:element>
    <xsd:element name="WorkflowVersion" ma:index="87" nillable="true" ma:displayName="Workflow Version" ma:hidden="true" ma:internalName="WorkflowVersion" ma:readOnly="true">
      <xsd:simpleType>
        <xsd:restriction base="dms:Unknown"/>
      </xsd:simpleType>
    </xsd:element>
    <xsd:element name="WorkflowInstanceID" ma:index="88" nillable="true" ma:displayName="Workflow Instance ID" ma:hidden="true" ma:internalName="WorkflowInstanceID" ma:readOnly="true">
      <xsd:simpleType>
        <xsd:restriction base="dms:Unknown"/>
      </xsd:simpleType>
    </xsd:element>
    <xsd:element name="DocConcurrencyNumber" ma:index="89" nillable="true" ma:displayName="Document Concurrency Number" ma:hidden="true" ma:list="Docs" ma:internalName="DocConcurrencyNumber" ma:readOnly="true" ma:showField="DocConcurrencyNumber">
      <xsd:simpleType>
        <xsd:restriction base="dms:Lookup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fc13c2-c056-4e02-a357-e870c07d9b18" elementFormDefault="qualified">
    <xsd:import namespace="http://schemas.microsoft.com/office/2006/documentManagement/types"/>
    <xsd:import namespace="http://schemas.microsoft.com/office/infopath/2007/PartnerControls"/>
    <xsd:element name="Best_x0020_Bet" ma:index="2" nillable="true" ma:displayName="Best Bet" ma:default="No" ma:format="Dropdown" ma:internalName="Best_x0020_Bet" ma:readOnly="false">
      <xsd:simpleType>
        <xsd:restriction base="dms:Choice">
          <xsd:enumeration value="Yes"/>
          <xsd:enumeration value="No"/>
        </xsd:restriction>
      </xsd:simpleType>
    </xsd:element>
    <xsd:element name="Competitor" ma:index="3" nillable="true" ma:displayName="Competitor" ma:format="Dropdown" ma:internalName="Competitor">
      <xsd:simpleType>
        <xsd:restriction base="dms:Choice">
          <xsd:enumeration value=""/>
          <xsd:enumeration value="Accenture"/>
          <xsd:enumeration value="AchieveGlobal"/>
          <xsd:enumeration value="American Management Association (AMA)"/>
          <xsd:enumeration value="Aon Consulting Worldwide"/>
          <xsd:enumeration value="AON Hewitt"/>
          <xsd:enumeration value="Applied Psych Techniques (APT)"/>
          <xsd:enumeration value="Assess Systems (formerly Bigby-Havis)"/>
          <xsd:enumeration value="Aston University"/>
          <xsd:enumeration value="Batrus Hollweg"/>
          <xsd:enumeration value="Behavioral Technology"/>
          <xsd:enumeration value="Beisen"/>
          <xsd:enumeration value="Blanchard Companies, Ken"/>
          <xsd:enumeration value="Blessing/White"/>
          <xsd:enumeration value="Brainbench"/>
          <xsd:enumeration value="Brassring Solutions"/>
          <xsd:enumeration value="BTS"/>
          <xsd:enumeration value="Caliper"/>
          <xsd:enumeration value="Capital H"/>
          <xsd:enumeration value="CEB"/>
          <xsd:enumeration value="CEB-SHL"/>
          <xsd:enumeration value="Censeo"/>
          <xsd:enumeration value="Center for Creative Leadership (CCL)"/>
          <xsd:enumeration value="Cranfield Business School"/>
          <xsd:enumeration value="Cubiks"/>
          <xsd:enumeration value="Deloitte Touche Tohmatsu"/>
          <xsd:enumeration value="Duke CE"/>
          <xsd:enumeration value="Egon Zehnder"/>
          <xsd:enumeration value="Forum"/>
          <xsd:enumeration value="Franklin Covey"/>
          <xsd:enumeration value="Gallup"/>
          <xsd:enumeration value="Global Knowledge"/>
          <xsd:enumeration value="Global Novations"/>
          <xsd:enumeration value="GP Strategies"/>
          <xsd:enumeration value="Harvard Business School"/>
          <xsd:enumeration value="Hay Group"/>
          <xsd:enumeration value="HealthcareSource"/>
          <xsd:enumeration value="Heidrick &amp; Struggles"/>
          <xsd:enumeration value="Hemsley Fraser"/>
          <xsd:enumeration value="Hewitt Associates"/>
          <xsd:enumeration value="Hogan Assessment Systems"/>
          <xsd:enumeration value="HR Chally"/>
          <xsd:enumeration value="Independent Consultant"/>
          <xsd:enumeration value="Internal Consultant"/>
          <xsd:enumeration value="John Clements"/>
          <xsd:enumeration value="Kenexa-IBM"/>
          <xsd:enumeration value="Kepner-Tregoe"/>
          <xsd:enumeration value="Knightsbridge"/>
          <xsd:enumeration value="Korn Ferry International"/>
          <xsd:enumeration value="Kronos"/>
          <xsd:enumeration value="Lee Hecht Harrison"/>
          <xsd:enumeration value="Linkage"/>
          <xsd:enumeration value="Lominger"/>
          <xsd:enumeration value="McKinsey"/>
          <xsd:enumeration value="Mercer"/>
          <xsd:enumeration value="Merit Trac"/>
          <xsd:enumeration value="Mind Gym (The)"/>
          <xsd:enumeration value="Monster Worldwide, Inc."/>
          <xsd:enumeration value="Myers Briggs"/>
          <xsd:enumeration value="Ninth House"/>
          <xsd:enumeration value="Oliver Wyman"/>
          <xsd:enumeration value="Other"/>
          <xsd:enumeration value="PA Consulting"/>
          <xsd:enumeration value="PDI - Ninth House"/>
          <xsd:enumeration value="PeopleAnswers"/>
          <xsd:enumeration value="Peopleclick - Authoria"/>
          <xsd:enumeration value="PeopleSoft"/>
          <xsd:enumeration value="Performance Assessment Network (pan)"/>
          <xsd:enumeration value="Personnel Decisions International (PDI)"/>
          <xsd:enumeration value="PreVisor, Inc"/>
          <xsd:enumeration value="PricewaterhouseCoopers (PWC)"/>
          <xsd:enumeration value="Profiles International"/>
          <xsd:enumeration value="Provant"/>
          <xsd:enumeration value="RHR International"/>
          <xsd:enumeration value="Right Management Consultants"/>
          <xsd:enumeration value="Select International"/>
          <xsd:enumeration value="Shaker Consulting"/>
          <xsd:enumeration value="SHL/PreVisor"/>
          <xsd:enumeration value="SkillSoft"/>
          <xsd:enumeration value="SuccessFactors-SAP"/>
          <xsd:enumeration value="TAFE"/>
          <xsd:enumeration value="Talent Plus"/>
          <xsd:enumeration value="Taleo"/>
          <xsd:enumeration value="Towers Watson"/>
          <xsd:enumeration value="Unicru"/>
          <xsd:enumeration value="Universities/Executive Business Schools"/>
          <xsd:enumeration value="Valtera"/>
          <xsd:enumeration value="Vital Smarts"/>
          <xsd:enumeration value="Wilson Learning"/>
          <xsd:enumeration value="YSC"/>
          <xsd:enumeration value="Zenger | Folkman"/>
        </xsd:restriction>
      </xsd:simpleType>
    </xsd:element>
    <xsd:element name="Course" ma:index="4" nillable="true" ma:displayName="Course" ma:format="Dropdown" ma:internalName="Course">
      <xsd:simpleType>
        <xsd:restriction base="dms:Choice">
          <xsd:enumeration value=""/>
          <xsd:enumeration value="(Spanish) Creating a Service Culture"/>
          <xsd:enumeration value="(Spanish) Keys &amp; Steps to Service"/>
          <xsd:enumeration value="(Spanish) New Service Plus"/>
          <xsd:enumeration value="(Spanish) Non Module Specific"/>
          <xsd:enumeration value="101 Tips for Teams"/>
          <xsd:enumeration value="Accelerate"/>
          <xsd:enumeration value="Accelerating Business Decisions"/>
          <xsd:enumeration value="Accelerating Business Decisions (Sim Ch)"/>
          <xsd:enumeration value="Accelerating Business Decisions E-file"/>
          <xsd:enumeration value="Accelerating Business Decisions VC"/>
          <xsd:enumeration value="Achieving Your Leadership Potential"/>
          <xsd:enumeration value="Achieving Your Leadership Potential WBT"/>
          <xsd:enumeration value="Achieving Your Leadership Ptntl (Deutsc)"/>
          <xsd:enumeration value="Achieving Your Leadership Ptntl (French)"/>
          <xsd:enumeration value="Achieving Your Leadership Ptntl (Jananes"/>
          <xsd:enumeration value="Achieving Your Leadership Ptntl (Portugu"/>
          <xsd:enumeration value="Achieving Your Leadership Ptntl (Spanish"/>
          <xsd:enumeration value="Adapting to Change"/>
          <xsd:enumeration value="Adapting to Change (French)"/>
          <xsd:enumeration value="Adapting To Change (German)"/>
          <xsd:enumeration value="Adapting To Change (Greek)"/>
          <xsd:enumeration value="Adapting To Change (Italian)"/>
          <xsd:enumeration value="Adapting To Change (Japanese)"/>
          <xsd:enumeration value="Adapting To Change (Portuguese)"/>
          <xsd:enumeration value="Adapting to Change (Spanish)"/>
          <xsd:enumeration value="Adapting To Change (Turkish)"/>
          <xsd:enumeration value="Adapting to Change WBT"/>
          <xsd:enumeration value="Adaptive Leadership"/>
          <xsd:enumeration value="Adaptive Leadership (Braz Portugues)"/>
          <xsd:enumeration value="Adaptive Leadership (French)"/>
          <xsd:enumeration value="Adaptive Leadership (German)"/>
          <xsd:enumeration value="Adaptive Leadership (Japanese)"/>
          <xsd:enumeration value="Adaptive Leadership (Polish)"/>
          <xsd:enumeration value="Adaptive Leadership (Spanish)"/>
          <xsd:enumeration value="Adaptive Leadership E-file"/>
          <xsd:enumeration value="Addressing Poor Performance"/>
          <xsd:enumeration value="Addressing Poor Performance  E-FILE All"/>
          <xsd:enumeration value="Addressing Poor Performance All Versions"/>
          <xsd:enumeration value="Addressing Poor Performance E-FILE"/>
          <xsd:enumeration value="Addressing Poor Performance Ind E-FILE"/>
          <xsd:enumeration value="Addressing Poor Performance Industrial"/>
          <xsd:enumeration value="Addressing Poor Performance Virtual Cl"/>
          <xsd:enumeration value="Addressing Poor Performance Web Based Tr"/>
          <xsd:enumeration value="Advanced Coaching"/>
          <xsd:enumeration value="Advanced Coaching (Chinese Simplified)"/>
          <xsd:enumeration value="Advanced Coaching (French Canadian)"/>
          <xsd:enumeration value="Advanced Coaching (French Universal)"/>
          <xsd:enumeration value="Advanced Coaching (German)"/>
          <xsd:enumeration value="Advanced Coaching (Ltn Amr Spanish)"/>
          <xsd:enumeration value="Advanced Coaching (Thai)"/>
          <xsd:enumeration value="Advanced Coaching E-FILE"/>
          <xsd:enumeration value="Advanced Coaching Virtual Classroom"/>
          <xsd:enumeration value="Advanced Coaching Web Based Training"/>
          <xsd:enumeration value="ANGLICIZED"/>
          <xsd:enumeration value="Applications (French)"/>
          <xsd:enumeration value="ARABIC"/>
          <xsd:enumeration value="Assessing Improvement Opp (French)"/>
          <xsd:enumeration value="Assessing Improvement Opp (Spanish)"/>
          <xsd:enumeration value="Assessing Improvement Opp-Admin"/>
          <xsd:enumeration value="Assessing Improvement Opp-Health"/>
          <xsd:enumeration value="Assessing Improvement Opportunities"/>
          <xsd:enumeration value="Assessment Books"/>
          <xsd:enumeration value="Audio Tapes"/>
          <xsd:enumeration value="Being A Leader:  Everyone's Role"/>
          <xsd:enumeration value="Book Packages"/>
          <xsd:enumeration value="Books"/>
          <xsd:enumeration value="Books (Spanish)"/>
          <xsd:enumeration value="Boosting Business Results"/>
          <xsd:enumeration value="Boosting Business Results (French Canad)"/>
          <xsd:enumeration value="Boosting Business Results (French)"/>
          <xsd:enumeration value="Boosting Business Results (Japanese)"/>
          <xsd:enumeration value="Boosting Business Results (Portuguese)"/>
          <xsd:enumeration value="Boosting Business Results (Spanish)"/>
          <xsd:enumeration value="BRAZILIAN PORTUGUESE"/>
          <xsd:enumeration value="Breakthrough"/>
          <xsd:enumeration value="Breakthrough (Anglicized)"/>
          <xsd:enumeration value="Building an Environment of Trust"/>
          <xsd:enumeration value="Building an Environment of Trust (B Por)"/>
          <xsd:enumeration value="Building an Environment of Trust (F)"/>
          <xsd:enumeration value="Building an Environment of Trust (FC)"/>
          <xsd:enumeration value="Building an Environment of Trust (Germa)"/>
          <xsd:enumeration value="Building an Environment of Trust (Italia"/>
          <xsd:enumeration value="Building an Environment of Trust (Polis)"/>
          <xsd:enumeration value="Building an Environment of Trust (Portu)"/>
          <xsd:enumeration value="Building an Environment of Trust (Russi)"/>
          <xsd:enumeration value="Building an Environment of Trust (Spani)"/>
          <xsd:enumeration value="Building an Environment of Trust E-file"/>
          <xsd:enumeration value="Building an Environment of Trust Virtual"/>
          <xsd:enumeration value="Building an Environment of Trust WBT"/>
          <xsd:enumeration value="Building an Envrnmnt of Trust (Romanian)"/>
          <xsd:enumeration value="Building and Sustaining Trust"/>
          <xsd:enumeration value="Building and Sustaining Trust E-FILE"/>
          <xsd:enumeration value="Building and Sustaining Trust Virt Class"/>
          <xsd:enumeration value="Building and Sustaining Trust Web Based"/>
          <xsd:enumeration value="Building and Sustng Trst (Chinese Simpli"/>
          <xsd:enumeration value="Building Consensus"/>
          <xsd:enumeration value="Building Trust"/>
          <xsd:enumeration value="Building Trust (Chinese)"/>
          <xsd:enumeration value="Building Trust (French)"/>
          <xsd:enumeration value="Building Trust (Polish)"/>
          <xsd:enumeration value="Building Trust (Spanish)"/>
          <xsd:enumeration value="Building Trust WBT"/>
          <xsd:enumeration value="Building Trust-Admin"/>
          <xsd:enumeration value="Building Trust-Health"/>
          <xsd:enumeration value="Building Winning Partnerships"/>
          <xsd:enumeration value="Building Winning Partnerships (Dutch)"/>
          <xsd:enumeration value="Building Winning Partnerships (Fr Canad)"/>
          <xsd:enumeration value="Building Winning Partnerships (French)"/>
          <xsd:enumeration value="Building Winning Partnerships (JAPANESE)"/>
          <xsd:enumeration value="Building Winning Partnerships (Neth/Dut)"/>
          <xsd:enumeration value="Building Winning Partnerships (Portugue)"/>
          <xsd:enumeration value="Building Winning Partnerships (Spanish)"/>
          <xsd:enumeration value="Business Impact Leadership Miscellaneous"/>
          <xsd:enumeration value="Challenge of Leadership"/>
          <xsd:enumeration value="Challenge of Leadership (Anglicized)"/>
          <xsd:enumeration value="Challenge of Leadership (French)"/>
          <xsd:enumeration value="Challenge of Leadership (Italian)"/>
          <xsd:enumeration value="Challenge of Leadership (Portuguese)"/>
          <xsd:enumeration value="Challenge of Leadership (Spanish)"/>
          <xsd:enumeration value="Change Management"/>
          <xsd:enumeration value="Change Management (French)"/>
          <xsd:enumeration value="Change Management (Spanish)"/>
          <xsd:enumeration value="Change Works"/>
          <xsd:enumeration value="CHINESE"/>
          <xsd:enumeration value="Chinese (Simplified)"/>
          <xsd:enumeration value="CHINESE SIMPLIFIED"/>
          <xsd:enumeration value="Chinese Simplifies Testing"/>
          <xsd:enumeration value="Coaching"/>
          <xsd:enumeration value="Coaching (French)"/>
          <xsd:enumeration value="Coaching (Spanish)"/>
          <xsd:enumeration value="Coaching and Development"/>
          <xsd:enumeration value="Coaching for High Perf (Simplified Chine"/>
          <xsd:enumeration value="Coaching for High Perf (Spanish Ltn Amr)"/>
          <xsd:enumeration value="Coaching for High Performance"/>
          <xsd:enumeration value="Coaching for High Performance (Fr Canadi"/>
          <xsd:enumeration value="Coaching for Improvement"/>
          <xsd:enumeration value="Coaching for Improvement (Braz Portugese"/>
          <xsd:enumeration value="Coaching for Improvement (Chinese Sim)"/>
          <xsd:enumeration value="Coaching for Improvement (Czech)"/>
          <xsd:enumeration value="Coaching for Improvement (Dutch)"/>
          <xsd:enumeration value="Coaching for Improvement (French)"/>
          <xsd:enumeration value="Coaching for Improvement (German)"/>
          <xsd:enumeration value="Coaching for Improvement (Greek)"/>
          <xsd:enumeration value="Coaching for Improvement (Italian)"/>
          <xsd:enumeration value="Coaching for Improvement (Korean)"/>
          <xsd:enumeration value="Coaching for Improvement (Netherland/Du)"/>
          <xsd:enumeration value="Coaching for Improvement (Polish)"/>
          <xsd:enumeration value="Coaching for Improvement (Portuguese)"/>
          <xsd:enumeration value="Coaching for Improvement (Spanish)"/>
          <xsd:enumeration value="Coaching for Improvement (Swedish)"/>
          <xsd:enumeration value="Coaching for Improvement Vitrual Classro"/>
          <xsd:enumeration value="Coaching for Improvement WBT"/>
          <xsd:enumeration value="Coaching for Peak Perf (Chinese Simplif)"/>
          <xsd:enumeration value="Coaching for Peak Perf (French Canadian)"/>
          <xsd:enumeration value="Coaching for Peak Perf (French Universal"/>
          <xsd:enumeration value="Coaching for Peak Perf (Ltn Amr Spanish)"/>
          <xsd:enumeration value="Coaching for Peak Perf (Polish)"/>
          <xsd:enumeration value="Coaching for Peak Perf (Simplified Chine"/>
          <xsd:enumeration value="Coaching for Peak Perf (Trad Chinese)"/>
          <xsd:enumeration value="Coaching for Peak Perform"/>
          <xsd:enumeration value="Coaching for Peak Perform All Versions"/>
          <xsd:enumeration value="Coaching for Peak Perform E-FILE"/>
          <xsd:enumeration value="Coaching for Peak Perform E-FILE All"/>
          <xsd:enumeration value="Coaching for Peak Perform HC E-FILE"/>
          <xsd:enumeration value="Coaching for Peak Perform Health Care"/>
          <xsd:enumeration value="Coaching for Peak Perform Ind E-FILE"/>
          <xsd:enumeration value="Coaching for Peak Perform Industrial"/>
          <xsd:enumeration value="Coaching for Peak Perform VC"/>
          <xsd:enumeration value="Coaching for Peak Perform Web Based"/>
          <xsd:enumeration value="Coaching for Peak Performance (German)"/>
          <xsd:enumeration value="Coaching for Peak Performance (Thai)"/>
          <xsd:enumeration value="Coaching for Success"/>
          <xsd:enumeration value="Coaching for Success  (Czech)"/>
          <xsd:enumeration value="Coaching for Success  (French)"/>
          <xsd:enumeration value="Coaching for Success &amp; Improvement"/>
          <xsd:enumeration value="Coaching for Success &amp; Improvement (FR)"/>
          <xsd:enumeration value="Coaching for Success &amp; Imprv (Spanish)"/>
          <xsd:enumeration value="Coaching for Success (Chinese Sim)"/>
          <xsd:enumeration value="Coaching for Success (Dutch)"/>
          <xsd:enumeration value="Coaching for Success (Finnish)"/>
          <xsd:enumeration value="Coaching for Success (French)"/>
          <xsd:enumeration value="Coaching for Success (German)"/>
          <xsd:enumeration value="Coaching for Success (Greek)"/>
          <xsd:enumeration value="Coaching for Success (Hebrew)"/>
          <xsd:enumeration value="Coaching for Success (HUNGARIAN)"/>
          <xsd:enumeration value="Coaching for Success (ICELANDIC)"/>
          <xsd:enumeration value="Coaching for Success (Italian)"/>
          <xsd:enumeration value="Coaching for Success (NETHERLANDS/DUTCH)"/>
          <xsd:enumeration value="Coaching for Success (Polish)"/>
          <xsd:enumeration value="Coaching for Success (Portuguese)"/>
          <xsd:enumeration value="Coaching for Success (Spanish)"/>
          <xsd:enumeration value="Coaching for Success (Swedish)"/>
          <xsd:enumeration value="Coaching for Success Virtual Classroom"/>
          <xsd:enumeration value="Coaching for Success WBT"/>
          <xsd:enumeration value="Coaching for Success-Admin"/>
          <xsd:enumeration value="Coaching for Success-Admin (Anglicized)"/>
          <xsd:enumeration value="Coaching for Success-Admin (French)"/>
          <xsd:enumeration value="Coaching for Success-Admin (Spanish)"/>
          <xsd:enumeration value="Coaching for Success-Cont Imprv"/>
          <xsd:enumeration value="Coaching for Success-Health"/>
          <xsd:enumeration value="Coaching Staff"/>
          <xsd:enumeration value="Coaching: Develop High Perf (Portuguese)"/>
          <xsd:enumeration value="Communic for Lead Succ (French Canadian)"/>
          <xsd:enumeration value="Communic for Lead Succ (Ltn Amr Spanish)"/>
          <xsd:enumeration value="Communic for Lead Succ (Simplfd Chinese)"/>
          <xsd:enumeration value="Communic for Lead Succ (Trad Chinese)"/>
          <xsd:enumeration value="Communic for Leadership Succ (Polish)"/>
          <xsd:enumeration value="Communic for Leadership Success (German)"/>
          <xsd:enumeration value="Communicating and Listening"/>
          <xsd:enumeration value="Communicating and Listening (French)"/>
          <xsd:enumeration value="Communicating and Listening (Portuguese)"/>
          <xsd:enumeration value="Communicating and Listening (Spanish)"/>
          <xsd:enumeration value="Communicating and Listening WBT"/>
          <xsd:enumeration value="Communicating for Ldr Success"/>
          <xsd:enumeration value="Communicating for Ldr Success All Versn"/>
          <xsd:enumeration value="Communicating for Ldr Success E-FILE"/>
          <xsd:enumeration value="Communicating for Ldr Success E-FILE ALL"/>
          <xsd:enumeration value="Communicating for Ldr Success HC"/>
          <xsd:enumeration value="Communicating for Ldr Success HC E-FILE"/>
          <xsd:enumeration value="Communicating for Ldr Success Ind"/>
          <xsd:enumeration value="Communicating for Ldr Success Ind E-FILE"/>
          <xsd:enumeration value="Communicating for Ldr Success VC"/>
          <xsd:enumeration value="Communicating for Ldr Success WBT"/>
          <xsd:enumeration value="Communicating for Ldrshp Success (Thai)"/>
          <xsd:enumeration value="Communicating with Impact"/>
          <xsd:enumeration value="Communicating with Impact (Fr Can)"/>
          <xsd:enumeration value="Communicating with Impact (Japanese)"/>
          <xsd:enumeration value="Communicating with Impact (Spanish Lt Am"/>
          <xsd:enumeration value="Communicating with Impact (Trad Chinese)"/>
          <xsd:enumeration value="Communicating with Impact E-file"/>
          <xsd:enumeration value="Communicating with Impact Virtual Class"/>
          <xsd:enumeration value="Communicating with Impact WBT"/>
          <xsd:enumeration value="Communicating with Others"/>
          <xsd:enumeration value="Communicating with Others (Anglicized)"/>
          <xsd:enumeration value="Communicating with Others (Braz Portugu)"/>
          <xsd:enumeration value="Communicating with Others (Portuguese)"/>
          <xsd:enumeration value="Communicating with Others (Spanish)"/>
          <xsd:enumeration value="Communicating with Others-Admin"/>
          <xsd:enumeration value="Communicating with Others-Health"/>
          <xsd:enumeration value="Communicating with Suprvsr"/>
          <xsd:enumeration value="Communicating with Suprvsr-Admin"/>
          <xsd:enumeration value="Concepts and Key Principles"/>
          <xsd:enumeration value="Concepts and Key Principles (French)"/>
          <xsd:enumeration value="Concepts and Key Principles-Adm (French)"/>
          <xsd:enumeration value="Conducting Effective Meetings"/>
          <xsd:enumeration value="Conducting Effective Meetings-Admin"/>
          <xsd:enumeration value="Conducting Perf Reviews (Portuguese)"/>
          <xsd:enumeration value="Conducting Perf Reviews-Adm (French)"/>
          <xsd:enumeration value="Conducting Performance Reviews"/>
          <xsd:enumeration value="Conducting Performance Reviews (French)"/>
          <xsd:enumeration value="Conducting Performance Reviews-Admin"/>
          <xsd:enumeration value="Conflict Resolution"/>
          <xsd:enumeration value="Consult Interaction Management (French)"/>
          <xsd:enumeration value="Consulting Breakthrough"/>
          <xsd:enumeration value="Consulting Change Management"/>
          <xsd:enumeration value="Consulting Change Works"/>
          <xsd:enumeration value="Consulting CSG"/>
          <xsd:enumeration value="Consulting Delivered"/>
          <xsd:enumeration value="Consulting High Involvement"/>
          <xsd:enumeration value="Consulting High Involvment Assessment"/>
          <xsd:enumeration value="Consulting ICS"/>
          <xsd:enumeration value="Consulting Individual Assessment"/>
          <xsd:enumeration value="Consulting Interaction Management"/>
          <xsd:enumeration value="Consulting Intervention"/>
          <xsd:enumeration value="Consulting Maximizing Performance"/>
          <xsd:enumeration value="Consulting Miscellaneous"/>
          <xsd:enumeration value="Consulting OPAL"/>
          <xsd:enumeration value="Consulting Resources Management"/>
          <xsd:enumeration value="Consulting SAS General"/>
          <xsd:enumeration value="Consulting SDP"/>
          <xsd:enumeration value="Consulting Selecting Service Stars"/>
          <xsd:enumeration value="Consulting Service Plus"/>
          <xsd:enumeration value="Consulting Start-up"/>
          <xsd:enumeration value="Consulting Synchrony"/>
          <xsd:enumeration value="Consulting SynergEASE"/>
          <xsd:enumeration value="Consulting Tactics"/>
          <xsd:enumeration value="Consulting Targeted Management"/>
          <xsd:enumeration value="Consulting Targeted Selection"/>
          <xsd:enumeration value="Consulting Targeted Selection (French)"/>
          <xsd:enumeration value="Consulting Teams"/>
          <xsd:enumeration value="Consulting Techniques"/>
          <xsd:enumeration value="Consulting TPM"/>
          <xsd:enumeration value="Consulting WDS"/>
          <xsd:enumeration value="Consulting Zapp"/>
          <xsd:enumeration value="Contributing to Meeting Success"/>
          <xsd:enumeration value="Contributing to Meeting Success (Portug)"/>
          <xsd:enumeration value="Contributing to Meeting Success WBT"/>
          <xsd:enumeration value="Controlling"/>
          <xsd:enumeration value="Controlling (Spanish)"/>
          <xsd:enumeration value="Core Day Classroom"/>
          <xsd:enumeration value="Core Day Classroom (Italian)"/>
          <xsd:enumeration value="Core Day Classroom (Spanish)"/>
          <xsd:enumeration value="Core Day Self Study"/>
          <xsd:enumeration value="Core Skills f/Building Commit (Portugues"/>
          <xsd:enumeration value="Core Skills f/Building Commit (Spanish)"/>
          <xsd:enumeration value="Core Skills f/Building Commitment (Frenc"/>
          <xsd:enumeration value="Core Skills for Building Commitment"/>
          <xsd:enumeration value="Core Skills for Building Commitment WBT"/>
          <xsd:enumeration value="Creating a Service Culture"/>
          <xsd:enumeration value="Creating a Service Culture (Italian)"/>
          <xsd:enumeration value="Creating A Service Culture E-file"/>
          <xsd:enumeration value="Cultivating Networks and Partner (Fr C)"/>
          <xsd:enumeration value="Cultivating Networks and Partnerships"/>
          <xsd:enumeration value="Cultural Orientations"/>
          <xsd:enumeration value="Customized Consulting Services"/>
          <xsd:enumeration value="Customized Consulting Srvcs (Ch Simplie)"/>
          <xsd:enumeration value="Customized Consulting Srvcs (Dutch)"/>
          <xsd:enumeration value="Customized Consulting Srvcs (French)"/>
          <xsd:enumeration value="Customized Consulting Srvcs (German)"/>
          <xsd:enumeration value="Customized Consulting Srvcs (Portuguese)"/>
          <xsd:enumeration value="Customized Consulting Srvcs (Spanish)"/>
          <xsd:enumeration value="Customized Interaction Management"/>
          <xsd:enumeration value="Customized OLD Interaction"/>
          <xsd:enumeration value="Customized Service Plus"/>
          <xsd:enumeration value="Customized Service Plus (Spanish)"/>
          <xsd:enumeration value="Customized Strategies"/>
          <xsd:enumeration value="Customized Tactics"/>
          <xsd:enumeration value="Customized Tactics (Spanish)"/>
          <xsd:enumeration value="Customized Targeted Management"/>
          <xsd:enumeration value="Customized Targeted Selection"/>
          <xsd:enumeration value="Customized Techniques"/>
          <xsd:enumeration value="Czech"/>
          <xsd:enumeration value="DDI Direct Targeted Selection"/>
          <xsd:enumeration value="DDI Direct Techniques"/>
          <xsd:enumeration value="Decision Making"/>
          <xsd:enumeration value="Decision Making (Spanish)"/>
          <xsd:enumeration value="Delegate f/Productivity &amp; Growth (French"/>
          <xsd:enumeration value="Delegate f/Productivity &amp; Growth (Spanis"/>
          <xsd:enumeration value="Delegating"/>
          <xsd:enumeration value="Delegating (Spanish)"/>
          <xsd:enumeration value="Delegating and Monitoring"/>
          <xsd:enumeration value="Delegating f/Prod &amp; Growth (Portuguese)"/>
          <xsd:enumeration value="Delegating f/Productivity and Growth"/>
          <xsd:enumeration value="Delegating f/Productivity and Growth WBT"/>
          <xsd:enumeration value="Delegating for Results"/>
          <xsd:enumeration value="Delegating for Results (Czech)"/>
          <xsd:enumeration value="Delegating for Results (Deutschland)"/>
          <xsd:enumeration value="Delegating for Results (Dutch)"/>
          <xsd:enumeration value="Delegating for Results (French)"/>
          <xsd:enumeration value="Delegating for Results (Informal Hungar)"/>
          <xsd:enumeration value="Delegating for Results (Italian)"/>
          <xsd:enumeration value="Delegating for Results (Japanese)"/>
          <xsd:enumeration value="Delegating for Results (Netherlan/Dutch)"/>
          <xsd:enumeration value="Delegating for Results (Polish)"/>
          <xsd:enumeration value="Delegating for Results (Portuguese)"/>
          <xsd:enumeration value="Delegating for Results (Russian)"/>
          <xsd:enumeration value="Delegating for Results (Spanish)"/>
          <xsd:enumeration value="Delegating for Results (Swedish)"/>
          <xsd:enumeration value="Delegating for Results Virtual Classroom"/>
          <xsd:enumeration value="Delegating for Results WBT"/>
          <xsd:enumeration value="Delegating for Results-Admin"/>
          <xsd:enumeration value="Delegating for Results-Cont Imprv"/>
          <xsd:enumeration value="Delegating Responsibility"/>
          <xsd:enumeration value="Delegating Responsibility (French)"/>
          <xsd:enumeration value="Delegating Responsibility-Admin"/>
          <xsd:enumeration value="Delegating Responsibility-Health"/>
          <xsd:enumeration value="Delegating with Purp (Chinese Simplifie)"/>
          <xsd:enumeration value="Delegating with Purpose"/>
          <xsd:enumeration value="Delegating with Purpose E-FILE"/>
          <xsd:enumeration value="Delegating with Purpose VC"/>
          <xsd:enumeration value="Delegating with Purpose Web Based Train"/>
          <xsd:enumeration value="Delegating with Purpse (French Canadian)"/>
          <xsd:enumeration value="Delegating with Purpse (French Universal"/>
          <xsd:enumeration value="Delegating with Purpse (German)"/>
          <xsd:enumeration value="Delegating with Purpse (Ltn Amr Spanish)"/>
          <xsd:enumeration value="Delegating with Purpse (Polish)"/>
          <xsd:enumeration value="Determining Causes"/>
          <xsd:enumeration value="Determining Causes (French)"/>
          <xsd:enumeration value="Determining Causes (Spanish)"/>
          <xsd:enumeration value="Determining Causes-Admin"/>
          <xsd:enumeration value="Determining Causes-Health"/>
          <xsd:enumeration value="Developing Collaborative Relationships"/>
          <xsd:enumeration value="Developing Collaborative Relationships-C"/>
          <xsd:enumeration value="Developing Collaborative Rltnshps (Itali"/>
          <xsd:enumeration value="Developing Org Talent (Simp Chinese)"/>
          <xsd:enumeration value="Developing Organizational Talent"/>
          <xsd:enumeration value="Developing Organizational Talent (Fr Ca)"/>
          <xsd:enumeration value="Developing Organizational Talent (French"/>
          <xsd:enumeration value="Developing Organizational Talent (Spanis"/>
          <xsd:enumeration value="Developing Others"/>
          <xsd:enumeration value="Developing Others (Deutschland)"/>
          <xsd:enumeration value="Developing Others (Dutch)"/>
          <xsd:enumeration value="Developing Others (French)"/>
          <xsd:enumeration value="Developing Others (Greek)"/>
          <xsd:enumeration value="Developing Others (Japanese)"/>
          <xsd:enumeration value="Developing Others (Netherlands/Dutch)"/>
          <xsd:enumeration value="Developing Others (Polish)"/>
          <xsd:enumeration value="Developing Others (Portuguese)"/>
          <xsd:enumeration value="Developing Others (Spanish)"/>
          <xsd:enumeration value="Developing Others WBT"/>
          <xsd:enumeration value="Developing Yourself &amp; Others"/>
          <xsd:enumeration value="Developing Yourself &amp; Others (Fr Canadia"/>
          <xsd:enumeration value="Developing Yourself &amp; Others (Fr Univers"/>
          <xsd:enumeration value="Developing Yourself &amp; Others (Thai)"/>
          <xsd:enumeration value="Developing Yourself &amp; Others E-FILE"/>
          <xsd:enumeration value="Developing Yourself &amp; Others Virt Cl"/>
          <xsd:enumeration value="Developing Yourself &amp; Others Web Based"/>
          <xsd:enumeration value="Developing Yrslf &amp; Othrs (Chinese Simpli"/>
          <xsd:enumeration value="Diagnosis for Organizational Change"/>
          <xsd:enumeration value="Direct Delivery"/>
          <xsd:enumeration value="Direct Delivery Breakthrough"/>
          <xsd:enumeration value="Direct Delivery Change Management"/>
          <xsd:enumeration value="Direct Delivery Change Works"/>
          <xsd:enumeration value="Direct Delivery Consulting"/>
          <xsd:enumeration value="Direct Delivery CSG"/>
          <xsd:enumeration value="Direct Delivery ELAS"/>
          <xsd:enumeration value="Direct Delivery FOL"/>
          <xsd:enumeration value="Direct Delivery High Involvement"/>
          <xsd:enumeration value="Direct Delivery ICS"/>
          <xsd:enumeration value="Direct Delivery Individual Assessment"/>
          <xsd:enumeration value="Direct Delivery Interaction Management"/>
          <xsd:enumeration value="Direct Delivery Intervention"/>
          <xsd:enumeration value="Direct Delivery Maximizing Performance"/>
          <xsd:enumeration value="Direct Delivery SAS General"/>
          <xsd:enumeration value="Direct Delivery Selecting Service Stars"/>
          <xsd:enumeration value="Direct Delivery Service Plus"/>
          <xsd:enumeration value="Direct Delivery Start-up"/>
          <xsd:enumeration value="Direct Delivery Strategies"/>
          <xsd:enumeration value="Direct Delivery Synchrony"/>
          <xsd:enumeration value="Direct Delivery SynergEASE"/>
          <xsd:enumeration value="Direct Delivery Tactics"/>
          <xsd:enumeration value="Direct Delivery Targeted Management"/>
          <xsd:enumeration value="Direct Delivery Targeted Selection"/>
          <xsd:enumeration value="Direct Delivery Teams"/>
          <xsd:enumeration value="Direct Delivery Techniques"/>
          <xsd:enumeration value="Direct Delivery TPM"/>
          <xsd:enumeration value="Direct Delivery WDS"/>
          <xsd:enumeration value="Discusing Perf Expectations (French)"/>
          <xsd:enumeration value="Discussing Perf Expectations"/>
          <xsd:enumeration value="Discussing Perf Expectations (Portuguese"/>
          <xsd:enumeration value="Discussing Perf Expectations-Adm (French"/>
          <xsd:enumeration value="Discussing Perf Expectations-Admin"/>
          <xsd:enumeration value="Doing Business Globally: The Foundation"/>
          <xsd:enumeration value="Driving Change"/>
          <xsd:enumeration value="Driving Change (Chinese Universal)"/>
          <xsd:enumeration value="Driving Change (French Canadian)"/>
          <xsd:enumeration value="Driving Change (French Universal)"/>
          <xsd:enumeration value="Driving Change (German)"/>
          <xsd:enumeration value="Driving Change (Ltn Amr Spanish)"/>
          <xsd:enumeration value="Driving Change (Portuguese Brazilian)"/>
          <xsd:enumeration value="Driving Change (Thai)"/>
          <xsd:enumeration value="Driving Change All Versions"/>
          <xsd:enumeration value="Driving Change E-FILE"/>
          <xsd:enumeration value="Driving Change E-FILE All Versions"/>
          <xsd:enumeration value="Driving Change Health Care"/>
          <xsd:enumeration value="Driving Change Health Care E-FILE"/>
          <xsd:enumeration value="Driving Change Industrial"/>
          <xsd:enumeration value="Driving Change Industrial E-FILE"/>
          <xsd:enumeration value="Driving Change Virtual Classroom"/>
          <xsd:enumeration value="Driving Change Web Based Training"/>
          <xsd:enumeration value="Driving Innovation"/>
          <xsd:enumeration value="Driving Innovation (Simplified Chinese)"/>
          <xsd:enumeration value="DUTCH"/>
          <xsd:enumeration value="Early Intv: Helping Troubled Employee"/>
          <xsd:enumeration value="Early Intv: Helping Troubled Employee-Ad"/>
          <xsd:enumeration value="Effective Global Manager"/>
          <xsd:enumeration value="Effective Teamwork"/>
          <xsd:enumeration value="ELAS"/>
          <xsd:enumeration value="Embracing Change"/>
          <xsd:enumeration value="Embracing Change (French Canadian)"/>
          <xsd:enumeration value="Embracing Change (French Universal)"/>
          <xsd:enumeration value="Embracing Change (Japanese)"/>
          <xsd:enumeration value="Embracing Change (Latin American Spanis)"/>
          <xsd:enumeration value="Embracing Change (Simplified Chinese)"/>
          <xsd:enumeration value="Embracing Change E-file"/>
          <xsd:enumeration value="Embracing Change Virtual Classroom"/>
          <xsd:enumeration value="Embracing Strategic Thinking"/>
          <xsd:enumeration value="Emotional Intelligence"/>
          <xsd:enumeration value="Emotional Intelligence (Anglicized)"/>
          <xsd:enumeration value="Emotional Intelligence (French Canadian)"/>
          <xsd:enumeration value="Emotional Intelligence (Simp Chinese)"/>
          <xsd:enumeration value="Emotional Intelligence (Spanish)"/>
          <xsd:enumeration value="Empowered Teams"/>
          <xsd:enumeration value="Empowering Leader"/>
          <xsd:enumeration value="Empowering Leader (Anglicized)"/>
          <xsd:enumeration value="Empowering Leader (French)"/>
          <xsd:enumeration value="Empowering Leader (Spanish)"/>
          <xsd:enumeration value="Empowerment Mirror"/>
          <xsd:enumeration value="Empowerment Mirror (French)"/>
          <xsd:enumeration value="Empowerment Mirror (Spanish)"/>
          <xsd:enumeration value="Encouraging Initiative"/>
          <xsd:enumeration value="Encouraging Initiative (French)"/>
          <xsd:enumeration value="Encouraging Initiative (Spanish)"/>
          <xsd:enumeration value="Encouraging Initiative Health"/>
          <xsd:enumeration value="Encouraging Initiative-Admin"/>
          <xsd:enumeration value="Encouraging Initiative-Admin (Spanish)"/>
          <xsd:enumeration value="Encouraging Initiative-Cont Imprv"/>
          <xsd:enumeration value="Engaging &amp; Retaining Talent"/>
          <xsd:enumeration value="Engaging &amp; Retaining Talent E-FILE"/>
          <xsd:enumeration value="Engish"/>
          <xsd:enumeration value="English"/>
          <xsd:enumeration value="English Social Intelligence"/>
          <xsd:enumeration value="English Testing"/>
          <xsd:enumeration value="Essential Skills For Healthcare Managers"/>
          <xsd:enumeration value="Essentials of Leadership"/>
          <xsd:enumeration value="Essentials of Leadership (Anglicized)"/>
          <xsd:enumeration value="Essentials of Leadership (Arabic)"/>
          <xsd:enumeration value="Essentials of Leadership (Czech)"/>
          <xsd:enumeration value="Essentials of Leadership (Dutch)"/>
          <xsd:enumeration value="Essentials of Leadership (Finnish)"/>
          <xsd:enumeration value="Essentials of Leadership (French)"/>
          <xsd:enumeration value="Essentials of Leadership (Greek)"/>
          <xsd:enumeration value="Essentials of Leadership (Hebrew)"/>
          <xsd:enumeration value="Essentials of Leadership (ICELANDIC)"/>
          <xsd:enumeration value="Essentials of Leadership (Netherlands)"/>
          <xsd:enumeration value="Essentials of Leadership (Polish)"/>
          <xsd:enumeration value="Essentials of Leadership Virtual Classro"/>
          <xsd:enumeration value="Essentials of Leadership WBT"/>
          <xsd:enumeration value="Everyday Service Excellence"/>
          <xsd:enumeration value="Everyday Service Excellence (French)"/>
          <xsd:enumeration value="Everyday Service Excellence (Spanish)"/>
          <xsd:enumeration value="Executing Business Strategy"/>
          <xsd:enumeration value="Executing Strategy at the Fr Line E-FILE"/>
          <xsd:enumeration value="Executing Strategy at the Fr Line Virtu"/>
          <xsd:enumeration value="Executing Strategy at the Fr Ln-Romanian"/>
          <xsd:enumeration value="Executing Strategy at the Front Line"/>
          <xsd:enumeration value="Expanding Leadership Skills"/>
          <xsd:enumeration value="Extraordinary Service Opptys"/>
          <xsd:enumeration value="Extraordinary Service Opptys (French)"/>
          <xsd:enumeration value="Extraordinary Service Opptys (Spanish)"/>
          <xsd:enumeration value="Extraordinary Service Opptys-Health"/>
          <xsd:enumeration value="Faciliating Improved Perf (Spanish)"/>
          <xsd:enumeration value="Facilitating Improved Perf (Chinese)"/>
          <xsd:enumeration value="Facilitating Improved Perf (Deutschland)"/>
          <xsd:enumeration value="Facilitating Improved Perf (French)"/>
          <xsd:enumeration value="Facilitating Improved Perf (Japenese)"/>
          <xsd:enumeration value="Facilitating Improved Perf (Portuguese)"/>
          <xsd:enumeration value="Facilitating Improved Performance"/>
          <xsd:enumeration value="Facilitating Improved Performance WBT"/>
          <xsd:enumeration value="Facilitating with Impact"/>
          <xsd:enumeration value="Fast Start for Teams"/>
          <xsd:enumeration value="Fast Start for Teams (Spanish)"/>
          <xsd:enumeration value="Fast Start for Teams WBT"/>
          <xsd:enumeration value="Feedback Fundamentals"/>
          <xsd:enumeration value="Feedback Fundamentals (French Canadian)"/>
          <xsd:enumeration value="Feedback Fundamentals (French)"/>
          <xsd:enumeration value="Feedback Fundamentals (Spanish)"/>
          <xsd:enumeration value="Feedback Fundamentals WBT"/>
          <xsd:enumeration value="Following Up to Spt Improve (Chinese)"/>
          <xsd:enumeration value="Following Up to Spt Improve (Japenese)"/>
          <xsd:enumeration value="Following Up to Spt Improvement (French)"/>
          <xsd:enumeration value="Following Up to Spt Improvement (Spanish"/>
          <xsd:enumeration value="Following Up to Support Improvement"/>
          <xsd:enumeration value="Following Up to Support Improvement WBT"/>
          <xsd:enumeration value="Fostering Innovation"/>
          <xsd:enumeration value="Fostering Innovation (Chinese Simplified"/>
          <xsd:enumeration value="Fostering Innovation (French Canadian)"/>
          <xsd:enumeration value="Fostering Innovation (French Universal)"/>
          <xsd:enumeration value="Fostering Innovation (German)"/>
          <xsd:enumeration value="Fostering Innovation (Ltn Amr Spanish)"/>
          <xsd:enumeration value="Fostering Innovation (Thai)"/>
          <xsd:enumeration value="Fostering Innovation E-FILE"/>
          <xsd:enumeration value="Fostering Innovation Virtual Classroom"/>
          <xsd:enumeration value="Foundation Skills"/>
          <xsd:enumeration value="Foundation Skills (French)"/>
          <xsd:enumeration value="FRENCH"/>
          <xsd:enumeration value="Fundamentals of Leadership"/>
          <xsd:enumeration value="Fundamentals of Sales Leadership"/>
          <xsd:enumeration value="Fundamentals of Service Leadership"/>
          <xsd:enumeration value="Gaining Acceptance"/>
          <xsd:enumeration value="Gaining Acceptance (French)"/>
          <xsd:enumeration value="GERMAN"/>
          <xsd:enumeration value="Getting Started as a New Leader"/>
          <xsd:enumeration value="Getting Started as a New Leader (Baha)"/>
          <xsd:enumeration value="Getting Started as a New Leader (Br Port"/>
          <xsd:enumeration value="Getting Started as a New Leader (Chines)"/>
          <xsd:enumeration value="Getting Started as a New Leader (Deutsc)"/>
          <xsd:enumeration value="Getting Started as a New Leader (Dutch)"/>
          <xsd:enumeration value="Getting Started as a New Leader (French)"/>
          <xsd:enumeration value="Getting Started as a New Leader (German)"/>
          <xsd:enumeration value="Getting Started as a New Leader (Italia)"/>
          <xsd:enumeration value="Getting Started as a New Leader (Japanes"/>
          <xsd:enumeration value="Getting Started as a New Leader (NL/DU)"/>
          <xsd:enumeration value="Getting Started as a New Leader (Polish)"/>
          <xsd:enumeration value="Getting Started as a New Leader (Portugu"/>
          <xsd:enumeration value="Getting Started as a New Leader (Spanish"/>
          <xsd:enumeration value="Getting Started as a New Leader WBT"/>
          <xsd:enumeration value="GREEK"/>
          <xsd:enumeration value="Group Leadership"/>
          <xsd:enumeration value="Group Leadership (Spanish)"/>
          <xsd:enumeration value="Group Leadership and Participation"/>
          <xsd:enumeration value="Group OLD Interaction"/>
          <xsd:enumeration value="Group OLD Interaction-Admin"/>
          <xsd:enumeration value="Guiding Conflict Resolution"/>
          <xsd:enumeration value="Guiding Conflict Resolution (Chinese)"/>
          <xsd:enumeration value="Guiding Conflict Resolution (Deutschland"/>
          <xsd:enumeration value="Guiding Conflict Resolution (French)"/>
          <xsd:enumeration value="Guiding Conflict Resolution (Portuguese)"/>
          <xsd:enumeration value="Guiding Conflict Resolution (Spanish)"/>
          <xsd:enumeration value="Guiding Conflict Resolution WBT"/>
          <xsd:enumeration value="Guiding the Development of Others"/>
          <xsd:enumeration value="Guiding the Development of Others (Frenc"/>
          <xsd:enumeration value="Guiding the Development of Others WBT"/>
          <xsd:enumeration value="Guiding the Developmnt of Others (Spanis"/>
          <xsd:enumeration value="Handling"/>
          <xsd:enumeration value="Handling Challenging (French Canadian)"/>
          <xsd:enumeration value="Handling Challenging Situations with Cou"/>
          <xsd:enumeration value="Handling Challg Situa w Courg (Braz Port"/>
          <xsd:enumeration value="Handling Complaints"/>
          <xsd:enumeration value="Handling Complaints (French)"/>
          <xsd:enumeration value="Handling Complaints (Italian)"/>
          <xsd:enumeration value="Handling Complaints (Portuguese)"/>
          <xsd:enumeration value="Handling Complaints-Admin"/>
          <xsd:enumeration value="Handling Complaints-Admin (Italian)"/>
          <xsd:enumeration value="Handling Complaints-Health"/>
          <xsd:enumeration value="Handling Conflict"/>
          <xsd:enumeration value="Handling Conflict (Anglicized)"/>
          <xsd:enumeration value="Handling Conflict (French)"/>
          <xsd:enumeration value="Handling Conflict (Spanish)"/>
          <xsd:enumeration value="Handling Conflict-Admin"/>
          <xsd:enumeration value="Handling Conflict-Health"/>
          <xsd:enumeration value="Handling Emotional Situations"/>
          <xsd:enumeration value="Handling Emotional Situations (French)"/>
          <xsd:enumeration value="Handling Grievances"/>
          <xsd:enumeration value="Handling Grievances-Union"/>
          <xsd:enumeration value="Handling Patient Complaints"/>
          <xsd:enumeration value="Handling Patient Complaints-Health"/>
          <xsd:enumeration value="Handling Suspected Sub Abuse Problem"/>
          <xsd:enumeration value="Handling Suspected Sub Abuse Problem-Adm"/>
          <xsd:enumeration value="Helping Others Adapt to Change"/>
          <xsd:enumeration value="Helping Others Adapt to Change (Chinese)"/>
          <xsd:enumeration value="Helping Others Adapt to Change (French)"/>
          <xsd:enumeration value="Helping Others Adapt to Change (Spanish)"/>
          <xsd:enumeration value="Helping Others Adapt to Change WBT"/>
          <xsd:enumeration value="Helping Others Adapt to Chng (Portuguese"/>
          <xsd:enumeration value="Helping Othrs Adapt to Chng (Deutschland"/>
          <xsd:enumeration value="Heroz"/>
          <xsd:enumeration value="Heroz (French)"/>
          <xsd:enumeration value="High Impact Feedback &amp; Listen (Fr Can)"/>
          <xsd:enumeration value="High Impact Feedback &amp; Listen (Netherlan"/>
          <xsd:enumeration value="High Impact Feedback and Listen (ANGL)"/>
          <xsd:enumeration value="High Impact Feedback and Listen(S.Chines"/>
          <xsd:enumeration value="High Impact Feedback and Listening"/>
          <xsd:enumeration value="High Impact Feedback and Listening E-fil"/>
          <xsd:enumeration value="High Impact Feedback and Listening(FrCan"/>
          <xsd:enumeration value="High Impact Feedback and Listg (German)"/>
          <xsd:enumeration value="High Impact Feedbk &amp; Listng (Trad Chines"/>
          <xsd:enumeration value="High Impact Feedbk and Listng (Japanese)"/>
          <xsd:enumeration value="High Involvement Leadership"/>
          <xsd:enumeration value="High Involvment"/>
          <xsd:enumeration value="High Involvment Assessment"/>
          <xsd:enumeration value="Hindi"/>
          <xsd:enumeration value="HUNGARIAN"/>
          <xsd:enumeration value="ICELANDIC"/>
          <xsd:enumeration value="ICS"/>
          <xsd:enumeration value="ICS (French)"/>
          <xsd:enumeration value="Identifying Perf Expectations"/>
          <xsd:enumeration value="Identifying Perf Expectations (French)"/>
          <xsd:enumeration value="Identifying Perf Expectations-Adm (Frenc"/>
          <xsd:enumeration value="Identifying Perf Expectations-Admin"/>
          <xsd:enumeration value="IM Essentials"/>
          <xsd:enumeration value="IM Essentials (Baha Indonesian)"/>
          <xsd:enumeration value="IM Essentials (Chinese)"/>
          <xsd:enumeration value="IM Essentials (Dutch)"/>
          <xsd:enumeration value="IM Essentials (French)"/>
          <xsd:enumeration value="IM Essentials (German)"/>
          <xsd:enumeration value="IM Essentials (Italian)"/>
          <xsd:enumeration value="IM Essentials (Japenese)"/>
          <xsd:enumeration value="IM Essentials (Korean)"/>
          <xsd:enumeration value="IM Essentials (Portuguese)"/>
          <xsd:enumeration value="IM Essentials (Spanish)"/>
          <xsd:enumeration value="IM Essentials (Swedish)"/>
          <xsd:enumeration value="IM EX Miscellaneous"/>
          <xsd:enumeration value="IM EX Miscellaneous (Anglicized)"/>
          <xsd:enumeration value="IM EX Miscellaneous (Arabic)"/>
          <xsd:enumeration value="IM EX Miscellaneous (Baha Indonesian)"/>
          <xsd:enumeration value="IM EX Miscellaneous (Chinese Sim)"/>
          <xsd:enumeration value="IM EX Miscellaneous (Chinese)"/>
          <xsd:enumeration value="IM EX Miscellaneous (Dutch)"/>
          <xsd:enumeration value="IM EX Miscellaneous (French)"/>
          <xsd:enumeration value="IM EX Miscellaneous (German)"/>
          <xsd:enumeration value="IM EX Miscellaneous (Hebrew)"/>
          <xsd:enumeration value="IM EX Miscellaneous (Italian)"/>
          <xsd:enumeration value="IM EX Miscellaneous (Japanese)"/>
          <xsd:enumeration value="IM EX Miscellaneous (Korean)"/>
          <xsd:enumeration value="IM EX Miscellaneous (Netherlands)"/>
          <xsd:enumeration value="IM EX Miscellaneous (Norwegian)"/>
          <xsd:enumeration value="IM EX Miscellaneous (Polish)"/>
          <xsd:enumeration value="IM EX Miscellaneous (Portuguese)"/>
          <xsd:enumeration value="IM EX Miscellaneous (Spanish)"/>
          <xsd:enumeration value="IM: ExL Misc (Portguese Brazilian)"/>
          <xsd:enumeration value="IM: Leadership Essentials"/>
          <xsd:enumeration value="IM:ExL Miscellaneous"/>
          <xsd:enumeration value="IM:ExL Miscellaneous (Chinese Simplifie)"/>
          <xsd:enumeration value="IM:ExL Miscellaneous (French Canadian)"/>
          <xsd:enumeration value="IM:ExL Miscellaneous (German)"/>
          <xsd:enumeration value="IM:ExL Miscellaneous (Lat Amr Spanish)"/>
          <xsd:enumeration value="IM:ExL Miscellaneous (Polish)"/>
          <xsd:enumeration value="IM:ExL Miscellaneous (Trad Chinese)"/>
          <xsd:enumeration value="Impacting Your Work Processes"/>
          <xsd:enumeration value="Impacting Your Work Processes (French)"/>
          <xsd:enumeration value="Impacting Your Work Processes (Spanish)"/>
          <xsd:enumeration value="Impacting Your Work Processes WBT"/>
          <xsd:enumeration value="Implementing Ongoing Improve (French)"/>
          <xsd:enumeration value="Implementing Ongoing Improve (Spanish)"/>
          <xsd:enumeration value="Implementing Ongoing Improvement"/>
          <xsd:enumeration value="Implementing Ongoing Improvement-Admin"/>
          <xsd:enumeration value="Implementing Ongoing Improvement-Health"/>
          <xsd:enumeration value="Improving Emp Performance (Anglicized)"/>
          <xsd:enumeration value="Improving Empl Per-Admin (Portuguese)"/>
          <xsd:enumeration value="Improving Empl Perf-Admin (French)"/>
          <xsd:enumeration value="Improving Empl Performance"/>
          <xsd:enumeration value="Improving Empl Performance (French)"/>
          <xsd:enumeration value="Improving Empl Performance (Italian)"/>
          <xsd:enumeration value="Improving Empl Performance (Portuguese)"/>
          <xsd:enumeration value="Improving Empl Performance (Spanish)"/>
          <xsd:enumeration value="Improving Empl Performance-Ad (Spanish)"/>
          <xsd:enumeration value="Improving Empl Performance-Admin"/>
          <xsd:enumeration value="Improving Empl Performance-Admin (Italia"/>
          <xsd:enumeration value="Improving Empl Performance-Govmnt"/>
          <xsd:enumeration value="Improving Empl Performance-Health"/>
          <xsd:enumeration value="Improving Personal Productivity"/>
          <xsd:enumeration value="Improving Personal Productivity (French)"/>
          <xsd:enumeration value="Improving Personal Productivity (Spanish"/>
          <xsd:enumeration value="Improving Personal Productivity WBT"/>
          <xsd:enumeration value="Improving Staff Performance: Part 1"/>
          <xsd:enumeration value="Improving Staff Performance: Part 2"/>
          <xsd:enumeration value="Improving Work Habits"/>
          <xsd:enumeration value="Improving Work Habits (Anglicized)"/>
          <xsd:enumeration value="Improving Work Habits (French)"/>
          <xsd:enumeration value="Improving Work Habits (Italian)"/>
          <xsd:enumeration value="Improving Work Habits (Portuguese)"/>
          <xsd:enumeration value="Improving Work Habits (Spanish)"/>
          <xsd:enumeration value="Improving Work Habits-Admin"/>
          <xsd:enumeration value="Improving Work Habits-Admin (French)"/>
          <xsd:enumeration value="Improving Work Habits-Admin (Italian)"/>
          <xsd:enumeration value="Improving Work Habits-Admin (Portuguese)"/>
          <xsd:enumeration value="Improving Work Habits-Admin (Spanish)"/>
          <xsd:enumeration value="Improving Work Habits-Govmnt"/>
          <xsd:enumeration value="Improving Work Habits-Health"/>
          <xsd:enumeration value="Improving Work Habits-Union"/>
          <xsd:enumeration value="Individual Assessment"/>
          <xsd:enumeration value="INDONESIAN"/>
          <xsd:enumeration value="Influencing for Organ Impct (Simp Chine)"/>
          <xsd:enumeration value="Influencing for Organizational Impact"/>
          <xsd:enumeration value="Influencing Others"/>
          <xsd:enumeration value="Influencing Others (French)"/>
          <xsd:enumeration value="Influencing Others (Spanish)"/>
          <xsd:enumeration value="Influencing Others-Admin"/>
          <xsd:enumeration value="Influencing Others-Health"/>
          <xsd:enumeration value="Influential Leadership"/>
          <xsd:enumeration value="Influential Leadership (Chinese)"/>
          <xsd:enumeration value="Influential Leadership (Deutschland)"/>
          <xsd:enumeration value="Influential Leadership (French)"/>
          <xsd:enumeration value="Influential Leadership (German)"/>
          <xsd:enumeration value="Influential Leadership (Italian)"/>
          <xsd:enumeration value="Influential Leadership (Japenese)"/>
          <xsd:enumeration value="Influential Leadership (Polish)"/>
          <xsd:enumeration value="Influential Leadership (Spanish)"/>
          <xsd:enumeration value="Initiative: Create Environment"/>
          <xsd:enumeration value="Initiative: Create Environment (French)"/>
          <xsd:enumeration value="Initiative: Create Environment (Spanish)"/>
          <xsd:enumeration value="Initiatives (Spanish)"/>
          <xsd:enumeration value="Inside Teams"/>
          <xsd:enumeration value="Interaction Skills for Success"/>
          <xsd:enumeration value="Interaction Skills for Success (French)"/>
          <xsd:enumeration value="Interaction Skills for Success (Spanish)"/>
          <xsd:enumeration value="Interaction Skills for Success WBT"/>
          <xsd:enumeration value="Internal Partnerships"/>
          <xsd:enumeration value="Internal Partnerships (French)"/>
          <xsd:enumeration value="Internal Partnerships (Spanish)"/>
          <xsd:enumeration value="Interpersonal Skills"/>
          <xsd:enumeration value="Investing in Your Learning"/>
          <xsd:enumeration value="Investing in Your Learning WBT"/>
          <xsd:enumeration value="ITALIAN"/>
          <xsd:enumeration value="JAPANESE"/>
          <xsd:enumeration value="Joe Mode's Notebook"/>
          <xsd:enumeration value="Joe Mode's Notebook (Spanish)"/>
          <xsd:enumeration value="Keeping Talent"/>
          <xsd:enumeration value="Key Principle Quest"/>
          <xsd:enumeration value="Key Principles"/>
          <xsd:enumeration value="Key Principles (French)"/>
          <xsd:enumeration value="Key Principles (Spanish)"/>
          <xsd:enumeration value="Keys &amp; Steps to Service"/>
          <xsd:enumeration value="Keys to Meeting Leadership"/>
          <xsd:enumeration value="Keys to Meeting Leadership-Admin"/>
          <xsd:enumeration value="Keys to Service"/>
          <xsd:enumeration value="Keys to Service (French)"/>
          <xsd:enumeration value="Keys to Service (Spanish)"/>
          <xsd:enumeration value="Keys to Service-Health"/>
          <xsd:enumeration value="KOREAN"/>
          <xsd:enumeration value="KP Quest (French)"/>
          <xsd:enumeration value="Landing the Candidate You Want"/>
          <xsd:enumeration value="Launching a Successful Team"/>
          <xsd:enumeration value="Launching a Successful Team (Deutschlan)"/>
          <xsd:enumeration value="Launching a Successful Team (French)"/>
          <xsd:enumeration value="Launching a Successful Team (Japanese)"/>
          <xsd:enumeration value="Launching a Successful Team (Spanish)"/>
          <xsd:enumeration value="Leadership"/>
          <xsd:enumeration value="Leadership &amp; Influence"/>
          <xsd:enumeration value="Leadership &amp; Influence (Spanish)"/>
          <xsd:enumeration value="Leadership (French)"/>
          <xsd:enumeration value="Leadership (Spanish)"/>
          <xsd:enumeration value="Leadership Trapeze"/>
          <xsd:enumeration value="Leadership: Facilitating Change"/>
          <xsd:enumeration value="Leadership: Inspiring Commitment"/>
          <xsd:enumeration value="Leading Change"/>
          <xsd:enumeration value="Leading Change (Czech)"/>
          <xsd:enumeration value="Leading Change (Dutch)"/>
          <xsd:enumeration value="Leading Change (French)"/>
          <xsd:enumeration value="Leading Change (German)"/>
          <xsd:enumeration value="Leading Change (Greek)"/>
          <xsd:enumeration value="Leading Change (Informal Hungarian)"/>
          <xsd:enumeration value="Leading Change (Italian)"/>
          <xsd:enumeration value="Leading Change (Japanese)"/>
          <xsd:enumeration value="Leading Change (Netherlands/Dutch)"/>
          <xsd:enumeration value="Leading Change (Polish)"/>
          <xsd:enumeration value="Leading Change (Portuguese)"/>
          <xsd:enumeration value="Leading Change (Russian)"/>
          <xsd:enumeration value="Leading Change (Spanish)"/>
          <xsd:enumeration value="Leading Change (Swedish)"/>
          <xsd:enumeration value="Leading Change (Turkish)"/>
          <xsd:enumeration value="Leading Change Virtual Classroom"/>
          <xsd:enumeration value="Leading Change WBT"/>
          <xsd:enumeration value="Leading Effective Meetings"/>
          <xsd:enumeration value="Leading Effective Meetings (Anglicized)"/>
          <xsd:enumeration value="Leading Effective Meetings (Chinese)"/>
          <xsd:enumeration value="Leading Effective Meetings (Deutschland)"/>
          <xsd:enumeration value="Leading Effective Meetings (Dutch)"/>
          <xsd:enumeration value="Leading Effective Meetings (French)"/>
          <xsd:enumeration value="Leading Effective Meetings (Japenese)"/>
          <xsd:enumeration value="Leading Effective Meetings (Portuguese)"/>
          <xsd:enumeration value="Leading Effective Meetings (Spanish)"/>
          <xsd:enumeration value="Leading Effective Meetings-Admin"/>
          <xsd:enumeration value="Leading Effective Meetings-Health"/>
          <xsd:enumeration value="Leading High Perf Teams (Swedish)"/>
          <xsd:enumeration value="Leading High Performance Teams"/>
          <xsd:enumeration value="Leading High Performance Teams (Deutschl"/>
          <xsd:enumeration value="Leading High Performance Teams (French)"/>
          <xsd:enumeration value="Leading High Performance Teams (Japanese"/>
          <xsd:enumeration value="Leading High-Perf Teams (Braz Portugues)"/>
          <xsd:enumeration value="Leading High-Perf Teams (Dutch)"/>
          <xsd:enumeration value="Leading High-Perf Teams (Informal Hunga)"/>
          <xsd:enumeration value="Leading High-Perf Teams (Nether/Dutch)"/>
          <xsd:enumeration value="Leading High-Performance Teams (Italian)"/>
          <xsd:enumeration value="Leading High-Performance Teams (Polish)"/>
          <xsd:enumeration value="Leading High-Performance Teams (Spanish)"/>
          <xsd:enumeration value="Leading High-Performance Teams (Turkish)"/>
          <xsd:enumeration value="Leading Staff Through Change"/>
          <xsd:enumeration value="Leading Successful Meetings"/>
          <xsd:enumeration value="Leading Successful Meetings (French)"/>
          <xsd:enumeration value="Leading Successful Meetings WBT"/>
          <xsd:enumeration value="Leading Teams"/>
          <xsd:enumeration value="Leading Virtual Meetings"/>
          <xsd:enumeration value="Leading Virtually"/>
          <xsd:enumeration value="Leading Virtually E-file"/>
          <xsd:enumeration value="Leading Virtually VC"/>
          <xsd:enumeration value="Leading Virtually WBT"/>
          <xsd:enumeration value="Leading with a Global Perspective"/>
          <xsd:enumeration value="Leading Your Team to Optimal Performance"/>
          <xsd:enumeration value="Learning Journey Design"/>
          <xsd:enumeration value="Maintaining Improved Perf"/>
          <xsd:enumeration value="Maintaining Improved Perf (Anglicized)"/>
          <xsd:enumeration value="Maintaining Improved Perf (French)"/>
          <xsd:enumeration value="Maintaining Improved Perf (Italian)"/>
          <xsd:enumeration value="Maintaining Improved Perf (Portuguese)"/>
          <xsd:enumeration value="Maintaining Improved Perf (Spanish)"/>
          <xsd:enumeration value="Maintaining Improved Perf-Adm (Portugues"/>
          <xsd:enumeration value="Maintaining Improved Perf-Admin"/>
          <xsd:enumeration value="Maintaining Improved Perf-Admin (French)"/>
          <xsd:enumeration value="Maintaining Improved Perf-Admin (Spanish"/>
          <xsd:enumeration value="Maintaining Improved Perf-Govmnt"/>
          <xsd:enumeration value="Maintaining Improved Perf-Health"/>
          <xsd:enumeration value="Making Change Happen"/>
          <xsd:enumeration value="Making Change Happen (French C)"/>
          <xsd:enumeration value="Making Change Happen (Simp Chinese)"/>
          <xsd:enumeration value="Making Effective Decisions"/>
          <xsd:enumeration value="Making Effective Decisions (French)"/>
          <xsd:enumeration value="Making Effective Decisions (German)"/>
          <xsd:enumeration value="Making Effective Decisions (Italian)"/>
          <xsd:enumeration value="Making Effective Decisions (Japanese)"/>
          <xsd:enumeration value="Making Effective Decisions (Portuguese)"/>
          <xsd:enumeration value="Making Effective Decisions (Russian)"/>
          <xsd:enumeration value="Making Effective Decisions (Spanish)"/>
          <xsd:enumeration value="Making Effective Decisions WBT"/>
          <xsd:enumeration value="Making High-Qty Dec"/>
          <xsd:enumeration value="Making High-Qty DeC (Fr Canadian)"/>
          <xsd:enumeration value="Making High-Qty Dec (German)"/>
          <xsd:enumeration value="Making High-Qty Dec (Ltn Amr Spanish)"/>
          <xsd:enumeration value="Making High-Qty Dec (Thai)"/>
          <xsd:enumeration value="Making High-Quality Decisions"/>
          <xsd:enumeration value="Making High-Quality Decisions E-FILE"/>
          <xsd:enumeration value="Making High-Quality Decisions VC"/>
          <xsd:enumeration value="Making High-Quality Decisions WBT"/>
          <xsd:enumeration value="Making Meetings Work"/>
          <xsd:enumeration value="Making Meetings Work (Fr Canad)"/>
          <xsd:enumeration value="Making Meetings Work (French)"/>
          <xsd:enumeration value="Making Meetings Work (Japanese)"/>
          <xsd:enumeration value="Making Meetings Work (Portuguese)"/>
          <xsd:enumeration value="Making Meetings Work (Spanish)"/>
          <xsd:enumeration value="Making Meetings Work E-file"/>
          <xsd:enumeration value="Making Meetings Work WBT"/>
          <xsd:enumeration value="Making Sense of Buisness"/>
          <xsd:enumeration value="Making Sense of Business"/>
          <xsd:enumeration value="Making Sense of Business (Br Port)"/>
          <xsd:enumeration value="Making Sense of Business (Chinese)"/>
          <xsd:enumeration value="Making Sense of Business (French)"/>
          <xsd:enumeration value="Making Sense of Business (Portuguese)"/>
          <xsd:enumeration value="Making Sense of Business (Spanish)"/>
          <xsd:enumeration value="Making the Difference"/>
          <xsd:enumeration value="Making the Difference (Anglicized)"/>
          <xsd:enumeration value="Making the Difference (French)"/>
          <xsd:enumeration value="Making the Difference (German)"/>
          <xsd:enumeration value="Making the Difference (Portuguese)"/>
          <xsd:enumeration value="Making the Difference (Spanish)"/>
          <xsd:enumeration value="Making the Difference-Admin"/>
          <xsd:enumeration value="Making the Difference-Health"/>
          <xsd:enumeration value="Managing Perf: Getting Business Results"/>
          <xsd:enumeration value="Managing Performance Problems"/>
          <xsd:enumeration value="Managing Performance Problems (Baha Ind)"/>
          <xsd:enumeration value="Managing Performance Problems (Bra Port)"/>
          <xsd:enumeration value="Managing Performance Problems (Dutch)"/>
          <xsd:enumeration value="Managing Performance Problems (French)"/>
          <xsd:enumeration value="Managing Performance Problems (German)"/>
          <xsd:enumeration value="Managing Performance Problems (Italian)"/>
          <xsd:enumeration value="Managing Performance Problems (Japanese)"/>
          <xsd:enumeration value="Managing Performance Problems (Neth/Dut)"/>
          <xsd:enumeration value="Managing Performance Problems (Polish)"/>
          <xsd:enumeration value="Managing Performance Problems (Portugue)"/>
          <xsd:enumeration value="Managing Performance Problems (Russian)"/>
          <xsd:enumeration value="Managing Performance Problems (Spanish)"/>
          <xsd:enumeration value="Managing Performance Problems WBT"/>
          <xsd:enumeration value="Managing Your Job"/>
          <xsd:enumeration value="Managing Your Job (Spanish)"/>
          <xsd:enumeration value="Mastering Decision Dynamics"/>
          <xsd:enumeration value="Mastering Emotional Intelligence"/>
          <xsd:enumeration value="Mastering Interaction Skills"/>
          <xsd:enumeration value="Mastering Interaction Skills (German)"/>
          <xsd:enumeration value="Mastering Interaction Skills (Polish)"/>
          <xsd:enumeration value="Materials Delivered"/>
          <xsd:enumeration value="Maximizing Performance"/>
          <xsd:enumeration value="Maximizing Performance (Anglicized)"/>
          <xsd:enumeration value="Maximizing Performance (French)"/>
          <xsd:enumeration value="Maximizing Performance (German)"/>
          <xsd:enumeration value="Maximizing Performance (Portuguese)"/>
          <xsd:enumeration value="Maximizing Performance (Spanish)"/>
          <xsd:enumeration value="Maximizing Team Performance"/>
          <xsd:enumeration value="Maximizing Team Performance E-FILE"/>
          <xsd:enumeration value="Memory Jogger"/>
          <xsd:enumeration value="Mgmnt Support: Chal of Ldrshp (Anglicize"/>
          <xsd:enumeration value="Mgmnt Support: Challenge of Leadership"/>
          <xsd:enumeration value="Mgmnt Support: Coaching"/>
          <xsd:enumeration value="Mgmnt Support: Coaching (Anglicized)"/>
          <xsd:enumeration value="Mgmnt Support: Coaching (French)"/>
          <xsd:enumeration value="Mgmnt Support: Coaching (Italian)"/>
          <xsd:enumeration value="Mgmnt Support: Coaching (Portuguese)"/>
          <xsd:enumeration value="Mgmnt Support: Coaching (Spanish)"/>
          <xsd:enumeration value="Mgmnt Support: Concepts &amp; KPs (French)"/>
          <xsd:enumeration value="Mgmnt Support: Concepts and KP's"/>
          <xsd:enumeration value="Mgmnt Support: Early Intv Coaching"/>
          <xsd:enumeration value="Mgmnt Support: Reinforcing"/>
          <xsd:enumeration value="Mgmnt Support: Reinforcing (Anglicized)"/>
          <xsd:enumeration value="Mgmnt Support: Reinforcing (French)"/>
          <xsd:enumeration value="Mgmnt Support: Reinforcing (Italian)"/>
          <xsd:enumeration value="Mgmnt Support: Reinforcing (Portuguese)"/>
          <xsd:enumeration value="Mgmnt Support: Reinforcing (Spanish)"/>
          <xsd:enumeration value="Mindmarkers"/>
          <xsd:enumeration value="Misc Materials IM (French)"/>
          <xsd:enumeration value="Misc Materials IM (Spanish)"/>
          <xsd:enumeration value="Misc Materials Interaction Management"/>
          <xsd:enumeration value="Misc Materials Service Plus (Portuguese)"/>
          <xsd:enumeration value="Misc Materials Service Plus (Spanish)"/>
          <xsd:enumeration value="Misc Materials Targeted Management"/>
          <xsd:enumeration value="Miscellaneous"/>
          <xsd:enumeration value="Miscellaneous (Anglicized)"/>
          <xsd:enumeration value="Miscellaneous (Brazilian Portuguese)"/>
          <xsd:enumeration value="Miscellaneous (Fr Canadian)"/>
          <xsd:enumeration value="Miscellaneous (German)"/>
          <xsd:enumeration value="Miscellaneous (Japanese)"/>
          <xsd:enumeration value="Miscellaneous (Latin American Spanish)"/>
          <xsd:enumeration value="Miscellaneous (S. Chinese)"/>
          <xsd:enumeration value="Miscellaneous Materials Books"/>
          <xsd:enumeration value="Miscellaneous Materials InterAction"/>
          <xsd:enumeration value="Miscellaneous Materials Intervention"/>
          <xsd:enumeration value="Miscellaneous Materials Service Plus"/>
          <xsd:enumeration value="Miscellaneous Materials Taking Action"/>
          <xsd:enumeration value="Miscellaneous Materials Team Action"/>
          <xsd:enumeration value="Miscellaneous Materials Zapp"/>
          <xsd:enumeration value="Miscellaneous Source 2 Hire"/>
          <xsd:enumeration value="Monograph"/>
          <xsd:enumeration value="Monograph (French)"/>
          <xsd:enumeration value="Motivating Others"/>
          <xsd:enumeration value="Motivating Others (Deutschland)"/>
          <xsd:enumeration value="Motivating Others (French)"/>
          <xsd:enumeration value="Motivating Others (ICELANDIC)"/>
          <xsd:enumeration value="Motivating Others (Italian)"/>
          <xsd:enumeration value="Motivating Others (Japanese)"/>
          <xsd:enumeration value="Motivating Others (Polish)"/>
          <xsd:enumeration value="Motivating Others (Russian)"/>
          <xsd:enumeration value="Motivating Others (Spanish)"/>
          <xsd:enumeration value="Motivating Others E-file"/>
          <xsd:enumeration value="Motivating Others Virtual Classroom"/>
          <xsd:enumeration value="Motivational Fit Software"/>
          <xsd:enumeration value="Navigating Beyond Conflict"/>
          <xsd:enumeration value="Navigating Beyond Conflict (German)"/>
          <xsd:enumeration value="Navigating Beyond Conflict (Netherlands)"/>
          <xsd:enumeration value="Navigating Beyond Conflict (S. Chinese)"/>
          <xsd:enumeration value="Navigating Beyond Conflict E-file"/>
          <xsd:enumeration value="Need Analysis"/>
          <xsd:enumeration value="Negotiating Across Cultures"/>
          <xsd:enumeration value="NETHERLANDS/DUTCH"/>
          <xsd:enumeration value="Networking for Enhanced Coll (Fr Canadia"/>
          <xsd:enumeration value="Networking for Enhanced Collabora E-file"/>
          <xsd:enumeration value="Networking for Enhanced Collaboration"/>
          <xsd:enumeration value="New Service Plus"/>
          <xsd:enumeration value="New Service Plus (French)"/>
          <xsd:enumeration value="New Service Plus-Misc (French)"/>
          <xsd:enumeration value="Next Steps"/>
          <xsd:enumeration value="Non Module Specific"/>
          <xsd:enumeration value="Non Module Specific (Anglicized)"/>
          <xsd:enumeration value="Non Module Specific (French)"/>
          <xsd:enumeration value="Non Module Specific (Italian)"/>
          <xsd:enumeration value="Non Module Specific (Portuguese)"/>
          <xsd:enumeration value="Non Module Specific (Spanish)"/>
          <xsd:enumeration value="Non Module Specific WBT"/>
          <xsd:enumeration value="Non Module Specific-Admin"/>
          <xsd:enumeration value="Non Module Specific-Health"/>
          <xsd:enumeration value="Non Revenue"/>
          <xsd:enumeration value="NORWEGIAN"/>
          <xsd:enumeration value="One Day Service Plus"/>
          <xsd:enumeration value="One on One"/>
          <xsd:enumeration value="One on One-Admin"/>
          <xsd:enumeration value="Operating with a Global Perspective"/>
          <xsd:enumeration value="Operating with Global Persp (Simp Chine)"/>
          <xsd:enumeration value="Operational Leader Assessment"/>
          <xsd:enumeration value="Optimizing Team Performance"/>
          <xsd:enumeration value="Optimizing Team Performance (Spanish)"/>
          <xsd:enumeration value="Orientation Conference"/>
          <xsd:enumeration value="Overcoming Resentment (French)"/>
          <xsd:enumeration value="Overcoming Resistance to Change"/>
          <xsd:enumeration value="Overcoming Resistance to Change (French)"/>
          <xsd:enumeration value="Overcoming Resistance to Chg-Cont Imp"/>
          <xsd:enumeration value="Overcoming Resistance to Chg-Health"/>
          <xsd:enumeration value="Overcoming Resistnce to Chg (Portuguese)"/>
          <xsd:enumeration value="Paper"/>
          <xsd:enumeration value="Participating in Meetings"/>
          <xsd:enumeration value="Participating in Meetings (Anglicized)"/>
          <xsd:enumeration value="Participating in Meetings (Chinese)"/>
          <xsd:enumeration value="Participating in Meetings (French)"/>
          <xsd:enumeration value="Participating in Meetings (German)"/>
          <xsd:enumeration value="Participating in Meetings (Portuguese)"/>
          <xsd:enumeration value="Participating in Meetings (Spanish)"/>
          <xsd:enumeration value="Participating in Meetings-Admin"/>
          <xsd:enumeration value="Participating in Meetings-Health"/>
          <xsd:enumeration value="Partnerships"/>
          <xsd:enumeration value="Partnerships (French)"/>
          <xsd:enumeration value="Partnerships (Spanish)"/>
          <xsd:enumeration value="Partnerships for Improvement"/>
          <xsd:enumeration value="Partnerships for Improvement (Anglicized"/>
          <xsd:enumeration value="Partnerships for Improvement (French)"/>
          <xsd:enumeration value="Partnerships for Improvement (Spanish)"/>
          <xsd:enumeration value="Passport to Service-Health"/>
          <xsd:enumeration value="Perf Plan: Reviewing Progress (French)"/>
          <xsd:enumeration value="Perf Plan: Reviewing Progress (Spanish)"/>
          <xsd:enumeration value="Perf Plan: Setting Expectations (French)"/>
          <xsd:enumeration value="Perf Plan: Setting Expectations (Spanish"/>
          <xsd:enumeration value="Perf Planning: Reviewing Progress"/>
          <xsd:enumeration value="Perf Planning: Reviewing Progress WBT"/>
          <xsd:enumeration value="Perf Planning: Setting Expectations"/>
          <xsd:enumeration value="Perf Planning: Setting Expectations WBT"/>
          <xsd:enumeration value="Perf Tracking and Feedback"/>
          <xsd:enumeration value="Perf Tracking and Feedback (French)"/>
          <xsd:enumeration value="Perf Tracking and Feedback-Admin"/>
          <xsd:enumeration value="Perf Tracking and&amp; Feedback-Adm (French)"/>
          <xsd:enumeration value="Performance Management Survey"/>
          <xsd:enumeration value="Personal Empowerment"/>
          <xsd:enumeration value="Personal Empowerment (French)"/>
          <xsd:enumeration value="Personal Empowerment (Portuguese)"/>
          <xsd:enumeration value="Personal Empowerment (Spanish)"/>
          <xsd:enumeration value="Personal Empowerment-Admin"/>
          <xsd:enumeration value="Personal Empowerment-Health"/>
          <xsd:enumeration value="Personal Empowerment: Tak Initiative"/>
          <xsd:enumeration value="Personal Empowerment: Tak Initiative WBT"/>
          <xsd:enumeration value="Personal Problems in the Workplace"/>
          <xsd:enumeration value="Planning"/>
          <xsd:enumeration value="Planning &amp; Managing Resources"/>
          <xsd:enumeration value="Planning &amp; Managing Resources (Sp Latin)"/>
          <xsd:enumeration value="Planning &amp; Organizing"/>
          <xsd:enumeration value="Planning (French)"/>
          <xsd:enumeration value="Planning (Spanish)"/>
          <xsd:enumeration value="Planning and Critical Path Method"/>
          <xsd:enumeration value="Planning and Critical Path Method (Japan"/>
          <xsd:enumeration value="POLISH"/>
          <xsd:enumeration value="PORTUGUESE"/>
          <xsd:enumeration value="Portuguese (Brazilian)"/>
          <xsd:enumeration value="Portuguese Partnerships For Improvements"/>
          <xsd:enumeration value="Portuguese Testing"/>
          <xsd:enumeration value="Premiums"/>
          <xsd:enumeration value="Preparing Others to Succeed"/>
          <xsd:enumeration value="Preparing Others to Succeed (Chinese)"/>
          <xsd:enumeration value="Preparing Others to Succeed (Deutschland"/>
          <xsd:enumeration value="Preparing Others to Succeed (French)"/>
          <xsd:enumeration value="Preparing Others to Succeed (Japenese)"/>
          <xsd:enumeration value="Preparing Others to Succeed (Portuguese)"/>
          <xsd:enumeration value="Preparing Others to Succeed (Spanish)"/>
          <xsd:enumeration value="Preparing Others to Succeed WBT"/>
          <xsd:enumeration value="Problem Analysis/Decision Making"/>
          <xsd:enumeration value="Problem Analysis/Decision Mkg (Japanese)"/>
          <xsd:enumeration value="Problem Analysis/Decision Mkg (Russian)"/>
          <xsd:enumeration value="Problem Analysis/Decision Mkg (Spanish)"/>
          <xsd:enumeration value="Problem Solving Machine"/>
          <xsd:enumeration value="Profit from Experience"/>
          <xsd:enumeration value="Project Management For Global Teams"/>
          <xsd:enumeration value="Punjabi"/>
          <xsd:enumeration value="Rapid Decision Making"/>
          <xsd:enumeration value="Rapid Decision Making (French)"/>
          <xsd:enumeration value="Rapid Decision Making (German)"/>
          <xsd:enumeration value="Rapid Decision Making (Japanese)"/>
          <xsd:enumeration value="Rapid Decision Making (Polish)"/>
          <xsd:enumeration value="Rapid Decision Making (Portuguese)"/>
          <xsd:enumeration value="Rapid Decision Making (Spanish)"/>
          <xsd:enumeration value="Reaching  Agreement"/>
          <xsd:enumeration value="Reaching  Agreement (Japanese)"/>
          <xsd:enumeration value="Reaching  Agreement (Polish)"/>
          <xsd:enumeration value="Reaching  Agreement E-file"/>
          <xsd:enumeration value="Reaching  Agreement Virtual Classroom"/>
          <xsd:enumeration value="Reaching Agreement in Teams"/>
          <xsd:enumeration value="Reaching Agreement in Teams (French)"/>
          <xsd:enumeration value="Reaching Agreement in Teams (Spanish)"/>
          <xsd:enumeration value="Reaching Agreement in Teams-Admin"/>
          <xsd:enumeration value="Reaching Agreement in Teams-Health"/>
          <xsd:enumeration value="Reaching Group Agreement"/>
          <xsd:enumeration value="Reaching Group Agreement WBT"/>
          <xsd:enumeration value="Reinforcing Effective Perf"/>
          <xsd:enumeration value="Reinforcing Effective Perf (Anglicized)"/>
          <xsd:enumeration value="Reinforcing Effective Perf (French)"/>
          <xsd:enumeration value="Reinforcing Effective Perf (Italian)"/>
          <xsd:enumeration value="Reinforcing Effective Perf (Spanish)"/>
          <xsd:enumeration value="Reinforcing Effective Perf-Cont I (Frenc"/>
          <xsd:enumeration value="Reinforcing Effective Perf-Cont Imprv"/>
          <xsd:enumeration value="Reinforcing Effective Perf-Health"/>
          <xsd:enumeration value="Reinforcing Ldrshp Dvlpmnt (Chinese Simp"/>
          <xsd:enumeration value="Reinforcing Ldrshp Dvlpmt (Lat Amr Spani"/>
          <xsd:enumeration value="Reinforcing Leadership Development"/>
          <xsd:enumeration value="Reinforcing Leadership Development (Germ"/>
          <xsd:enumeration value="Reinforcing Leadership Development VC"/>
          <xsd:enumeration value="Reinforcing Leadership Developmnt E-FILE"/>
          <xsd:enumeration value="Reinforcing Leadership Devlpmnt (Fr Cana"/>
          <xsd:enumeration value="Repro Rights ICS"/>
          <xsd:enumeration value="Repro Rights Interaction"/>
          <xsd:enumeration value="Repro Rights Interaction Management"/>
          <xsd:enumeration value="Repro Rights Intervention"/>
          <xsd:enumeration value="Repro Rights Service Plus"/>
          <xsd:enumeration value="Repro Rights Strategies"/>
          <xsd:enumeration value="Repro Rights Tactics"/>
          <xsd:enumeration value="Repro Rights Targeted Management"/>
          <xsd:enumeration value="Repro Rights Targeted Selection"/>
          <xsd:enumeration value="Repro Rights Techniques"/>
          <xsd:enumeration value="Rescuing Difficult Meetings"/>
          <xsd:enumeration value="Rescuing Difficult Meetings (Spanish)"/>
          <xsd:enumeration value="Rescuing Difficult Meetings-Admin"/>
          <xsd:enumeration value="Rescuing Difficult Meetings-Health"/>
          <xsd:enumeration value="Resolving Conflict"/>
          <xsd:enumeration value="Resolving Conflict (Chinese Simplified)"/>
          <xsd:enumeration value="Resolving Conflict (Czech)"/>
          <xsd:enumeration value="Resolving Conflict (Deutschland)"/>
          <xsd:enumeration value="Resolving Conflict (Dutch)"/>
          <xsd:enumeration value="Resolving Conflict (French)"/>
          <xsd:enumeration value="Resolving Conflict (ICELANDIC)"/>
          <xsd:enumeration value="Resolving Conflict (Italian)"/>
          <xsd:enumeration value="Resolving Conflict (Japanese)"/>
          <xsd:enumeration value="Resolving Conflict (Netherlands/Dutch)"/>
          <xsd:enumeration value="Resolving Conflict (Polish)"/>
          <xsd:enumeration value="Resolving Conflict (Portuguese)"/>
          <xsd:enumeration value="Resolving Conflict (Spanish)"/>
          <xsd:enumeration value="Resolving Conflict (Swedish)"/>
          <xsd:enumeration value="Resolving Conflict (Turkish)"/>
          <xsd:enumeration value="Resolving Conflict Vitual Classroom"/>
          <xsd:enumeration value="Resolving Conflict WBT"/>
          <xsd:enumeration value="Resolving Conflict-Admin"/>
          <xsd:enumeration value="Resolving Conflict-Cont Imprv"/>
          <xsd:enumeration value="Resolving Workplace Conflict"/>
          <xsd:enumeration value="Resolving Workplace Conflict (Fr Canadia"/>
          <xsd:enumeration value="Resolving Workplace Conflict (Fr Univers"/>
          <xsd:enumeration value="Resolving Workplace Conflict (German)"/>
          <xsd:enumeration value="Resolving Workplace Conflict (Polish)"/>
          <xsd:enumeration value="Resolving Workplace Conflict All Version"/>
          <xsd:enumeration value="Resolving Workplace Conflict E-FILE"/>
          <xsd:enumeration value="Resolving Workplace Conflict E-FILE All"/>
          <xsd:enumeration value="Resolving Workplace Conflict HC E-FILE"/>
          <xsd:enumeration value="Resolving Workplace Conflict Health care"/>
          <xsd:enumeration value="Resolving Workplace Conflict Ind E-FILE"/>
          <xsd:enumeration value="Resolving Workplace Conflict Industrial"/>
          <xsd:enumeration value="Resolving Workplace Conflict VC"/>
          <xsd:enumeration value="Resolving Workplace Conflict Web Based"/>
          <xsd:enumeration value="Resolving Wrkplc Cnflct (Chinese Simplif"/>
          <xsd:enumeration value="Resolving Wrkplce Conf (Ltn Amr Spanish)"/>
          <xsd:enumeration value="Results Based Interactions"/>
          <xsd:enumeration value="Results Based Interactions (French)"/>
          <xsd:enumeration value="Retaining Talent"/>
          <xsd:enumeration value="Retaining Talent (French)"/>
          <xsd:enumeration value="Retaining Talent (Italian)"/>
          <xsd:enumeration value="Retaining Talent (Japanese)"/>
          <xsd:enumeration value="Retaining Talent (Polish)"/>
          <xsd:enumeration value="Retaining Talent (Spanish)"/>
          <xsd:enumeration value="Retaining Talent WBT"/>
          <xsd:enumeration value="Retaining Talent: The Leader's Role"/>
          <xsd:enumeration value="Retaining Talent:Create Envirmt"/>
          <xsd:enumeration value="Retaining Talent:Create Envirmt(Deutsch)"/>
          <xsd:enumeration value="Retaining Talent:Create Envirmt(French)"/>
          <xsd:enumeration value="Retaining Talent:Create Envirmt(Portugu)"/>
          <xsd:enumeration value="Retaining Talent:Create Envirmt(Spanish)"/>
          <xsd:enumeration value="Reviewing Performance Progress"/>
          <xsd:enumeration value="Reviewing Performance Progress (Arabic)"/>
          <xsd:enumeration value="Reviewing Performance Progress (Chinese)"/>
          <xsd:enumeration value="Reviewing Performance Progress (Czech)"/>
          <xsd:enumeration value="Reviewing Performance Progress (Dutch)"/>
          <xsd:enumeration value="Reviewing Performance Progress (French)"/>
          <xsd:enumeration value="Reviewing Performance Progress (German)"/>
          <xsd:enumeration value="Reviewing Performance Progress (Netherl)"/>
          <xsd:enumeration value="Reviewing Performance Progress (Polish)"/>
          <xsd:enumeration value="Reviewing Performance Progress (Portugu)"/>
          <xsd:enumeration value="Reviewing Performance Progress (Russian)"/>
          <xsd:enumeration value="Reviewing Performance Progress (Spanish)"/>
          <xsd:enumeration value="Reviewing Performance Progress WBT"/>
          <xsd:enumeration value="Reviewing Team Performance"/>
          <xsd:enumeration value="Reviewing Team Performance (Spanish)"/>
          <xsd:enumeration value="Romania"/>
          <xsd:enumeration value="ROMANIAN"/>
          <xsd:enumeration value="RUSSIAN"/>
          <xsd:enumeration value="Russian Testing"/>
          <xsd:enumeration value="SAS General"/>
          <xsd:enumeration value="SAS General (French)"/>
          <xsd:enumeration value="SAS General (Portuguese)"/>
          <xsd:enumeration value="SAS General (Spanish)"/>
          <xsd:enumeration value="SDP"/>
          <xsd:enumeration value="Selecting Service Stars"/>
          <xsd:enumeration value="Self Directed Team Survey"/>
          <xsd:enumeration value="Self Study-Manual/Video"/>
          <xsd:enumeration value="Self-directed Teams"/>
          <xsd:enumeration value="Self-directed Teams-Health"/>
          <xsd:enumeration value="Service Challenge (French)"/>
          <xsd:enumeration value="Service Excellence"/>
          <xsd:enumeration value="Service Initiatives"/>
          <xsd:enumeration value="Service Initiatives (French)"/>
          <xsd:enumeration value="Service Initiatives-Health"/>
          <xsd:enumeration value="Service Leadership"/>
          <xsd:enumeration value="Service Leadership (French)"/>
          <xsd:enumeration value="Service Leadership (Spanish)"/>
          <xsd:enumeration value="Service Leadership-Health"/>
          <xsd:enumeration value="Service Plus (French)"/>
          <xsd:enumeration value="Service Plus CD-ROM"/>
          <xsd:enumeration value="Service Plus Health Care"/>
          <xsd:enumeration value="Service Plus Health Care (Spanish)"/>
          <xsd:enumeration value="Service Plus Non Module Specific (French"/>
          <xsd:enumeration value="Setting Goals &amp; Review Results"/>
          <xsd:enumeration value="Setting Goals &amp; Review Results All Vers"/>
          <xsd:enumeration value="Setting Goals &amp; Review Results E-FILE"/>
          <xsd:enumeration value="Setting Goals &amp; Review Results E-FILE Al"/>
          <xsd:enumeration value="Setting Goals &amp; Review Results HC"/>
          <xsd:enumeration value="Setting Goals &amp; Review Results HC E-FILE"/>
          <xsd:enumeration value="Setting Goals &amp; Review Results HC Vir Cl"/>
          <xsd:enumeration value="Setting Goals &amp; Review Results WBT"/>
          <xsd:enumeration value="Setting Goals &amp; Reviewing Results (SL)"/>
          <xsd:enumeration value="Setting Goals &amp; Rvwng Rslts (Chinese Uni"/>
          <xsd:enumeration value="Setting Goals &amp; Rvwng Rslts (German)"/>
          <xsd:enumeration value="Setting Goals and Reviewing Rslts (Thai)"/>
          <xsd:enumeration value="Setting Goals Rvwng Rslts (French Canadi"/>
          <xsd:enumeration value="Setting Goals Rvwng Rslts (French Univer"/>
          <xsd:enumeration value="Setting Perf Expct (Lat Amr Spanish)"/>
          <xsd:enumeration value="Setting Perf Expectations (Baha Indones)"/>
          <xsd:enumeration value="Setting Perf Expectations (Chinese Sim)"/>
          <xsd:enumeration value="Setting Perf Expectations (Dutch)"/>
          <xsd:enumeration value="Setting Perf Expectations (French)"/>
          <xsd:enumeration value="Setting Perf Expectations (German)"/>
          <xsd:enumeration value="Setting Perf Expectations (Greek)"/>
          <xsd:enumeration value="Setting Perf Expectations (Italian)"/>
          <xsd:enumeration value="Setting Perf Expectations (Japanese)"/>
          <xsd:enumeration value="Setting Perf Expectations (Netherlands)"/>
          <xsd:enumeration value="Setting Perf Expectations (Polish)"/>
          <xsd:enumeration value="Setting Perf Expectations (Portuguese)"/>
          <xsd:enumeration value="Setting Perf Expectations (Russian)"/>
          <xsd:enumeration value="Setting Perf Expectations (Spanish)"/>
          <xsd:enumeration value="Setting Perf Expectations WBT"/>
          <xsd:enumeration value="Setting Performance Expectations"/>
          <xsd:enumeration value="Setting Performance Expectations (Czech)"/>
          <xsd:enumeration value="Shogun"/>
          <xsd:enumeration value="Shogun (Japanese)"/>
          <xsd:enumeration value="SIMPLIFIED CHINESE"/>
          <xsd:enumeration value="Slovakia"/>
          <xsd:enumeration value="SPANISH"/>
          <xsd:enumeration value="Spanish (Latin American)"/>
          <xsd:enumeration value="Spanish Testing"/>
          <xsd:enumeration value="Speeches"/>
          <xsd:enumeration value="Start-up"/>
          <xsd:enumeration value="Start-up (Spanish)"/>
          <xsd:enumeration value="Steps to Service"/>
          <xsd:enumeration value="Steps to Service (French)"/>
          <xsd:enumeration value="Steps to Service (Spanish)"/>
          <xsd:enumeration value="Steps to Service-Health"/>
          <xsd:enumeration value="Strategic Leadership"/>
          <xsd:enumeration value="Strategies for Influencing Others"/>
          <xsd:enumeration value="Strategies for Influencing Others E-FILE"/>
          <xsd:enumeration value="Strategies for Influencing Others Vir Cl"/>
          <xsd:enumeration value="Strategies Leader Assessment"/>
          <xsd:enumeration value="Strategy Realization"/>
          <xsd:enumeration value="Strengthening Your Partnerships"/>
          <xsd:enumeration value="Strengthening Your Partnerships E-FILE"/>
          <xsd:enumeration value="Substance Abuse Awareness"/>
          <xsd:enumeration value="Substance Abuse in the Workplace"/>
          <xsd:enumeration value="Supporting Leadership Dev (ENGLISH)"/>
          <xsd:enumeration value="Supporting Leadership Dev (ICELANDIC)"/>
          <xsd:enumeration value="Supporting Leadership Devel (Baha Indo)"/>
          <xsd:enumeration value="Supporting Leadership Devel (Chinese)"/>
          <xsd:enumeration value="Supporting Leadership Devel (Dutch)"/>
          <xsd:enumeration value="Supporting Leadership Devel (French)"/>
          <xsd:enumeration value="Supporting Leadership Devel (German)"/>
          <xsd:enumeration value="Supporting Leadership Devel (Hebrew)"/>
          <xsd:enumeration value="Supporting Leadership Devel (Italian)"/>
          <xsd:enumeration value="Supporting Leadership Devel (Japanese)"/>
          <xsd:enumeration value="Supporting Leadership Devel (Korean)"/>
          <xsd:enumeration value="Supporting Leadership Devel (Netherland)"/>
          <xsd:enumeration value="Supporting Leadership Devel (Polish)"/>
          <xsd:enumeration value="Supporting Leadership Devel (Portuguese)"/>
          <xsd:enumeration value="Supporting Leadership Devel (Spanish)"/>
          <xsd:enumeration value="Supporting Leadership Development Virtua"/>
          <xsd:enumeration value="Supporting Leadership Dvlp (Norwegian)"/>
          <xsd:enumeration value="Supporting OLD Interaction"/>
          <xsd:enumeration value="Supporting Others"/>
          <xsd:enumeration value="Supporting Others (Anglicized)"/>
          <xsd:enumeration value="Supporting Others (Spanish)"/>
          <xsd:enumeration value="Supporting Others-Admin"/>
          <xsd:enumeration value="Supporting Others-Health"/>
          <xsd:enumeration value="Supporting Self Study"/>
          <xsd:enumeration value="SWEDISH"/>
          <xsd:enumeration value="Synchrony"/>
          <xsd:enumeration value="Synchrony (French)"/>
          <xsd:enumeration value="SynergEASE"/>
          <xsd:enumeration value="Tailored to Fit Interaction Management"/>
          <xsd:enumeration value="Tailored to Fit SAS General"/>
          <xsd:enumeration value="Tailored to Fit Targeted Management"/>
          <xsd:enumeration value="Tailored to Fit Targeted Selection"/>
          <xsd:enumeration value="Tailored to Fit Techniques"/>
          <xsd:enumeration value="Taking Act to Solve Prob-Admin/Health"/>
          <xsd:enumeration value="Taking Action to Solve Problems"/>
          <xsd:enumeration value="Taking Action to Solve Problems (French)"/>
          <xsd:enumeration value="Taking Action to Solve Problems (Spanish"/>
          <xsd:enumeration value="Taking Charge of Your Development"/>
          <xsd:enumeration value="Taking Charge of Your Development WBT"/>
          <xsd:enumeration value="Taking Charge of Your Developmt (French)"/>
          <xsd:enumeration value="Taking Corrective Action"/>
          <xsd:enumeration value="Taking Corrective Action (French)"/>
          <xsd:enumeration value="Taking the HEAT"/>
          <xsd:enumeration value="Taking the HEAT (French Canadian)"/>
          <xsd:enumeration value="Taking the HEAT (Portuguese Brazilian)"/>
          <xsd:enumeration value="Taking the HEAT (Spanish Latin American)"/>
          <xsd:enumeration value="Taking the HEAT E-file"/>
          <xsd:enumeration value="Taking the HEAT WBT"/>
          <xsd:enumeration value="Targeted Selection"/>
          <xsd:enumeration value="Targeted Selection (Chinese)"/>
          <xsd:enumeration value="Targeted Selection (Dutch)"/>
          <xsd:enumeration value="Targeted Selection (French)"/>
          <xsd:enumeration value="Targeted Selection (German)"/>
          <xsd:enumeration value="Targeted Selection (Italian)"/>
          <xsd:enumeration value="Targeted Selection (Japanese)"/>
          <xsd:enumeration value="Targeted Selection (Korean)"/>
          <xsd:enumeration value="Targeted Selection (Mandarin)"/>
          <xsd:enumeration value="Targeted Selection (Polish)"/>
          <xsd:enumeration value="Targeted Selection (Portuguese)"/>
          <xsd:enumeration value="Targeted Selection (Russian)"/>
          <xsd:enumeration value="Targeted Selection (Spanish)"/>
          <xsd:enumeration value="Targeted Selection (Thai)"/>
          <xsd:enumeration value="Targeted Selection CD-ROM"/>
          <xsd:enumeration value="Targeted Selection OLD"/>
          <xsd:enumeration value="Targeted Selection OLD (French)"/>
          <xsd:enumeration value="Targeted Selection OLD (Spanish)"/>
          <xsd:enumeration value="Targeted Selection WBT"/>
          <xsd:enumeration value="Targeting Improvement Ideas"/>
          <xsd:enumeration value="Targeting Improvement Ideas (French)"/>
          <xsd:enumeration value="Targeting Improvement Ideas-Admin"/>
          <xsd:enumeration value="Targeting Improvement Ideas-Health"/>
          <xsd:enumeration value="Targeting Improvement Ides (Spanish)"/>
          <xsd:enumeration value="Teaching New Job"/>
          <xsd:enumeration value="Teaching New Job (French)"/>
          <xsd:enumeration value="Teaching New Job-Admin (French)"/>
          <xsd:enumeration value="Team Development Kit"/>
          <xsd:enumeration value="Team Development Kit (French)"/>
          <xsd:enumeration value="Team Development Kit (Spanish)"/>
          <xsd:enumeration value="Team Facilitator Training"/>
          <xsd:enumeration value="Team Leadership Survival Guide"/>
          <xsd:enumeration value="Team Performance Planning"/>
          <xsd:enumeration value="Team Performance Planning (Spanish)"/>
          <xsd:enumeration value="Team Performance Survey"/>
          <xsd:enumeration value="Team Start-up Kit"/>
          <xsd:enumeration value="Team Start-up Kit (French)"/>
          <xsd:enumeration value="Team Start-up Kit (Portuguese)"/>
          <xsd:enumeration value="Team Start-up Kit (Spanish)"/>
          <xsd:enumeration value="Teams"/>
          <xsd:enumeration value="Teams (French)"/>
          <xsd:enumeration value="Teams (Spanish)"/>
          <xsd:enumeration value="Techniques Needs Analysis (French)"/>
          <xsd:enumeration value="Techniques Needs Analysis (Spanish)"/>
          <xsd:enumeration value="Terminating Employees"/>
          <xsd:enumeration value="Terminating Employees-Admin"/>
          <xsd:enumeration value="The Empowering Leader"/>
          <xsd:enumeration value="The Empowering Leader (Anglicized)"/>
          <xsd:enumeration value="The Empowering Leader (French)"/>
          <xsd:enumeration value="The Empowering Leader (Spanish)"/>
          <xsd:enumeration value="The Service Challenge"/>
          <xsd:enumeration value="The Service Challenge (Spanish)"/>
          <xsd:enumeration value="The Service Challenge-Health"/>
          <xsd:enumeration value="Thunderbolt Thinking"/>
          <xsd:enumeration value="Thunderbolt Thinking (French)"/>
          <xsd:enumeration value="Thunderbolt Thinking (Spanish)"/>
          <xsd:enumeration value="TQM Study"/>
          <xsd:enumeration value="Training Evaluation"/>
          <xsd:enumeration value="Training Job Skills"/>
          <xsd:enumeration value="Training Others"/>
          <xsd:enumeration value="Training Others (French)"/>
          <xsd:enumeration value="Training Others (Spanish)"/>
          <xsd:enumeration value="Training Others-Admin"/>
          <xsd:enumeration value="Training Others-Health"/>
          <xsd:enumeration value="Translating Strategy into Res (Simp Chi)"/>
          <xsd:enumeration value="Translating Strategy into Res (Spanish)"/>
          <xsd:enumeration value="Translating Strategy into Results"/>
          <xsd:enumeration value="Translating Strategy into Results (Fr)"/>
          <xsd:enumeration value="Trust"/>
          <xsd:enumeration value="Trust (French)"/>
          <xsd:enumeration value="Trust (Japenese)"/>
          <xsd:enumeration value="Trust (Portuguese)"/>
          <xsd:enumeration value="Trust (Spanish)"/>
          <xsd:enumeration value="Trust WBT"/>
          <xsd:enumeration value="TURKISH"/>
          <xsd:enumeration value="Urdu"/>
          <xsd:enumeration value="Utilizing Eff Corrective Act-Ad (Portugu"/>
          <xsd:enumeration value="Utilizing Eff Corrective Action"/>
          <xsd:enumeration value="Utilizing Eff Corrective Action (Anglici"/>
          <xsd:enumeration value="Utilizing Eff Corrective Action (French)"/>
          <xsd:enumeration value="Utilizing Eff Corrective Action (Italian"/>
          <xsd:enumeration value="Utilizing Eff Corrective Action (Portugu"/>
          <xsd:enumeration value="Utilizing Eff Corrective Action (Spanish"/>
          <xsd:enumeration value="Utilizing Eff Corrective Action-A (Frenc"/>
          <xsd:enumeration value="Utilizing Eff Corrective Action-Adm (Ita"/>
          <xsd:enumeration value="Utilizing Eff Corrective Action-Admin"/>
          <xsd:enumeration value="Utilizing Eff Corrective Action-Govmnt"/>
          <xsd:enumeration value="Utilizing Eff Corrective Action-Health"/>
          <xsd:enumeration value="Utilizing Eff Corrective Action-Union"/>
          <xsd:enumeration value="Utilizing Eff Follow-Up (Portuguese)"/>
          <xsd:enumeration value="Utilizing Eff Follow-Up (Spanish)"/>
          <xsd:enumeration value="Utilizing Eff Follow-Up-Adm (French)"/>
          <xsd:enumeration value="Utilizing Eff Follow-Up-Admin (Portugues"/>
          <xsd:enumeration value="Utilizing Eff Follow-Up-Admin (Spanish)"/>
          <xsd:enumeration value="Utilizing Effective Disciplinary Action"/>
          <xsd:enumeration value="Utilizing Effective Disciplinary-Admin"/>
          <xsd:enumeration value="Utilizing Effective Follow-Up"/>
          <xsd:enumeration value="Utilizing Effective Follow-Up (Anglicize"/>
          <xsd:enumeration value="Utilizing Effective Follow-Up (French)"/>
          <xsd:enumeration value="Utilizing Effective Follow-Up (Italian)"/>
          <xsd:enumeration value="Utilizing Effective Follow-Up-Admin"/>
          <xsd:enumeration value="Utilizing Effective Follow-Up-Admin (Ita"/>
          <xsd:enumeration value="Utilizing Effective Follow-Up-Govmnt"/>
          <xsd:enumeration value="Utilizing Effective Follow-Up-Health"/>
          <xsd:enumeration value="Utilizing Effective Follow-Up-Union"/>
          <xsd:enumeration value="Valuing Differences"/>
          <xsd:enumeration value="Valuing Differences (Anglicized)"/>
          <xsd:enumeration value="Valuing Differences (Chinese)"/>
          <xsd:enumeration value="Valuing Differences (French Canadian)"/>
          <xsd:enumeration value="Valuing Differences (French)"/>
          <xsd:enumeration value="Valuing Differences (Italian)"/>
          <xsd:enumeration value="Valuing Differences (Japanese)"/>
          <xsd:enumeration value="Valuing Differences (Japenese)"/>
          <xsd:enumeration value="Valuing Differences (Spanish)"/>
          <xsd:enumeration value="Valuing Differences (Traditional Chinese"/>
          <xsd:enumeration value="Valuing Differences E-file"/>
          <xsd:enumeration value="Valuing Differences WBT"/>
          <xsd:enumeration value="Valuing Differences-Admin"/>
          <xsd:enumeration value="Valuing Differences-Health"/>
          <xsd:enumeration value="Vietnamese"/>
          <xsd:enumeration value="Winning Through OLD Interaction"/>
          <xsd:enumeration value="Winning Through OLD Interaction-Admin"/>
          <xsd:enumeration value="Work and the Human Spirit"/>
          <xsd:enumeration value="Working as a High-Perf Team (Fr Canadian"/>
          <xsd:enumeration value="Working as a High-Perf Team (German)"/>
          <xsd:enumeration value="Working as a High-Perf Team (Netherlands"/>
          <xsd:enumeration value="Working as a High-Perf Team (Polish)"/>
          <xsd:enumeration value="Working as a High-Perf Team (S. Chinese)"/>
          <xsd:enumeration value="Working as a High-Perf Tm (Trad Chinese)"/>
          <xsd:enumeration value="Working as a High-Performing Team"/>
          <xsd:enumeration value="Working as a High-Performing Team E-file"/>
          <xsd:enumeration value="Working As A Team"/>
          <xsd:enumeration value="Working As A Team (Russian)"/>
          <xsd:enumeration value="Working As A Team (Spanish)"/>
          <xsd:enumeration value="Working As a Team WBT"/>
          <xsd:enumeration value="Working in Teams"/>
          <xsd:enumeration value="Working in Teams (Anglicized)"/>
          <xsd:enumeration value="Working in Teams (French)"/>
          <xsd:enumeration value="Working in Teams (German)"/>
          <xsd:enumeration value="Working in Teams (Portuguese)"/>
          <xsd:enumeration value="Working in Teams (Spanish)"/>
          <xsd:enumeration value="Working in Teams-Admin"/>
          <xsd:enumeration value="Working in Teams-Health"/>
          <xsd:enumeration value="Working Through Conflict"/>
          <xsd:enumeration value="Working Through Conflict (CHINESE SIMPL)"/>
          <xsd:enumeration value="Working Through Conflict (French)"/>
          <xsd:enumeration value="Working Through Conflict (German)"/>
          <xsd:enumeration value="Working Through Conflict (Portuguese)"/>
          <xsd:enumeration value="Working Through Conflict (Spanish)"/>
          <xsd:enumeration value="Working Through Conflict WBT"/>
          <xsd:enumeration value="Workshops Change Management"/>
          <xsd:enumeration value="Workshops Change Works"/>
          <xsd:enumeration value="Workshops CSG"/>
          <xsd:enumeration value="Workshops High Involvment"/>
          <xsd:enumeration value="Workshops ICS"/>
          <xsd:enumeration value="Workshops IM Plus"/>
          <xsd:enumeration value="Workshops IM: Tactics (Spanish)"/>
          <xsd:enumeration value="Workshops Interaction Management"/>
          <xsd:enumeration value="Workshops Interaction Mgmnt (French)"/>
          <xsd:enumeration value="Workshops Intervention"/>
          <xsd:enumeration value="Workshops Maximizing Performance"/>
          <xsd:enumeration value="Workshops OLD Interaction"/>
          <xsd:enumeration value="Workshops Resources Management"/>
          <xsd:enumeration value="Workshops Selecting Service Stars"/>
          <xsd:enumeration value="Workshops Service Plus"/>
          <xsd:enumeration value="Workshops Strategies"/>
          <xsd:enumeration value="Workshops Tactics"/>
          <xsd:enumeration value="Workshops Targeted Management"/>
          <xsd:enumeration value="Workshops Targeted Selection"/>
          <xsd:enumeration value="Workshops Targeted Selection (French)"/>
          <xsd:enumeration value="Workshops Techniques"/>
          <xsd:enumeration value="Workshops TQ Plus"/>
          <xsd:enumeration value="Workshops WDS"/>
          <xsd:enumeration value="Workshops Zapp"/>
          <xsd:enumeration value="Your First Leadership Job"/>
          <xsd:enumeration value="Your Leadership Journey"/>
          <xsd:enumeration value="Your Leadership Journey (French Canadian"/>
          <xsd:enumeration value="Your Leadership Journey (Thai)"/>
          <xsd:enumeration value="Your Leadership Journey E-FILE"/>
          <xsd:enumeration value="Your Leadership Journey VC"/>
          <xsd:enumeration value="Your Leadership Journey WBT"/>
          <xsd:enumeration value="Your Role in Handling Conflict"/>
          <xsd:enumeration value="Zapp"/>
          <xsd:enumeration value="Zapp (French)"/>
          <xsd:enumeration value="Zapp (German)"/>
          <xsd:enumeration value="Zapp (Japanese)"/>
          <xsd:enumeration value="Zapp Speeches"/>
          <xsd:enumeration value="Zapp Videos"/>
          <xsd:enumeration value="Zapp Videos (Spanish)"/>
        </xsd:restriction>
      </xsd:simpleType>
    </xsd:element>
    <xsd:element name="Department" ma:index="5" nillable="true" ma:displayName="Department" ma:description="Select the department that owns this document." ma:format="Dropdown" ma:internalName="Department">
      <xsd:simpleType>
        <xsd:restriction base="dms:Choice">
          <xsd:enumeration value=""/>
          <xsd:enumeration value="Accelerated Development Solutions"/>
          <xsd:enumeration value="Accounting"/>
          <xsd:enumeration value="Australia Consulting"/>
          <xsd:enumeration value="Australia G &amp; A"/>
          <xsd:enumeration value="Australia Marketing"/>
          <xsd:enumeration value="Australia Sales"/>
          <xsd:enumeration value="Beijing Consulting"/>
          <xsd:enumeration value="Beijing Finance"/>
          <xsd:enumeration value="Beijing G &amp; A"/>
          <xsd:enumeration value="Beijing Human Resources"/>
          <xsd:enumeration value="Beijing Marketing"/>
          <xsd:enumeration value="Beijing Sales"/>
          <xsd:enumeration value="Brazil Consulting"/>
          <xsd:enumeration value="Brazil G &amp; A"/>
          <xsd:enumeration value="Brazil Marketing"/>
          <xsd:enumeration value="Brazil Sales"/>
          <xsd:enumeration value="Business Development Group"/>
          <xsd:enumeration value="Canada Consulting Services"/>
          <xsd:enumeration value="Canada G&amp;A"/>
          <xsd:enumeration value="Canada Marketing"/>
          <xsd:enumeration value="Canada Sales"/>
          <xsd:enumeration value="Client Service"/>
          <xsd:enumeration value="Consulting Services - Atlanta"/>
          <xsd:enumeration value="Consulting Services - Detroit"/>
          <xsd:enumeration value="Consulting Services - Dublin"/>
          <xsd:enumeration value="Consulting Services - Northeast"/>
          <xsd:enumeration value="Consulting Services - Pittsburgh"/>
          <xsd:enumeration value="Consulting Services Management &amp; Staff"/>
          <xsd:enumeration value="Corporate Services"/>
          <xsd:enumeration value="Customer Service Operations Team"/>
          <xsd:enumeration value="CustomWorks"/>
          <xsd:enumeration value="Editorial"/>
          <xsd:enumeration value="Facilities Services"/>
          <xsd:enumeration value="Finance"/>
          <xsd:enumeration value="Finance OPS"/>
          <xsd:enumeration value="FlexSolutions Contractors"/>
          <xsd:enumeration value="FlexSolutions Management &amp; Staff"/>
          <xsd:enumeration value="France Consulting"/>
          <xsd:enumeration value="France Finance"/>
          <xsd:enumeration value="France G &amp; A"/>
          <xsd:enumeration value="France Marketing"/>
          <xsd:enumeration value="France Sales"/>
          <xsd:enumeration value="Germany Consulting"/>
          <xsd:enumeration value="Germany Finance"/>
          <xsd:enumeration value="Germany G &amp; A"/>
          <xsd:enumeration value="Germany Marketing"/>
          <xsd:enumeration value="Germany Sales"/>
          <xsd:enumeration value="Global Assessment Operations"/>
          <xsd:enumeration value="Global Services Group"/>
          <xsd:enumeration value="Global Technology Group"/>
          <xsd:enumeration value="Graphics"/>
          <xsd:enumeration value="Hong Kong Consulting"/>
          <xsd:enumeration value="Hong Kong Finance"/>
          <xsd:enumeration value="Hong Kong G &amp; A"/>
          <xsd:enumeration value="Hong Kong Marketing"/>
          <xsd:enumeration value="Hong Kong Sales"/>
          <xsd:enumeration value="Human Resources"/>
          <xsd:enumeration value="India Consulting"/>
          <xsd:enumeration value="India G&amp;A"/>
          <xsd:enumeration value="India Marketing"/>
          <xsd:enumeration value="India Sales"/>
          <xsd:enumeration value="Japan Consulting"/>
          <xsd:enumeration value="Knowledge Management Group (KMG)"/>
          <xsd:enumeration value="Korea Consulting"/>
          <xsd:enumeration value="Korea G &amp; A"/>
          <xsd:enumeration value="Korea Marketing"/>
          <xsd:enumeration value="Korea Sales"/>
          <xsd:enumeration value="Legal"/>
          <xsd:enumeration value="Malaysia Consulting"/>
          <xsd:enumeration value="Malaysia G &amp; A"/>
          <xsd:enumeration value="Malaysia Management Office"/>
          <xsd:enumeration value="Malaysia Marketing"/>
          <xsd:enumeration value="Malaysia Sales"/>
          <xsd:enumeration value="Marketing"/>
          <xsd:enumeration value="Mexico Consulting"/>
          <xsd:enumeration value="Mexico G &amp; A"/>
          <xsd:enumeration value="Mexico Marketing"/>
          <xsd:enumeration value="Mexico Sales"/>
          <xsd:enumeration value="OpCom &amp; Staff"/>
          <xsd:enumeration value="Oracle"/>
          <xsd:enumeration value="PDM Services"/>
          <xsd:enumeration value="Philippines Accounting &amp; Finance"/>
          <xsd:enumeration value="Philippines Business Development"/>
          <xsd:enumeration value="Philippines Client Services"/>
          <xsd:enumeration value="Philippines Consulting"/>
          <xsd:enumeration value="Philippines Corporate Services"/>
          <xsd:enumeration value="Philippines G &amp; A"/>
          <xsd:enumeration value="Philippines Sales"/>
          <xsd:enumeration value="Poland Consulting"/>
          <xsd:enumeration value="Poland G &amp; A"/>
          <xsd:enumeration value="Poland Marketing"/>
          <xsd:enumeration value="Poland Sales"/>
          <xsd:enumeration value="Proposal Team"/>
          <xsd:enumeration value="Prototype Delivery Team"/>
          <xsd:enumeration value="Research/CABER"/>
          <xsd:enumeration value="Russia Consulting"/>
          <xsd:enumeration value="Russia G&amp;A"/>
          <xsd:enumeration value="Russia Marketing"/>
          <xsd:enumeration value="Russia Sales"/>
          <xsd:enumeration value="Sales - Acquisition"/>
          <xsd:enumeration value="Sales - Education Channel"/>
          <xsd:enumeration value="Sales - Global Strategic Partnerships"/>
          <xsd:enumeration value="Sales - Health Care"/>
          <xsd:enumeration value="Sales - Northern Region"/>
          <xsd:enumeration value="Sales - South-Central"/>
          <xsd:enumeration value="Sales - Strategic"/>
          <xsd:enumeration value="Sales - US Direct"/>
          <xsd:enumeration value="Sales - West"/>
          <xsd:enumeration value="Sales Management &amp; Staff"/>
          <xsd:enumeration value="Shanghai Consulting"/>
          <xsd:enumeration value="Shanghai Finance"/>
          <xsd:enumeration value="Shanghai G &amp; A"/>
          <xsd:enumeration value="Shanghai Human Resources"/>
          <xsd:enumeration value="Shanghai Management Office"/>
          <xsd:enumeration value="Shanghai Marketing"/>
          <xsd:enumeration value="Shanghai Sales"/>
          <xsd:enumeration value="Shenzhen Consulting"/>
          <xsd:enumeration value="Shenzhen G&amp;A"/>
          <xsd:enumeration value="Shenzhen Marketing"/>
          <xsd:enumeration value="Shenzhen Sales"/>
          <xsd:enumeration value="Singapore Consulting"/>
          <xsd:enumeration value="Singapore Finance"/>
          <xsd:enumeration value="Singapore G &amp; A"/>
          <xsd:enumeration value="Singapore Human Resources"/>
          <xsd:enumeration value="Singapore IT"/>
          <xsd:enumeration value="Singapore Management Office"/>
          <xsd:enumeration value="Singapore Marketing"/>
          <xsd:enumeration value="Singapore Sales"/>
          <xsd:enumeration value="Taiwan Consulting"/>
          <xsd:enumeration value="Taiwan Finance"/>
          <xsd:enumeration value="Taiwan G &amp; A"/>
          <xsd:enumeration value="Taiwan HR"/>
          <xsd:enumeration value="Taiwan Management Office"/>
          <xsd:enumeration value="Taiwan Marketing"/>
          <xsd:enumeration value="Taiwan Operations"/>
          <xsd:enumeration value="Taiwan Sales"/>
          <xsd:enumeration value="Talent Diagnostic Solutions"/>
          <xsd:enumeration value="Testing and Assessment Design"/>
          <xsd:enumeration value="Testing Services Group (TSG)"/>
          <xsd:enumeration value="Thailand Consulting"/>
          <xsd:enumeration value="Thailand Finance"/>
          <xsd:enumeration value="Thailand G &amp; A"/>
          <xsd:enumeration value="Thailand Management Office"/>
          <xsd:enumeration value="Thailand Marketing"/>
          <xsd:enumeration value="Thailand Sales"/>
          <xsd:enumeration value="Treasury"/>
          <xsd:enumeration value="UK Consulting"/>
          <xsd:enumeration value="UK Finance"/>
          <xsd:enumeration value="UK G &amp; A"/>
          <xsd:enumeration value="UK Marketing"/>
          <xsd:enumeration value="UK Sales"/>
          <xsd:enumeration value="Video Productions"/>
        </xsd:restriction>
      </xsd:simpleType>
    </xsd:element>
    <xsd:element name="Details" ma:index="6" nillable="true" ma:displayName="Details" ma:description="Explain the purpose, application and intended audience of this document." ma:internalName="Details">
      <xsd:simpleType>
        <xsd:restriction base="dms:Note">
          <xsd:maxLength value="255"/>
        </xsd:restriction>
      </xsd:simpleType>
    </xsd:element>
    <xsd:element name="Division" ma:index="7" nillable="true" ma:displayName="Division" ma:description="Division is a subset of the Family field." ma:format="Dropdown" ma:internalName="Division">
      <xsd:simpleType>
        <xsd:restriction base="dms:Choice">
          <xsd:enumeration value=""/>
          <xsd:enumeration value="ABC Home Builders"/>
          <xsd:enumeration value="Abercrombie And Fitch Company"/>
          <xsd:enumeration value="Abrazo Health Care"/>
          <xsd:enumeration value="AC Humko"/>
          <xsd:enumeration value="ACCO World"/>
          <xsd:enumeration value="Accuride"/>
          <xsd:enumeration value="ACDC Electronics"/>
          <xsd:enumeration value="Acuity Lighting Group"/>
          <xsd:enumeration value="Acuity Specialty Products Group"/>
          <xsd:enumeration value="Acushnet"/>
          <xsd:enumeration value="AD Tracking"/>
          <xsd:enumeration value="Adam Opel AG"/>
          <xsd:enumeration value="Adams"/>
          <xsd:enumeration value="Adams-Millis Corporation"/>
          <xsd:enumeration value="Adelphia Business Solutions"/>
          <xsd:enumeration value="Adelphia Cable"/>
          <xsd:enumeration value="ADT"/>
          <xsd:enumeration value="Advance Cardiovascular Syst"/>
          <xsd:enumeration value="Advanced Coating"/>
          <xsd:enumeration value="Adventist Health"/>
          <xsd:enumeration value="Adventist Health System"/>
          <xsd:enumeration value="Adventist Healthcare"/>
          <xsd:enumeration value="AEGON USA Inc"/>
          <xsd:enumeration value="Aerojet"/>
          <xsd:enumeration value="Aeronautics"/>
          <xsd:enumeration value="Aerospace"/>
          <xsd:enumeration value="Aerospace Group"/>
          <xsd:enumeration value="AFSA Data Corp"/>
          <xsd:enumeration value="AG Armstrong Development"/>
          <xsd:enumeration value="AGFA Corporation"/>
          <xsd:enumeration value="Agouron Pharmaceutical"/>
          <xsd:enumeration value="Agriculture &amp; Agri-Food Canada"/>
          <xsd:enumeration value="Ahold USA"/>
          <xsd:enumeration value="Air Canada"/>
          <xsd:enumeration value="Aisin Seiki Co"/>
          <xsd:enumeration value="Akrosil"/>
          <xsd:enumeration value="Alamo Rent-A-Car"/>
          <xsd:enumeration value="Alaska Airlines"/>
          <xsd:enumeration value="Albee Foods"/>
          <xsd:enumeration value="Albright &amp; Wilson"/>
          <xsd:enumeration value="Alcon Surgical"/>
          <xsd:enumeration value="Alegent"/>
          <xsd:enumeration value="Allegheny General Hospital"/>
          <xsd:enumeration value="Allegheny Ludlum"/>
          <xsd:enumeration value="Allen Bradley"/>
          <xsd:enumeration value="Alliant Foodservice"/>
          <xsd:enumeration value="Allied Color Industries"/>
          <xsd:enumeration value="Allsteel Inc"/>
          <xsd:enumeration value="Alox Corporation"/>
          <xsd:enumeration value="Alstom Power"/>
          <xsd:enumeration value="Amana"/>
          <xsd:enumeration value="Ambassador Cards"/>
          <xsd:enumeration value="Ambulatory Surgery Division"/>
          <xsd:enumeration value="American Bank"/>
          <xsd:enumeration value="American Beauty Macaroni Co"/>
          <xsd:enumeration value="American Brands Inc"/>
          <xsd:enumeration value="American Community Cablevis"/>
          <xsd:enumeration value="American Cyanamid"/>
          <xsd:enumeration value="American Emulsions Co Inc"/>
          <xsd:enumeration value="American General"/>
          <xsd:enumeration value="American Insulated Wire"/>
          <xsd:enumeration value="American Medical Response"/>
          <xsd:enumeration value="American Medical Systems"/>
          <xsd:enumeration value="American National Bank"/>
          <xsd:enumeration value="American Restaurants Inc"/>
          <xsd:enumeration value="American Standard"/>
          <xsd:enumeration value="American Steamship Company"/>
          <xsd:enumeration value="American Steel Foundries"/>
          <xsd:enumeration value="American TV &amp; Comm"/>
          <xsd:enumeration value="AmeriLink Corp"/>
          <xsd:enumeration value="Ameritol Synpol"/>
          <xsd:enumeration value="Anaquest"/>
          <xsd:enumeration value="Angar Scientific Co Inc"/>
          <xsd:enumeration value="Animal Health"/>
          <xsd:enumeration value="Animal Health Division"/>
          <xsd:enumeration value="Anitec Image"/>
          <xsd:enumeration value="Anthem"/>
          <xsd:enumeration value="Antioch Publishing"/>
          <xsd:enumeration value="Antique Trader"/>
          <xsd:enumeration value="APAC"/>
          <xsd:enumeration value="Apex"/>
          <xsd:enumeration value="Appleton Electric Co"/>
          <xsd:enumeration value="Arby's"/>
          <xsd:enumeration value="Arch Coal"/>
          <xsd:enumeration value="Arellano Intl Trading"/>
          <xsd:enumeration value="Argos Distributors"/>
          <xsd:enumeration value="Aris Isotoner Inc"/>
          <xsd:enumeration value="Aristokraft Inc"/>
          <xsd:enumeration value="Aritech"/>
          <xsd:enumeration value="Arizona Dept Of Health Services"/>
          <xsd:enumeration value="Arkansas Eastman"/>
          <xsd:enumeration value="Armour Swift Eckrich"/>
          <xsd:enumeration value="Armstrong Ceilings"/>
          <xsd:enumeration value="Armstrong Development"/>
          <xsd:enumeration value="Armstrong Foods"/>
          <xsd:enumeration value="Armstrong Furniture"/>
          <xsd:enumeration value="Armstrong Industries"/>
          <xsd:enumeration value="Armstrong Innovation"/>
          <xsd:enumeration value="Armstrong Telephone Company"/>
          <xsd:enumeration value="Armstrong Utilities, Inc."/>
          <xsd:enumeration value="Arnold Corporation"/>
          <xsd:enumeration value="Arrowhead Water"/>
          <xsd:enumeration value="Asco Electrical Products Co"/>
          <xsd:enumeration value="Ashland Distribution"/>
          <xsd:enumeration value="Asia Pacific Division"/>
          <xsd:enumeration value="Asset Management Group"/>
          <xsd:enumeration value="Associated Spring"/>
          <xsd:enumeration value="Assurance Des Jardins"/>
          <xsd:enumeration value="Astral Radio"/>
          <xsd:enumeration value="AT Plastics"/>
          <xsd:enumeration value="AT&amp;T Broadband &amp; Internet Services"/>
          <xsd:enumeration value="AT&amp;T Wireless Services"/>
          <xsd:enumeration value="ATC"/>
          <xsd:enumeration value="Atlantic Envelope Co"/>
          <xsd:enumeration value="Atlas Inc"/>
          <xsd:enumeration value="Autodesk International"/>
          <xsd:enumeration value="Autodesk US District"/>
          <xsd:enumeration value="Automatic Switch Co"/>
          <xsd:enumeration value="Automation and Control Solutions"/>
          <xsd:enumeration value="Automation Group"/>
          <xsd:enumeration value="Automotive Energy &amp; Controls Group"/>
          <xsd:enumeration value="Avco"/>
          <xsd:enumeration value="Avent Inc"/>
          <xsd:enumeration value="Avery Specialty"/>
          <xsd:enumeration value="Avis Group Holdings Inc"/>
          <xsd:enumeration value="B&amp;W Nuclear Energy"/>
          <xsd:enumeration value="B&amp;W Nuclear Operations"/>
          <xsd:enumeration value="B&amp;W Power Generation"/>
          <xsd:enumeration value="B&amp;W Technical Services"/>
          <xsd:enumeration value="B&amp;W Washington Operations"/>
          <xsd:enumeration value="Baker"/>
          <xsd:enumeration value="Baker Knap &amp; Tubbs"/>
          <xsd:enumeration value="Bally Entertainment Corp"/>
          <xsd:enumeration value="Baltimore Aircoil"/>
          <xsd:enumeration value="Baltimore Brush &amp; Roller"/>
          <xsd:enumeration value="Ban De Soleil"/>
          <xsd:enumeration value="Bancohio"/>
          <xsd:enumeration value="Band-It"/>
          <xsd:enumeration value="Banner Pharmacaps"/>
          <xsd:enumeration value="Baptist Health - Montgomery"/>
          <xsd:enumeration value="Bayer Canada Inc"/>
          <xsd:enumeration value="BC/BS Of South Carolina"/>
          <xsd:enumeration value="Bear Automotive"/>
          <xsd:enumeration value="Beatrice Foods"/>
          <xsd:enumeration value="Beckett Paper Co"/>
          <xsd:enumeration value="Beckman Industrial Corp"/>
          <xsd:enumeration value="Beckwith Machinery Co"/>
          <xsd:enumeration value="Beebe International"/>
          <xsd:enumeration value="Beech-Nut Nutrition Corp"/>
          <xsd:enumeration value="Belair Direct"/>
          <xsd:enumeration value="Belden Wire &amp; Cable"/>
          <xsd:enumeration value="Bell Helicopter"/>
          <xsd:enumeration value="Bell South"/>
          <xsd:enumeration value="Belmont Springs Water"/>
          <xsd:enumeration value="Belpak Joint Venture - Russ"/>
          <xsd:enumeration value="Ben &amp; Jerry's"/>
          <xsd:enumeration value="Bendix Automotive"/>
          <xsd:enumeration value="Bergners Department Store"/>
          <xsd:enumeration value="Best Software"/>
          <xsd:enumeration value="Bestfoods"/>
          <xsd:enumeration value="Bestfoods Baking"/>
          <xsd:enumeration value="BetzDearborn"/>
          <xsd:enumeration value="BF Goodrich Flight Systems"/>
          <xsd:enumeration value="BHP Copper"/>
          <xsd:enumeration value="BHP Minerals"/>
          <xsd:enumeration value="BHP Petroleum"/>
          <xsd:enumeration value="BHP Services Companies"/>
          <xsd:enumeration value="BHP Steel"/>
          <xsd:enumeration value="Big A Indianapolis"/>
          <xsd:enumeration value="Biggo-Spectramed"/>
          <xsd:enumeration value="Biggs Hyper Shoppes"/>
          <xsd:enumeration value="Bil Mar Foods Inc"/>
          <xsd:enumeration value="BI-LO Inc"/>
          <xsd:enumeration value="Bimbo Bakeries, USA"/>
          <xsd:enumeration value="Blazer Financial Services"/>
          <xsd:enumeration value="Boc Health Care"/>
          <xsd:enumeration value="Boehringer Ingelheim Pharmaceutical"/>
          <xsd:enumeration value="Boehringer Shared Services"/>
          <xsd:enumeration value="Boise Cascade - Canada"/>
          <xsd:enumeration value="Bombardier Reg Aircraft"/>
          <xsd:enumeration value="Bondex International Inc"/>
          <xsd:enumeration value="Bondo/Mar-Hyde Corp"/>
          <xsd:enumeration value="Bosch"/>
          <xsd:enumeration value="Boston Store (The)"/>
          <xsd:enumeration value="Bowman Distribution"/>
          <xsd:enumeration value="BPI Inc"/>
          <xsd:enumeration value="Brach &amp; Brock Inc"/>
          <xsd:enumeration value="Branson Ultrasonics"/>
          <xsd:enumeration value="Breyer's Ice Cream"/>
          <xsd:enumeration value="Bridge Brand"/>
          <xsd:enumeration value="Briner Paint Mfg Co Inc"/>
          <xsd:enumeration value="Broadlane"/>
          <xsd:enumeration value="Broderick &amp; Bascom Rope Co"/>
          <xsd:enumeration value="Brokerage Services"/>
          <xsd:enumeration value="Brooks Instrument"/>
          <xsd:enumeration value="Brown &amp; Root"/>
          <xsd:enumeration value="Brush Wellman"/>
          <xsd:enumeration value="Bryant Restaurants"/>
          <xsd:enumeration value="Buehler Intl Inc"/>
          <xsd:enumeration value="Buehler Ruckriegel"/>
          <xsd:enumeration value="Building Construction Products Divsion"/>
          <xsd:enumeration value="Burford Equipment Co"/>
          <xsd:enumeration value="Burgess Norton Company"/>
          <xsd:enumeration value="Burlington Northern Santa Fe, LLC"/>
          <xsd:enumeration value="Burroughs"/>
          <xsd:enumeration value="Burton Rubber"/>
          <xsd:enumeration value="Busch Agricultural Resource"/>
          <xsd:enumeration value="Bushnell"/>
          <xsd:enumeration value="Bussman Division"/>
          <xsd:enumeration value="Butterball Turkey Co"/>
          <xsd:enumeration value="BXC Products"/>
          <xsd:enumeration value="Byrons Inc"/>
          <xsd:enumeration value="Cadbury Schweppes - Canada"/>
          <xsd:enumeration value="Cadbury Schweppes - UK"/>
          <xsd:enumeration value="Cadec Systems"/>
          <xsd:enumeration value="Cadillac Plastic"/>
          <xsd:enumeration value="Calcitek Inc"/>
          <xsd:enumeration value="Calcomp"/>
          <xsd:enumeration value="Calgon Corp"/>
          <xsd:enumeration value="Caliber Logistics"/>
          <xsd:enumeration value="Caliber Technology"/>
          <xsd:enumeration value="Calvin Klein Cosmetic Co"/>
          <xsd:enumeration value="Camco"/>
          <xsd:enumeration value="Campbell Chain"/>
          <xsd:enumeration value="Canada Mortgage &amp; Housing Corp"/>
          <xsd:enumeration value="Canada Operating Co."/>
          <xsd:enumeration value="Canada Post Corporation"/>
          <xsd:enumeration value="Canada Steamship Line"/>
          <xsd:enumeration value="Canadair"/>
          <xsd:enumeration value="Canadian Heritage"/>
          <xsd:enumeration value="Canadian Pacific Forest"/>
          <xsd:enumeration value="Canadian Soc For Int'l Health"/>
          <xsd:enumeration value="Carboline Co"/>
          <xsd:enumeration value="Carbomedics Inc"/>
          <xsd:enumeration value="Carborundum Abrasives"/>
          <xsd:enumeration value="Cardiac Pacemakers"/>
          <xsd:enumeration value="Cargill Financial Services"/>
          <xsd:enumeration value="Cargill Steel &amp; Wire"/>
          <xsd:enumeration value="Caribbean Refrescos Inc"/>
          <xsd:enumeration value="Carnation Company"/>
          <xsd:enumeration value="Carolina Eastman"/>
          <xsd:enumeration value="Carolina Telephone"/>
          <xsd:enumeration value="Carondelet Health System"/>
          <xsd:enumeration value="Carrier Corporation"/>
          <xsd:enumeration value="Carson Pirie Scott &amp; Co"/>
          <xsd:enumeration value="Carter Rice"/>
          <xsd:enumeration value="Cartus Corporation"/>
          <xsd:enumeration value="Casa Di Bertacchi"/>
          <xsd:enumeration value="Cashman Equipment Co"/>
          <xsd:enumeration value="Casi-Rusco"/>
          <xsd:enumeration value="Catalyst Research Corporati"/>
          <xsd:enumeration value="Caterpillar EAME"/>
          <xsd:enumeration value="Caterpillar Inc - Canada"/>
          <xsd:enumeration value="Caterpillar Inc - UK"/>
          <xsd:enumeration value="Cathedral Healthcare System"/>
          <xsd:enumeration value="Catholic Health East"/>
          <xsd:enumeration value="Catholic Healthcare Partners"/>
          <xsd:enumeration value="CDC"/>
          <xsd:enumeration value="CE Electric UK"/>
          <xsd:enumeration value="Cellular Infrastructure Group"/>
          <xsd:enumeration value="Cenex"/>
          <xsd:enumeration value="Census Bureau"/>
          <xsd:enumeration value="Centel/Central Telephone Co"/>
          <xsd:enumeration value="Centerior Energy"/>
          <xsd:enumeration value="CenterPoint Energy Houston Electric, LLC"/>
          <xsd:enumeration value="Central Atlantic Division"/>
          <xsd:enumeration value="Central Atlantic Division-Richmond Mkt"/>
          <xsd:enumeration value="Central Coast Region"/>
          <xsd:enumeration value="Central Research Division"/>
          <xsd:enumeration value="Central-NE Division"/>
          <xsd:enumeration value="Central-NE Division-Central States &amp; MA"/>
          <xsd:enumeration value="Central-NE Division-Philadelphia Area"/>
          <xsd:enumeration value="Central-NE Division-St Louis Market"/>
          <xsd:enumeration value="Central-NE Division-Texas Region"/>
          <xsd:enumeration value="Centura Health"/>
          <xsd:enumeration value="Century 21"/>
          <xsd:enumeration value="Century Communications"/>
          <xsd:enumeration value="Chamberlain Group Inc"/>
          <xsd:enumeration value="Champion Aviation Products"/>
          <xsd:enumeration value="Champion Products"/>
          <xsd:enumeration value="Chase Bank"/>
          <xsd:enumeration value="Chase Personal Financial Sv"/>
          <xsd:enumeration value="Chase USA"/>
          <xsd:enumeration value="Checkfree"/>
          <xsd:enumeration value="Chef Francisco"/>
          <xsd:enumeration value="Chelsea Catering Corporatio"/>
          <xsd:enumeration value="Chemical Coatings Inc"/>
          <xsd:enumeration value="Chemical Specialties Mfg Corp"/>
          <xsd:enumeration value="Chemrite Coatings Ltd"/>
          <xsd:enumeration value="Cherry Textron"/>
          <xsd:enumeration value="Chesebrough-Ponds"/>
          <xsd:enumeration value="Chestertown Bank"/>
          <xsd:enumeration value="CHI Kansas"/>
          <xsd:enumeration value="Chicago Magazine"/>
          <xsd:enumeration value="Childrens Aid Society Ottaw"/>
          <xsd:enumeration value="Children's Hospital - Pgh P"/>
          <xsd:enumeration value="Childrens Hospital of Ontar"/>
          <xsd:enumeration value="China National Automotive"/>
          <xsd:enumeration value="Chiquita Brands International"/>
          <xsd:enumeration value="Chromalox"/>
          <xsd:enumeration value="Chromatography Systems"/>
          <xsd:enumeration value="Chuckie Cheese Restaurants"/>
          <xsd:enumeration value="Ciba Corning"/>
          <xsd:enumeration value="Ciba Corporation"/>
          <xsd:enumeration value="Ciba Pharmaceuticals"/>
          <xsd:enumeration value="Ciba Vision"/>
          <xsd:enumeration value="CIBC - Collections"/>
          <xsd:enumeration value="CIBC - Finance"/>
          <xsd:enumeration value="Cingular"/>
          <xsd:enumeration value="Cintichem Inc"/>
          <xsd:enumeration value="Circuits Processing Technology"/>
          <xsd:enumeration value="CitiCards"/>
          <xsd:enumeration value="Citizens Financial Group"/>
          <xsd:enumeration value="Citizens National Bank"/>
          <xsd:enumeration value="Citrus Hill"/>
          <xsd:enumeration value="City Avenue Hospital"/>
          <xsd:enumeration value="Claims Services"/>
          <xsd:enumeration value="Clairol Inc"/>
          <xsd:enumeration value="Clairson Intl Corp"/>
          <xsd:enumeration value="Clarica"/>
          <xsd:enumeration value="Clarke American"/>
          <xsd:enumeration value="Classic Residence"/>
          <xsd:enumeration value="Classic Vacations"/>
          <xsd:enumeration value="Cleveland Illuminating Co"/>
          <xsd:enumeration value="Climate &amp; Industrial Controls"/>
          <xsd:enumeration value="Climate Control"/>
          <xsd:enumeration value="Coastal Ventures"/>
          <xsd:enumeration value="Coated &amp; Specialty Papers"/>
          <xsd:enumeration value="Cobb-Vantress Inc"/>
          <xsd:enumeration value="Coca Cola Canada"/>
          <xsd:enumeration value="Coca Cola Enterprises"/>
          <xsd:enumeration value="Coca Cola North America"/>
          <xsd:enumeration value="Coca Cola UK"/>
          <xsd:enumeration value="Codex Corporation"/>
          <xsd:enumeration value="Codman &amp; Shurtleff Inc"/>
          <xsd:enumeration value="Coldwell Banker"/>
          <xsd:enumeration value="Cole Vision"/>
          <xsd:enumeration value="Colonial Diversified Polymer Products"/>
          <xsd:enumeration value="Colonial First State Global Asset Mgmt"/>
          <xsd:enumeration value="Colonial Insurance"/>
          <xsd:enumeration value="Columbian Chemicals Co"/>
          <xsd:enumeration value="Columbus Engine Plant"/>
          <xsd:enumeration value="Combustion Technologies Inc"/>
          <xsd:enumeration value="Combustion Technology"/>
          <xsd:enumeration value="ComEd"/>
          <xsd:enumeration value="Commerce Group Insurance Co"/>
          <xsd:enumeration value="Commercial &amp; Government Systems"/>
          <xsd:enumeration value="Commercial Bank"/>
          <xsd:enumeration value="Commonwealth Edison"/>
          <xsd:enumeration value="Commonwealth Of Puerto Rico"/>
          <xsd:enumeration value="Commonwealth Printing Co"/>
          <xsd:enumeration value="Communications Security Establishment"/>
          <xsd:enumeration value="Community General Hospital"/>
          <xsd:enumeration value="Component Products Division"/>
          <xsd:enumeration value="Composite Structures Intl Inc"/>
          <xsd:enumeration value="Compounding Technology Inc"/>
          <xsd:enumeration value="Conek Sa De CV"/>
          <xsd:enumeration value="Confecciones De Monterrey"/>
          <xsd:enumeration value="Confederation Des Jardins"/>
          <xsd:enumeration value="Conifer Industries"/>
          <xsd:enumeration value="Consolidated Diesel Company"/>
          <xsd:enumeration value="Consolidated Restaurants"/>
          <xsd:enumeration value="Consumer &amp; Office Products"/>
          <xsd:enumeration value="Consumer Bank"/>
          <xsd:enumeration value="Consumer Health"/>
          <xsd:enumeration value="Consumer Health Group"/>
          <xsd:enumeration value="Consumer Imaging"/>
          <xsd:enumeration value="Consumer Packaging"/>
          <xsd:enumeration value="Contech"/>
          <xsd:enumeration value="Continental Baking"/>
          <xsd:enumeration value="Continental Division"/>
          <xsd:enumeration value="Continental Division-HealthOne Market"/>
          <xsd:enumeration value="Continental Express"/>
          <xsd:enumeration value="Continental Micronesia"/>
          <xsd:enumeration value="Convatec"/>
          <xsd:enumeration value="Cookeville Tool &amp; Manufacturing"/>
          <xsd:enumeration value="Cooper Industries - Canada"/>
          <xsd:enumeration value="CooperSurgical"/>
          <xsd:enumeration value="CooperVision"/>
          <xsd:enumeration value="Copeland Corporation"/>
          <xsd:enumeration value="Corbin &amp; Russwin"/>
          <xsd:enumeration value="CoreStates Financial"/>
          <xsd:enumeration value="Corken"/>
          <xsd:enumeration value="Corp Offices"/>
          <xsd:enumeration value="Corporate"/>
          <xsd:enumeration value="Corporate Center"/>
          <xsd:enumeration value="Corporate Enterprise"/>
          <xsd:enumeration value="Corporate Express"/>
          <xsd:enumeration value="Corporate Headquarters"/>
          <xsd:enumeration value="Corporate Human Resources"/>
          <xsd:enumeration value="Corporate Information Services"/>
          <xsd:enumeration value="Corporate Organizational Development"/>
          <xsd:enumeration value="Correctional Services Of Canada"/>
          <xsd:enumeration value="Countrywide"/>
          <xsd:enumeration value="Coutts Group"/>
          <xsd:enumeration value="Coventry Health Care"/>
          <xsd:enumeration value="Cover Girl"/>
          <xsd:enumeration value="Cox Broadcasting"/>
          <xsd:enumeration value="Cox Media Group"/>
          <xsd:enumeration value="Crane"/>
          <xsd:enumeration value="Creative Memories"/>
          <xsd:enumeration value="Credit Union"/>
          <xsd:enumeration value="Crescent/Xcelite"/>
          <xsd:enumeration value="Crestar Financial"/>
          <xsd:enumeration value="Crestar Food Products"/>
          <xsd:enumeration value="Crestline Hotels &amp; Resorts"/>
          <xsd:enumeration value="Crouse Hinds"/>
          <xsd:enumeration value="Crowne Plaza"/>
          <xsd:enumeration value="Crystal Springs Water Co In"/>
          <xsd:enumeration value="CTI"/>
          <xsd:enumeration value="Cub Foods Stores"/>
          <xsd:enumeration value="CUC International"/>
          <xsd:enumeration value="Culinar Inc"/>
          <xsd:enumeration value="Culinary Concepts Ltd"/>
          <xsd:enumeration value="Culinary Foods Inc"/>
          <xsd:enumeration value="Cullman Products"/>
          <xsd:enumeration value="Cummins Natural Gas"/>
          <xsd:enumeration value="Curtis Bay Company"/>
          <xsd:enumeration value="Customer Equipment Svcs"/>
          <xsd:enumeration value="Cuyahoga Comm College Dist"/>
          <xsd:enumeration value="CWFC Commercial Power and Services"/>
          <xsd:enumeration value="Cylinder Division"/>
          <xsd:enumeration value="D H Compounding"/>
          <xsd:enumeration value="Daihatsu Motor Co"/>
          <xsd:enumeration value="Daimler Buses"/>
          <xsd:enumeration value="Daimler Financial"/>
          <xsd:enumeration value="Daimler Truck"/>
          <xsd:enumeration value="Daimler-Benz"/>
          <xsd:enumeration value="DaimlerChrysler Financial Services"/>
          <xsd:enumeration value="Data Documents Inc"/>
          <xsd:enumeration value="Daughters of Charity National Health Sys"/>
          <xsd:enumeration value="Davco Food Inc"/>
          <xsd:enumeration value="Davidson Instrument Panel"/>
          <xsd:enumeration value="Day-Glo Color Corp"/>
          <xsd:enumeration value="Days Inn Of America"/>
          <xsd:enumeration value="Daytimers Inc"/>
          <xsd:enumeration value="Dayton's"/>
          <xsd:enumeration value="Dealer"/>
          <xsd:enumeration value="Dealer Services"/>
          <xsd:enumeration value="Decora"/>
          <xsd:enumeration value="Decorative Products"/>
          <xsd:enumeration value="DEF Building Products"/>
          <xsd:enumeration value="Defense Aquisition University"/>
          <xsd:enumeration value="Delmonico Foods"/>
          <xsd:enumeration value="Delphi"/>
          <xsd:enumeration value="Delphi Automotive Systems Corp"/>
          <xsd:enumeration value="Delta Beverage Group"/>
          <xsd:enumeration value="Delta Division"/>
          <xsd:enumeration value="Delta Division-Austin Partnership"/>
          <xsd:enumeration value="Delta Division-Rapides Partnership"/>
          <xsd:enumeration value="Denso"/>
          <xsd:enumeration value="Denso Corp"/>
          <xsd:enumeration value="Department of Family Assistance"/>
          <xsd:enumeration value="Department Of Justice"/>
          <xsd:enumeration value="Design/Craft Fabric Corp"/>
          <xsd:enumeration value="Detroit Diesel Corp"/>
          <xsd:enumeration value="Development Dim - Affiliate"/>
          <xsd:enumeration value="Dexter Axle"/>
          <xsd:enumeration value="Dexter Lock"/>
          <xsd:enumeration value="DEY"/>
          <xsd:enumeration value="DHL Corporation - UK"/>
          <xsd:enumeration value="Diamond Chain Company"/>
          <xsd:enumeration value="Diamond Shamrock"/>
          <xsd:enumeration value="Diamond Shamrock Corporation"/>
          <xsd:enumeration value="Diesel Recon Company"/>
          <xsd:enumeration value="Digital &amp; Applied Imaging"/>
          <xsd:enumeration value="Direct Line Insurance"/>
          <xsd:enumeration value="Discreet"/>
          <xsd:enumeration value="Discus Technology"/>
          <xsd:enumeration value="Distal"/>
          <xsd:enumeration value="Distallation Products Industries"/>
          <xsd:enumeration value="Distillation Products Ind"/>
          <xsd:enumeration value="District Of Columbia"/>
          <xsd:enumeration value="DiverseyLever"/>
          <xsd:enumeration value="Diversified Products Division"/>
          <xsd:enumeration value="DML Inc"/>
          <xsd:enumeration value="Dominick's Finer Foods"/>
          <xsd:enumeration value="Double R Graphics"/>
          <xsd:enumeration value="Doubletree Hotels"/>
          <xsd:enumeration value="Dow Chemical - Canada"/>
          <xsd:enumeration value="Dow Chemical - UK"/>
          <xsd:enumeration value="Dow Corning"/>
          <xsd:enumeration value="Dr Pepper/Seven Up Inc"/>
          <xsd:enumeration value="Drackeit Company"/>
          <xsd:enumeration value="Dresser Equipment Group"/>
          <xsd:enumeration value="Drexel Knitting"/>
          <xsd:enumeration value="Dreyer's Ice Cream"/>
          <xsd:enumeration value="Dryvit Systems Inc"/>
          <xsd:enumeration value="Dun &amp; Bradstreet - Canada"/>
          <xsd:enumeration value="Dun &amp; Bradstreet - UK"/>
          <xsd:enumeration value="DuPont Australia"/>
          <xsd:enumeration value="DuPont Corp"/>
          <xsd:enumeration value="DuPont Far Eastern"/>
          <xsd:enumeration value="DuPont Taiwan"/>
          <xsd:enumeration value="Duramed"/>
          <xsd:enumeration value="Dynapert Inc"/>
          <xsd:enumeration value="E J Brach Inc"/>
          <xsd:enumeration value="Easco Hand Tools Inc"/>
          <xsd:enumeration value="East Bay Equities"/>
          <xsd:enumeration value="East Florida Division"/>
          <xsd:enumeration value="East Florida Division-Broward Market"/>
          <xsd:enumeration value="East Florida Division-Miami Dade"/>
          <xsd:enumeration value="East Florida Division-Palm Beach"/>
          <xsd:enumeration value="East Florida Division-Treasure Coast"/>
          <xsd:enumeration value="East Ohio Gas"/>
          <xsd:enumeration value="Eastman Savings &amp; Loan Assoc"/>
          <xsd:enumeration value="Ebasco Corporation"/>
          <xsd:enumeration value="ECA Electronics"/>
          <xsd:enumeration value="ECC International"/>
          <xsd:enumeration value="Ectona"/>
          <xsd:enumeration value="Edicon Systems"/>
          <xsd:enumeration value="Educational Services"/>
          <xsd:enumeration value="Educational Systems"/>
          <xsd:enumeration value="Edward Weck Inc"/>
          <xsd:enumeration value="Edwards Co"/>
          <xsd:enumeration value="EG&amp;G"/>
          <xsd:enumeration value="Electronic Systems"/>
          <xsd:enumeration value="Electronics"/>
          <xsd:enumeration value="Eli Lilly Company - Canada"/>
          <xsd:enumeration value="Eli Lilly Company - UK"/>
          <xsd:enumeration value="Elizabeth Arden Co"/>
          <xsd:enumeration value="Eljer"/>
          <xsd:enumeration value="ELMA Electronic Inc"/>
          <xsd:enumeration value="Embassy Suites"/>
          <xsd:enumeration value="EMC Mortgage Corporation"/>
          <xsd:enumeration value="Emerson Electric - Canada"/>
          <xsd:enumeration value="Emhart Fastening Systems"/>
          <xsd:enumeration value="Empire Southwest"/>
          <xsd:enumeration value="Employer Services"/>
          <xsd:enumeration value="Enceratec Inc"/>
          <xsd:enumeration value="Energy Absorption Systems"/>
          <xsd:enumeration value="Energy Technology"/>
          <xsd:enumeration value="Engine Marketing &amp; Administration"/>
          <xsd:enumeration value="Engine Systems &amp; Large Engines Division"/>
          <xsd:enumeration value="Engineered Air Systems Inc"/>
          <xsd:enumeration value="Engineered Specialty Plastics"/>
          <xsd:enumeration value="English China Clays"/>
          <xsd:enumeration value="Engraph"/>
          <xsd:enumeration value="Enserch Corporation"/>
          <xsd:enumeration value="Entertainment Imaging"/>
          <xsd:enumeration value="Entertainment Publications"/>
          <xsd:enumeration value="Entreprises Barrette Ltee"/>
          <xsd:enumeration value="Equipment Mfg"/>
          <xsd:enumeration value="Erie Ceramic Arts Co"/>
          <xsd:enumeration value="ESBA"/>
          <xsd:enumeration value="ESCOD Industries"/>
          <xsd:enumeration value="ESPAN Corp"/>
          <xsd:enumeration value="ESSIbuy"/>
          <xsd:enumeration value="Esurance"/>
          <xsd:enumeration value="Euclid Chemical Co"/>
          <xsd:enumeration value="Euler Hermes"/>
          <xsd:enumeration value="Eveready Battery Co Inc"/>
          <xsd:enumeration value="Everest VIT Inc"/>
          <xsd:enumeration value="Evtech"/>
          <xsd:enumeration value="Excel Corporation"/>
          <xsd:enumeration value="Expedia.com"/>
          <xsd:enumeration value="Experian Information Solutions"/>
          <xsd:enumeration value="Expo Wire Company"/>
          <xsd:enumeration value="Express"/>
          <xsd:enumeration value="E-Z Go"/>
          <xsd:enumeration value="F &amp; S Foods"/>
          <xsd:enumeration value="F W Dodge"/>
          <xsd:enumeration value="FAA"/>
          <xsd:enumeration value="Fabick Tractor"/>
          <xsd:enumeration value="Falley's Inc"/>
          <xsd:enumeration value="Far West Division"/>
          <xsd:enumeration value="Far West Division-Las Vegas Market"/>
          <xsd:enumeration value="Farmland Insurance"/>
          <xsd:enumeration value="Fasson"/>
          <xsd:enumeration value="FAST"/>
          <xsd:enumeration value="Fearn International"/>
          <xsd:enumeration value="Federal Express"/>
          <xsd:enumeration value="Federation Caisse Populaire"/>
          <xsd:enumeration value="Fermont Engineered Electric"/>
          <xsd:enumeration value="Fiber Options Inc"/>
          <xsd:enumeration value="Fiberchem Inc"/>
          <xsd:enumeration value="Filtration"/>
          <xsd:enumeration value="Finance - Banks &amp; Credit Unions"/>
          <xsd:enumeration value="Financial"/>
          <xsd:enumeration value="Financial Products Division"/>
          <xsd:enumeration value="Fine Paper"/>
          <xsd:enumeration value="Finley &amp; Co"/>
          <xsd:enumeration value="Fire &amp; Security"/>
          <xsd:enumeration value="Firemen's Fund Insurance"/>
          <xsd:enumeration value="First Atlanta Bank"/>
          <xsd:enumeration value="First Card"/>
          <xsd:enumeration value="First Chicago NBD"/>
          <xsd:enumeration value="First National Bank"/>
          <xsd:enumeration value="First National Bank Of Chicago"/>
          <xsd:enumeration value="First Quality Baby Products"/>
          <xsd:enumeration value="First Quality Tissue"/>
          <xsd:enumeration value="First USA"/>
          <xsd:enumeration value="Firstar Bank"/>
          <xsd:enumeration value="Firstar Operations Center"/>
          <xsd:enumeration value="Fiserv"/>
          <xsd:enumeration value="Fisher Controls"/>
          <xsd:enumeration value="Fisher Nut Co"/>
          <xsd:enumeration value="Fisheries &amp; Oceans Canada"/>
          <xsd:enumeration value="Fisher-Price"/>
          <xsd:enumeration value="Fitness Institute"/>
          <xsd:enumeration value="Flameco"/>
          <xsd:enumeration value="Fleagane Enterprises"/>
          <xsd:enumeration value="Fleet"/>
          <xsd:enumeration value="Fleet Bank"/>
          <xsd:enumeration value="Fleet Finance"/>
          <xsd:enumeration value="Fleet Investment"/>
          <xsd:enumeration value="Fleet Mortgage"/>
          <xsd:enumeration value="Fleetguard Inc"/>
          <xsd:enumeration value="Flexible Packaging"/>
          <xsd:enumeration value="Florida Bank"/>
          <xsd:enumeration value="Flow Control"/>
          <xsd:enumeration value="Fluid Connectors"/>
          <xsd:enumeration value="Fluid Management"/>
          <xsd:enumeration value="Fluor Constructors International"/>
          <xsd:enumeration value="Fluor Daniel"/>
          <xsd:enumeration value="Fluor Global Services"/>
          <xsd:enumeration value="Fluor Signature Services"/>
          <xsd:enumeration value="FMC Extracorporeal Alliance"/>
          <xsd:enumeration value="Foley Machinery Co"/>
          <xsd:enumeration value="Folgers Coffee Co"/>
          <xsd:enumeration value="Food 4 Less Inc"/>
          <xsd:enumeration value="Foodbrands America"/>
          <xsd:enumeration value="Foods"/>
          <xsd:enumeration value="Footaction USA"/>
          <xsd:enumeration value="Foreign Affairs"/>
          <xsd:enumeration value="Fort James"/>
          <xsd:enumeration value="Fossil/Hydro"/>
          <xsd:enumeration value="Four Corners"/>
          <xsd:enumeration value="Franciscan Health System"/>
          <xsd:enumeration value="Freightliner"/>
          <xsd:enumeration value="Fresenius Medical Services (FMS)"/>
          <xsd:enumeration value="Fresenius Products and Hospital Group"/>
          <xsd:enumeration value="Frito Lay - Canada"/>
          <xsd:enumeration value="Frito Lay Inc"/>
          <xsd:enumeration value="Furrow Building Materials"/>
          <xsd:enumeration value="G Heileman Brewing Co"/>
          <xsd:enumeration value="G K Foods"/>
          <xsd:enumeration value="Galileo"/>
          <xsd:enumeration value="Gardner Denver"/>
          <xsd:enumeration value="Garrett Industrial"/>
          <xsd:enumeration value="Gaspro"/>
          <xsd:enumeration value="GAST Manufacturing"/>
          <xsd:enumeration value="Gates McDonald"/>
          <xsd:enumeration value="GBC/CCTV"/>
          <xsd:enumeration value="GCIB"/>
          <xsd:enumeration value="GE Aerospace/Martine Mariet"/>
          <xsd:enumeration value="GE Capital"/>
          <xsd:enumeration value="Genentech Inc"/>
          <xsd:enumeration value="General Amer Transportation"/>
          <xsd:enumeration value="General Electric - Canada"/>
          <xsd:enumeration value="General Systems Sector"/>
          <xsd:enumeration value="Geneva Generics"/>
          <xsd:enumeration value="George Weston Bakeries"/>
          <xsd:enumeration value="Giant Food Stores"/>
          <xsd:enumeration value="Gifford-Hill"/>
          <xsd:enumeration value="Gillette"/>
          <xsd:enumeration value="Gilmour Mfg Co"/>
          <xsd:enumeration value="Glass Depot"/>
          <xsd:enumeration value="Glaxo Wellcome"/>
          <xsd:enumeration value="Global Consumer Bank"/>
          <xsd:enumeration value="Global Wealth Managment"/>
          <xsd:enumeration value="GM Europe"/>
          <xsd:enumeration value="GMAC"/>
          <xsd:enumeration value="Goodyear Tire &amp; Rubber - Ca"/>
          <xsd:enumeration value="Goodyear Tire &amp; Rubber - UK"/>
          <xsd:enumeration value="Government Of Alberta"/>
          <xsd:enumeration value="Government Of British Columbia"/>
          <xsd:enumeration value="Government Of Manitoba"/>
          <xsd:enumeration value="Government Of New Brunswick"/>
          <xsd:enumeration value="Government Of Newfoundland"/>
          <xsd:enumeration value="Government Of Northwest Territories"/>
          <xsd:enumeration value="Government Of Nova Scotia"/>
          <xsd:enumeration value="Government Of Ontario"/>
          <xsd:enumeration value="Government Of Quebec"/>
          <xsd:enumeration value="Government Of Saskatchewan"/>
          <xsd:enumeration value="Government Of Yukon"/>
          <xsd:enumeration value="GPI"/>
          <xsd:enumeration value="Graduate Health/Hospital Sy"/>
          <xsd:enumeration value="GRE Insurance Group"/>
          <xsd:enumeration value="Great American Insurance"/>
          <xsd:enumeration value="Great Universal Stores"/>
          <xsd:enumeration value="Great Western Financial"/>
          <xsd:enumeration value="Great Western Malting Co"/>
          <xsd:enumeration value="Greater Atlantic Health Srv"/>
          <xsd:enumeration value="Great-West Lifeco Inc"/>
          <xsd:enumeration value="Greensboro News &amp; Record"/>
          <xsd:enumeration value="Griffin Canada"/>
          <xsd:enumeration value="Griffin Pipe"/>
          <xsd:enumeration value="Griffin Wheel"/>
          <xsd:enumeration value="Group RCI"/>
          <xsd:enumeration value="Grove WorldWide"/>
          <xsd:enumeration value="GTA"/>
          <xsd:enumeration value="Guardian Protection Services"/>
          <xsd:enumeration value="Guinness/UDV"/>
          <xsd:enumeration value="Gulf Coast Division"/>
          <xsd:enumeration value="Gulfcoast Transit"/>
          <xsd:enumeration value="Gunlocke Co"/>
          <xsd:enumeration value="GUS Home Shopping"/>
          <xsd:enumeration value="Guy Carpenter &amp; Co"/>
          <xsd:enumeration value="H B Reese Candy"/>
          <xsd:enumeration value="Hale Products"/>
          <xsd:enumeration value="Halifax Insurance Co"/>
          <xsd:enumeration value="Halliburton Energy"/>
          <xsd:enumeration value="Hamilton Sundstrand"/>
          <xsd:enumeration value="Hammermill Paper"/>
          <xsd:enumeration value="Hamot Medical Center"/>
          <xsd:enumeration value="Hampton Inn"/>
          <xsd:enumeration value="Hanes Menswear"/>
          <xsd:enumeration value="Hansen Coupling"/>
          <xsd:enumeration value="Hanson North America"/>
          <xsd:enumeration value="Harco National Insurance"/>
          <xsd:enumeration value="Harmon Glass"/>
          <xsd:enumeration value="Harris Corp - Canada"/>
          <xsd:enumeration value="Harron Communications"/>
          <xsd:enumeration value="Hartford Life"/>
          <xsd:enumeration value="Harvey Hubbel"/>
          <xsd:enumeration value="Hawthorne Machinery Co"/>
          <xsd:enumeration value="Hazeltine"/>
          <xsd:enumeration value="HDK"/>
          <xsd:enumeration value="Headquarters"/>
          <xsd:enumeration value="Health Canada"/>
          <xsd:enumeration value="Health Care"/>
          <xsd:enumeration value="Health Management Associates"/>
          <xsd:enumeration value="Health Services"/>
          <xsd:enumeration value="HealthNow NY Inc."/>
          <xsd:enumeration value="Heatilator Inc"/>
          <xsd:enumeration value="Hedberg Data Systems Inc"/>
          <xsd:enumeration value="Heinz Bakery Products"/>
          <xsd:enumeration value="Heinz Pet Products"/>
          <xsd:enumeration value="Heinz USA"/>
          <xsd:enumeration value="Helene Curtis"/>
          <xsd:enumeration value="Hendrickson International"/>
          <xsd:enumeration value="Henry Lee"/>
          <xsd:enumeration value="Hershey Chocolate"/>
          <xsd:enumeration value="Hershey Direct"/>
          <xsd:enumeration value="Hershey Enterntainment &amp; Resorts"/>
          <xsd:enumeration value="Hevi-Duty Electric"/>
          <xsd:enumeration value="Hewlett Packard - Canada"/>
          <xsd:enumeration value="Hewlett Packard - UK"/>
          <xsd:enumeration value="HFS Incorporated"/>
          <xsd:enumeration value="Hickham Industries Inc"/>
          <xsd:enumeration value="Hidden Valley Ranch Corp"/>
          <xsd:enumeration value="High Density Film"/>
          <xsd:enumeration value="Hill-Rom/SSI"/>
          <xsd:enumeration value="Hill's Pet Products"/>
          <xsd:enumeration value="Hilton Grand Vacations"/>
          <xsd:enumeration value="Hilton Hotels"/>
          <xsd:enumeration value="Ho Chunk Casino"/>
          <xsd:enumeration value="Hobart Brothers Co"/>
          <xsd:enumeration value="Hoechst"/>
          <xsd:enumeration value="Hoechst Marion Roussel"/>
          <xsd:enumeration value="Hoffmann-La Roche"/>
          <xsd:enumeration value="Hoffmann-La Roche - Canada"/>
          <xsd:enumeration value="Holiday Inns"/>
          <xsd:enumeration value="Holm Industries"/>
          <xsd:enumeration value="Holston Defense Corporation"/>
          <xsd:enumeration value="Holt Company"/>
          <xsd:enumeration value="Home and Personal Care"/>
          <xsd:enumeration value="Home Building Association"/>
          <xsd:enumeration value="Homelite Division"/>
          <xsd:enumeration value="Honeywell Technology"/>
          <xsd:enumeration value="Hoover Company"/>
          <xsd:enumeration value="Horizon Air Industries"/>
          <xsd:enumeration value="Hospital"/>
          <xsd:enumeration value="Hospital of the University"/>
          <xsd:enumeration value="Hospital Shared Services"/>
          <xsd:enumeration value="Hospitality Services"/>
          <xsd:enumeration value="Hotel Group"/>
          <xsd:enumeration value="Hotels.com"/>
          <xsd:enumeration value="Hotwire.com"/>
          <xsd:enumeration value="Howmedica"/>
          <xsd:enumeration value="HQ"/>
          <xsd:enumeration value="Hubbel - Canada"/>
          <xsd:enumeration value="Hudson's"/>
          <xsd:enumeration value="Hugh H Woods Building Matls"/>
          <xsd:enumeration value="Human Pharmaceuticals"/>
          <xsd:enumeration value="Human Resources Development Canada"/>
          <xsd:enumeration value="Huntsman Packaging Corp"/>
          <xsd:enumeration value="Hunt-Wesson Inc"/>
          <xsd:enumeration value="Hurricane Foods"/>
          <xsd:enumeration value="Hurst Manufacturing"/>
          <xsd:enumeration value="Hyatt International"/>
          <xsd:enumeration value="Hydraulics"/>
          <xsd:enumeration value="Hydro Rubber &amp; Plastic Inc"/>
          <xsd:enumeration value="iAnywhere Solutions"/>
          <xsd:enumeration value="IBM Corporation - Canada"/>
          <xsd:enumeration value="ICI Corporate Services"/>
          <xsd:enumeration value="ICI Paints"/>
          <xsd:enumeration value="Ideon Group"/>
          <xsd:enumeration value="IGM Financial"/>
          <xsd:enumeration value="Imperial Oil Ltd"/>
          <xsd:enumeration value="Import Wire and Wire Products"/>
          <xsd:enumeration value="Indian &amp; Northern Affairs"/>
          <xsd:enumeration value="Indiana Die Molding"/>
          <xsd:enumeration value="Industrial Container"/>
          <xsd:enumeration value="Industrial Solutions"/>
          <xsd:enumeration value="Industry Canada"/>
          <xsd:enumeration value="Information &amp; Technology Services"/>
          <xsd:enumeration value="Infrastructure"/>
          <xsd:enumeration value="Infusaid Inc"/>
          <xsd:enumeration value="INS"/>
          <xsd:enumeration value="Instant Mail"/>
          <xsd:enumeration value="Institutional Client Group"/>
          <xsd:enumeration value="Instrumentation"/>
          <xsd:enumeration value="Insurance"/>
          <xsd:enumeration value="Integrated Material Handlin"/>
          <xsd:enumeration value="Integrated Systems &amp; Solutions (IS&amp;S)"/>
          <xsd:enumeration value="Interbake Foods"/>
          <xsd:enumeration value="Inter-Continental Hotels"/>
          <xsd:enumeration value="Intermec"/>
          <xsd:enumeration value="Intermedics Inc"/>
          <xsd:enumeration value="Intermedics Orthopedics Inc"/>
          <xsd:enumeration value="International Paper Co - Ca"/>
          <xsd:enumeration value="Interstate Brands"/>
          <xsd:enumeration value="Interval International"/>
          <xsd:enumeration value="Intevac"/>
          <xsd:enumeration value="Iolab"/>
          <xsd:enumeration value="IPD/Paper"/>
          <xsd:enumeration value="IPS"/>
          <xsd:enumeration value="IPS Sendero"/>
          <xsd:enumeration value="Island Creek Corporation"/>
          <xsd:enumeration value="ISP Chemicals Inc"/>
          <xsd:enumeration value="ISP Filters Inc"/>
          <xsd:enumeration value="ISP Fine Chemicals Inc"/>
          <xsd:enumeration value="ISP Minerals Inc"/>
          <xsd:enumeration value="ISP Sutton Laboratories"/>
          <xsd:enumeration value="ISP Technologies Inc"/>
          <xsd:enumeration value="ISP Van Dyk Inc"/>
          <xsd:enumeration value="ITW"/>
          <xsd:enumeration value="J &amp; J Register"/>
          <xsd:enumeration value="Jacksonville Health Care Gr"/>
          <xsd:enumeration value="Jacobs Vehicle/Brake"/>
          <xsd:enumeration value="Jado-Porcher"/>
          <xsd:enumeration value="Jameson Memorial Hospital"/>
          <xsd:enumeration value="Janssen Pharmaceutical"/>
          <xsd:enumeration value="JBB Worldwide Inc"/>
          <xsd:enumeration value="Jeep/Eagle Division"/>
          <xsd:enumeration value="Jefferson Smurfit Corp"/>
          <xsd:enumeration value="Jersey Central Power &amp; Ligh"/>
          <xsd:enumeration value="Jet Dye"/>
          <xsd:enumeration value="Jetco Chemicals Inc"/>
          <xsd:enumeration value="Johnson Controls"/>
          <xsd:enumeration value="Jolly Rancher"/>
          <xsd:enumeration value="Journal Broadcast Group"/>
          <xsd:enumeration value="Journal Communications"/>
          <xsd:enumeration value="Journal Sentinel"/>
          <xsd:enumeration value="JT Baker Inc"/>
          <xsd:enumeration value="Just For Feet"/>
          <xsd:enumeration value="Kaiser Alumina"/>
          <xsd:enumeration value="Kaiser Cement Corp"/>
          <xsd:enumeration value="Kaiser Extruded Products"/>
          <xsd:enumeration value="Kaiser Flat-Rolled Products"/>
          <xsd:enumeration value="Kaiser Primary Aluminum Products"/>
          <xsd:enumeration value="Kalatel Inc"/>
          <xsd:enumeration value="Kaneb Services"/>
          <xsd:enumeration value="Kaufmanns"/>
          <xsd:enumeration value="Kay Ray"/>
          <xsd:enumeration value="KBR"/>
          <xsd:enumeration value="KCI"/>
          <xsd:enumeration value="Kearns Machinery Co"/>
          <xsd:enumeration value="Keco Industries"/>
          <xsd:enumeration value="Kellogg Inc - Canada"/>
          <xsd:enumeration value="Kellogg Inc - UK"/>
          <xsd:enumeration value="Kelly Tractor Co"/>
          <xsd:enumeration value="Kennametal - UK"/>
          <xsd:enumeration value="Kenny King Corporation"/>
          <xsd:enumeration value="Kent Moore"/>
          <xsd:enumeration value="Kentucky Fried Chicken"/>
          <xsd:enumeration value="KentuckyOne Health"/>
          <xsd:enumeration value="Kentwood Water Group Inc"/>
          <xsd:enumeration value="Kern River Gas Transmission"/>
          <xsd:enumeration value="Kimberly Clark Corp - Canad"/>
          <xsd:enumeration value="Kimberly Clark Corp - UK"/>
          <xsd:enumeration value="Kingsford Products"/>
          <xsd:enumeration value="Kiwi Brands Inc"/>
          <xsd:enumeration value="KLAS-TV"/>
          <xsd:enumeration value="Knox Building Materials"/>
          <xsd:enumeration value="Kodak  - Mexicana"/>
          <xsd:enumeration value="Kodak - Canada"/>
          <xsd:enumeration value="Kodak Bioscience"/>
          <xsd:enumeration value="Kodak Business Imaging Systems"/>
          <xsd:enumeration value="Kodak Business Information Sys"/>
          <xsd:enumeration value="Kodak Graphics Imaging"/>
          <xsd:enumeration value="Kodak Health Sciences"/>
          <xsd:enumeration value="Kodak Limited (UK)"/>
          <xsd:enumeration value="Kodak Professional Photography"/>
          <xsd:enumeration value="Kodak Software Systems"/>
          <xsd:enumeration value="Kone Inc"/>
          <xsd:enumeration value="Kop-Coat"/>
          <xsd:enumeration value="Krellin"/>
          <xsd:enumeration value="Kuss Corp"/>
          <xsd:enumeration value="Lakeland Community College"/>
          <xsd:enumeration value="Lamb-Weston Inc"/>
          <xsd:enumeration value="Lancaster General Hospital"/>
          <xsd:enumeration value="Land Mobile Products Sector"/>
          <xsd:enumeration value="Landmark Community Newspape"/>
          <xsd:enumeration value="Lanier Products"/>
          <xsd:enumeration value="Larsan Manufacturing Co"/>
          <xsd:enumeration value="Las Cal Corporation"/>
          <xsd:enumeration value="LaSalle Banks"/>
          <xsd:enumeration value="Lasco Products"/>
          <xsd:enumeration value="Latin America Divsion"/>
          <xsd:enumeration value="Lawry's Foods"/>
          <xsd:enumeration value="LCI International"/>
          <xsd:enumeration value="Lear"/>
          <xsd:enumeration value="Learning Center"/>
          <xsd:enumeration value="Learning Strategies Group"/>
          <xsd:enumeration value="L'eggs Products Inc"/>
          <xsd:enumeration value="Lehigh Valley Hospital"/>
          <xsd:enumeration value="Leica Incorporated"/>
          <xsd:enumeration value="Lender's Bagel Bakery"/>
          <xsd:enumeration value="Lenk Manufacturing Co"/>
          <xsd:enumeration value="Lerner, New York"/>
          <xsd:enumeration value="Lever Brothers"/>
          <xsd:enumeration value="Liberty Financial"/>
          <xsd:enumeration value="Liberty Media Group"/>
          <xsd:enumeration value="Liberty Mutual"/>
          <xsd:enumeration value="Liebert Corporation"/>
          <xsd:enumeration value="Life Savers Candy Co"/>
          <xsd:enumeration value="LifeCell"/>
          <xsd:enumeration value="Light Valve Technology"/>
          <xsd:enumeration value="Limited Credit Services"/>
          <xsd:enumeration value="Limited Distribution Services"/>
          <xsd:enumeration value="Limited Too"/>
          <xsd:enumeration value="Lineberry Inc"/>
          <xsd:enumeration value="Linetec"/>
          <xsd:enumeration value="Lithonia Lighting Co"/>
          <xsd:enumeration value="Littleton Hospital"/>
          <xsd:enumeration value="LM Energy Systems"/>
          <xsd:enumeration value="Loblaws"/>
          <xsd:enumeration value="Loewy Drug Co"/>
          <xsd:enumeration value="Logistics &amp; Products Services Division"/>
          <xsd:enumeration value="Longmont Foods"/>
          <xsd:enumeration value="Lubricant Consultants"/>
          <xsd:enumeration value="Lubriquip"/>
          <xsd:enumeration value="Ludens Inc"/>
          <xsd:enumeration value="Lumberjack Building Materia"/>
          <xsd:enumeration value="M A Hanna Color"/>
          <xsd:enumeration value="M A Hanna Resin Distribution"/>
          <xsd:enumeration value="M A Hanna Rubber Compounding"/>
          <xsd:enumeration value="M J Brock Co"/>
          <xsd:enumeration value="M W Kellogg Co"/>
          <xsd:enumeration value="M&amp;S"/>
          <xsd:enumeration value="Macallister Machinery Co"/>
          <xsd:enumeration value="Magic Chef Company"/>
          <xsd:enumeration value="Magna"/>
          <xsd:enumeration value="Magnetic Resonance Imaging"/>
          <xsd:enumeration value="Mail-Well Label Group"/>
          <xsd:enumeration value="Mail-Well Print Group"/>
          <xsd:enumeration value="Majestic Pines Casino"/>
          <xsd:enumeration value="Mallory Controls"/>
          <xsd:enumeration value="Manheim Auctions"/>
          <xsd:enumeration value="Manley Services"/>
          <xsd:enumeration value="Mann Packing Co"/>
          <xsd:enumeration value="Mantrose Bradshaw Zinsser Group"/>
          <xsd:enumeration value="Manufacturing"/>
          <xsd:enumeration value="Mapco"/>
          <xsd:enumeration value="Maple Leaf Meats"/>
          <xsd:enumeration value="Maplehurst Bakeries"/>
          <xsd:enumeration value="Marathon Oil Company"/>
          <xsd:enumeration value="Marathon Petroleum"/>
          <xsd:enumeration value="Market Facts Inc"/>
          <xsd:enumeration value="Marketing Services"/>
          <xsd:enumeration value="Marketing Support Services"/>
          <xsd:enumeration value="Marlo Engineered Coil"/>
          <xsd:enumeration value="Maroone Automotive Group"/>
          <xsd:enumeration value="Marsh &amp; McLennan Capital"/>
          <xsd:enumeration value="Marsh Inc"/>
          <xsd:enumeration value="Marshall Fields"/>
          <xsd:enumeration value="Martin Decker"/>
          <xsd:enumeration value="Martin Marietta Energy Systems"/>
          <xsd:enumeration value="Martin Mathys"/>
          <xsd:enumeration value="Maryland Club Foods"/>
          <xsd:enumeration value="Masonite"/>
          <xsd:enumeration value="Mast Industries"/>
          <xsd:enumeration value="Master Lock Company"/>
          <xsd:enumeration value="MasterBrand Industries Inc"/>
          <xsd:enumeration value="Matrix Essentials"/>
          <xsd:enumeration value="Max Factor"/>
          <xsd:enumeration value="Maycor Appliance Parts &amp; Sv"/>
          <xsd:enumeration value="Mayfran International"/>
          <xsd:enumeration value="McCartney Mfg Co Inc"/>
          <xsd:enumeration value="McCarty Foods Inc"/>
          <xsd:enumeration value="McCullagh Leasing"/>
          <xsd:enumeration value="McDonnell Douglas"/>
          <xsd:enumeration value="McGavin Foods Ltd"/>
          <xsd:enumeration value="McGill Mfg Co Inc"/>
          <xsd:enumeration value="McGraw Edison"/>
          <xsd:enumeration value="McKesson Drug"/>
          <xsd:enumeration value="McKesson Water Products"/>
          <xsd:enumeration value="McLane Company, Inc."/>
          <xsd:enumeration value="McNeil Pharmaceutical"/>
          <xsd:enumeration value="MDR Management"/>
          <xsd:enumeration value="Mead Johnson Laboratories"/>
          <xsd:enumeration value="Meadville Medical Center"/>
          <xsd:enumeration value="MediaOne Group"/>
          <xsd:enumeration value="Medi-Physics Inc"/>
          <xsd:enumeration value="Meldisco"/>
          <xsd:enumeration value="Memorial Health Care System"/>
          <xsd:enumeration value="Mennen Company"/>
          <xsd:enumeration value="Mercedes Benz"/>
          <xsd:enumeration value="Mercedes-Benz"/>
          <xsd:enumeration value="Mercer Consulting Group"/>
          <xsd:enumeration value="Merck - Canada"/>
          <xsd:enumeration value="Merck - UK"/>
          <xsd:enumeration value="Mercy Health Network"/>
          <xsd:enumeration value="Mercy Hospital - Pittsburgh"/>
          <xsd:enumeration value="Mercy Psychiatric Institute"/>
          <xsd:enumeration value="Meredith Corporation"/>
          <xsd:enumeration value="Mervyn's"/>
          <xsd:enumeration value="Messaging Information &amp; Media"/>
          <xsd:enumeration value="Metal Forge"/>
          <xsd:enumeration value="Metalux Lighting"/>
          <xsd:enumeration value="Methodist Healthcare System-San Antonio"/>
          <xsd:enumeration value="Metromail Corp"/>
          <xsd:enumeration value="MetroNet Communications Corp"/>
          <xsd:enumeration value="Metropolitan Edison"/>
          <xsd:enumeration value="Metropolitan Life Insurance"/>
          <xsd:enumeration value="Miami Foods Ltd"/>
          <xsd:enumeration value="Micro Motion Inc"/>
          <xsd:enumeration value="Micropump"/>
          <xsd:enumeration value="Mid-America Division"/>
          <xsd:enumeration value="Mid-America Division-TriStar Health Sys"/>
          <xsd:enumeration value="Mid-South Utilities"/>
          <xsd:enumeration value="Midwest Division"/>
          <xsd:enumeration value="Midwest Express Airlines In"/>
          <xsd:enumeration value="Miller Electric Manufacturing"/>
          <xsd:enumeration value="Mills"/>
          <xsd:enumeration value="Minigrip Zip-Pak"/>
          <xsd:enumeration value="Mining &amp; Construction Equipment Division"/>
          <xsd:enumeration value="Ministry Health Care"/>
          <xsd:enumeration value="Minnesota Rubber"/>
          <xsd:enumeration value="Mission Hills Propiedades"/>
          <xsd:enumeration value="Missouri Pacific Railroad C"/>
          <xsd:enumeration value="Mobay Corporation"/>
          <xsd:enumeration value="Mobile Products Division"/>
          <xsd:enumeration value="Moen Inc"/>
          <xsd:enumeration value="Mohawk Finishing Products Inc"/>
          <xsd:enumeration value="Moirs"/>
          <xsd:enumeration value="Monarch Marking Systems"/>
          <xsd:enumeration value="Monet Jewelers"/>
          <xsd:enumeration value="Monfort Inc"/>
          <xsd:enumeration value="Morflex Inc"/>
          <xsd:enumeration value="Mossville Engines &amp; Foundry Division"/>
          <xsd:enumeration value="Motion &amp; Control Training"/>
          <xsd:enumeration value="Motorola Inc - Canada"/>
          <xsd:enumeration value="Motorola Inc - UK"/>
          <xsd:enumeration value="Motorola University"/>
          <xsd:enumeration value="Motts Usa"/>
          <xsd:enumeration value="Mount Vernon Plastics Corp"/>
          <xsd:enumeration value="Moyno"/>
          <xsd:enumeration value="Mrs Smith's Frozen Foods"/>
          <xsd:enumeration value="Mt Sinai Hospital"/>
          <xsd:enumeration value="Nabisco"/>
          <xsd:enumeration value="NAIG"/>
          <xsd:enumeration value="Nashville Health Care Group"/>
          <xsd:enumeration value="National Automotive Parts Association"/>
          <xsd:enumeration value="National Capital Commission"/>
          <xsd:enumeration value="National Car Rental System"/>
          <xsd:enumeration value="National Convenience Stores"/>
          <xsd:enumeration value="National Defense"/>
          <xsd:enumeration value="National Grocers"/>
          <xsd:enumeration value="National Research Council - Canada"/>
          <xsd:enumeration value="National Starch &amp; Chemical"/>
          <xsd:enumeration value="National Westminster Bank"/>
          <xsd:enumeration value="Natural Resources Canada"/>
          <xsd:enumeration value="NavCanada"/>
          <xsd:enumeration value="NBD Of Indianapolis"/>
          <xsd:enumeration value="NCR - Canada"/>
          <xsd:enumeration value="NCR - United Kingdom"/>
          <xsd:enumeration value="Nebraska Furniture Mart, Inc."/>
          <xsd:enumeration value="Neptune"/>
          <xsd:enumeration value="Netherlands Insurance Co"/>
          <xsd:enumeration value="Nevamar Corporation"/>
          <xsd:enumeration value="NewYork-Presbyterian Hospital"/>
          <xsd:enumeration value="Nicholson File"/>
          <xsd:enumeration value="Nicolet Paper Company"/>
          <xsd:enumeration value="NN Financial"/>
          <xsd:enumeration value="Noramco Inc"/>
          <xsd:enumeration value="Norden Systems Inc"/>
          <xsd:enumeration value="Nordion International"/>
          <xsd:enumeration value="Norlight Telecommunications"/>
          <xsd:enumeration value="Norplex Oak"/>
          <xsd:enumeration value="North American Commercial Division"/>
          <xsd:enumeration value="North Florida Division"/>
          <xsd:enumeration value="North Star Steel"/>
          <xsd:enumeration value="North Texas Division"/>
          <xsd:enumeration value="Northern CA (AAA)"/>
          <xsd:enumeration value="Northern Gas of Wyoming"/>
          <xsd:enumeration value="Northern Natural Gas"/>
          <xsd:enumeration value="Northern Telecom - Canada"/>
          <xsd:enumeration value="Northwest Pipeline Corp"/>
          <xsd:enumeration value="Norwest Publishing Company"/>
          <xsd:enumeration value="Novartis"/>
          <xsd:enumeration value="Novation"/>
          <xsd:enumeration value="NRT Incorporated"/>
          <xsd:enumeration value="Nutrinova"/>
          <xsd:enumeration value="Nutritionals"/>
          <xsd:enumeration value="Office and Consumer Products"/>
          <xsd:enumeration value="Office Building Association"/>
          <xsd:enumeration value="Office Imaging"/>
          <xsd:enumeration value="Officeworks"/>
          <xsd:enumeration value="Ohio Brass Co"/>
          <xsd:enumeration value="Ohio Edison"/>
          <xsd:enumeration value="Ohmeda"/>
          <xsd:enumeration value="Oildyne Division"/>
          <xsd:enumeration value="Oliver Rubber Co"/>
          <xsd:enumeration value="Olivieri Foods"/>
          <xsd:enumeration value="OMNI Superstores"/>
          <xsd:enumeration value="Omstead Foods Limited"/>
          <xsd:enumeration value="Onan Corporation"/>
          <xsd:enumeration value="Oncology Therapeutics Network"/>
          <xsd:enumeration value="Onsite Success Services"/>
          <xsd:enumeration value="Option One Corp"/>
          <xsd:enumeration value="Orbitz"/>
          <xsd:enumeration value="Ore-Ida Foods Inc"/>
          <xsd:enumeration value="Orlando Foods"/>
          <xsd:enumeration value="Orlando Health Care Group"/>
          <xsd:enumeration value="Ortho Pharmaceutical"/>
          <xsd:enumeration value="Oscar Mayer Foods"/>
          <xsd:enumeration value="OTC SPX"/>
          <xsd:enumeration value="Other Health Care"/>
          <xsd:enumeration value="Otis Elevator"/>
          <xsd:enumeration value="Ottawa Civic Hospital"/>
          <xsd:enumeration value="Pacific Electricord Company"/>
          <xsd:enumeration value="Packaging"/>
          <xsd:enumeration value="Packaging Division"/>
          <xsd:enumeration value="Palmetto Capital Inc"/>
          <xsd:enumeration value="Pannill Knitting"/>
          <xsd:enumeration value="Paper Division"/>
          <xsd:enumeration value="Parke-Davis"/>
          <xsd:enumeration value="Parker Hannifin - Canada"/>
          <xsd:enumeration value="Parker Hannifin - UK"/>
          <xsd:enumeration value="Parkview Hospital"/>
          <xsd:enumeration value="Parts &amp; Service Support Division"/>
          <xsd:enumeration value="Pathetek"/>
          <xsd:enumeration value="Pathmark"/>
          <xsd:enumeration value="Patient Account Services"/>
          <xsd:enumeration value="Patterson &amp; Associates"/>
          <xsd:enumeration value="Paul Revere Corp"/>
          <xsd:enumeration value="Payless Shoe Source"/>
          <xsd:enumeration value="PCS Health Systems"/>
          <xsd:enumeration value="Peabody Holding Co"/>
          <xsd:enumeration value="Pearle Vision"/>
          <xsd:enumeration value="PECO Energy"/>
          <xsd:enumeration value="Pecten Poliester Manufacturas"/>
          <xsd:enumeration value="Penn Power"/>
          <xsd:enumeration value="Pennsylvania Electric"/>
          <xsd:enumeration value="People's Gas"/>
          <xsd:enumeration value="Peoples Natural Gas"/>
          <xsd:enumeration value="Pepsi Bottling Group"/>
          <xsd:enumeration value="Pepsiamericas"/>
          <xsd:enumeration value="PepsiCo Business Solutions Group"/>
          <xsd:enumeration value="PepsiCo Food Services - Can"/>
          <xsd:enumeration value="PepsiCo Food Services - UK"/>
          <xsd:enumeration value="Pepsi-Cola"/>
          <xsd:enumeration value="Perfetti Van Melle Confectionery"/>
          <xsd:enumeration value="Perfetti Van Melle USA"/>
          <xsd:enumeration value="Perlman-Rocque"/>
          <xsd:enumeration value="Perose-St.Francis Health Services"/>
          <xsd:enumeration value="Perrier Group Of America"/>
          <xsd:enumeration value="Pestritto Foods Inc"/>
          <xsd:enumeration value="Pet Foods"/>
          <xsd:enumeration value="Pet Operations - Mexico"/>
          <xsd:enumeration value="Peter Paul Candy Co"/>
          <xsd:enumeration value="Pexco"/>
          <xsd:enumeration value="Pfaudler"/>
          <xsd:enumeration value="Pfizer Global Manufacturing"/>
          <xsd:enumeration value="Pfizer Inc - Canada"/>
          <xsd:enumeration value="Pfizer Pharmaceuticals"/>
          <xsd:enumeration value="Pharmaceuticals"/>
          <xsd:enumeration value="Pharmacity Heartland Drug"/>
          <xsd:enumeration value="PHH Corporation"/>
          <xsd:enumeration value="Philip Morris International"/>
          <xsd:enumeration value="Philip Morris U.S.A."/>
          <xsd:enumeration value="Philips Air Distribution"/>
          <xsd:enumeration value="Philips Industries"/>
          <xsd:enumeration value="Pillsbury"/>
          <xsd:enumeration value="Pioneer Hi-Bred"/>
          <xsd:enumeration value="Pioneer Products"/>
          <xsd:enumeration value="Pizza Hut"/>
          <xsd:enumeration value="Plastics"/>
          <xsd:enumeration value="Playtex Dorado Corporation"/>
          <xsd:enumeration value="Pleasant Company"/>
          <xsd:enumeration value="PMS Consolidated"/>
          <xsd:enumeration value="Poland Spring Water"/>
          <xsd:enumeration value="Polar Water"/>
          <xsd:enumeration value="Portfolio"/>
          <xsd:enumeration value="Portion Pac Inc"/>
          <xsd:enumeration value="PPG Canada Inc"/>
          <xsd:enumeration value="Pratt &amp; Whitney"/>
          <xsd:enumeration value="Premcor Inc"/>
          <xsd:enumeration value="Premier"/>
          <xsd:enumeration value="Premier Health Partners"/>
          <xsd:enumeration value="Pressure-Sensitive Materials"/>
          <xsd:enumeration value="Primark Tool"/>
          <xsd:enumeration value="Primester"/>
          <xsd:enumeration value="Prism"/>
          <xsd:enumeration value="Pro Bakers Ltd"/>
          <xsd:enumeration value="Pro Pastries Inc"/>
          <xsd:enumeration value="Productivity Resource Cente"/>
          <xsd:enumeration value="Professional &amp; Printing Imaging"/>
          <xsd:enumeration value="Professional Service"/>
          <xsd:enumeration value="Progressive Distributors"/>
          <xsd:enumeration value="Promotion Information Mgmt"/>
          <xsd:enumeration value="Promus Hotels"/>
          <xsd:enumeration value="Protective/Specialty Packaging"/>
          <xsd:enumeration value="Prudential Health Care Syst"/>
          <xsd:enumeration value="Pryor Management"/>
          <xsd:enumeration value="PSI Energy"/>
          <xsd:enumeration value="Public Service Commission"/>
          <xsd:enumeration value="Pulsafeeder"/>
          <xsd:enumeration value="Putnam Investments"/>
          <xsd:enumeration value="Quadion Tool Products"/>
          <xsd:enumeration value="Quaker Oats Company"/>
          <xsd:enumeration value="Qualex Inc"/>
          <xsd:enumeration value="Quality Wire Corp"/>
          <xsd:enumeration value="Quebecor Printing"/>
          <xsd:enumeration value="Quest International"/>
          <xsd:enumeration value="Quick &amp; Reilly Group"/>
          <xsd:enumeration value="Quorum Health Resources"/>
          <xsd:enumeration value="R W Beckett Corporation"/>
          <xsd:enumeration value="Radiant Color"/>
          <xsd:enumeration value="Rainbow Casino"/>
          <xsd:enumeration value="Ralphs Grocery Company"/>
          <xsd:enumeration value="Ramada Inc"/>
          <xsd:enumeration value="Rancocas Hospital"/>
          <xsd:enumeration value="Rawson Drug Company"/>
          <xsd:enumeration value="Rawson Food Service"/>
          <xsd:enumeration value="Raymond Walters College"/>
          <xsd:enumeration value="Raytheon Appliance Div"/>
          <xsd:enumeration value="RCA Corporation"/>
          <xsd:enumeration value="RCI Travel"/>
          <xsd:enumeration value="Ready-Bake Foods"/>
          <xsd:enumeration value="Real Estate Services"/>
          <xsd:enumeration value="Reality Group"/>
          <xsd:enumeration value="Realogy Franchise Group"/>
          <xsd:enumeration value="Reilly Chemicals"/>
          <xsd:enumeration value="Reliance Electric"/>
          <xsd:enumeration value="Remarketing Services of America"/>
          <xsd:enumeration value="Renaissance Health Care"/>
          <xsd:enumeration value="Renal Care Group"/>
          <xsd:enumeration value="Republic Powdered Metals Inc"/>
          <xsd:enumeration value="Research &amp; Development"/>
          <xsd:enumeration value="Resort Condominiums Intl"/>
          <xsd:enumeration value="Retail Information Services"/>
          <xsd:enumeration value="Retail Services"/>
          <xsd:enumeration value="Revenue Canada"/>
          <xsd:enumeration value="RFP Exchange"/>
          <xsd:enumeration value="Rhone-Poulenc"/>
          <xsd:enumeration value="Richard E Thibaut Inc"/>
          <xsd:enumeration value="Richardson-Vicks"/>
          <xsd:enumeration value="Ridge Tool Co"/>
          <xsd:enumeration value="Risk, Marketing, Finance"/>
          <xsd:enumeration value="Roanoke Times &amp; World News"/>
          <xsd:enumeration value="Roberts Express"/>
          <xsd:enumeration value="Roche Biomedical"/>
          <xsd:enumeration value="Rocky Mountain Natural Gas"/>
          <xsd:enumeration value="Rodney Metals"/>
          <xsd:enumeration value="Rohm &amp; Hass"/>
          <xsd:enumeration value="Rona Inc"/>
          <xsd:enumeration value="Ronzoni Foods Corporation"/>
          <xsd:enumeration value="Rosemount Inc"/>
          <xsd:enumeration value="Ross Products"/>
          <xsd:enumeration value="Rotterdam"/>
          <xsd:enumeration value="Rowntree Mackintosh"/>
          <xsd:enumeration value="Royal Canadian Mint"/>
          <xsd:enumeration value="Royal Ottawa Hospital"/>
          <xsd:enumeration value="RPM Belgium"/>
          <xsd:enumeration value="RPS Inc"/>
          <xsd:enumeration value="Rush/Prudential"/>
          <xsd:enumeration value="Ruskin Manufacturing"/>
          <xsd:enumeration value="Rust-Oleum Corp"/>
          <xsd:enumeration value="S C Johnson &amp; Son Inc - Can"/>
          <xsd:enumeration value="S C Johnson &amp; Son Inc - UK"/>
          <xsd:enumeration value="SAIA Motor Freight"/>
          <xsd:enumeration value="Saint Clare's Health System"/>
          <xsd:enumeration value="Sales"/>
          <xsd:enumeration value="San Antonio Partnership"/>
          <xsd:enumeration value="San Giorgio Macaroni Co"/>
          <xsd:enumeration value="Sandoz"/>
          <xsd:enumeration value="Sanford"/>
          <xsd:enumeration value="Sawmills &amp; Second Transformation Mills"/>
          <xsd:enumeration value="S-B Power Tool Company"/>
          <xsd:enumeration value="Scantron Corp"/>
          <xsd:enumeration value="Schick"/>
          <xsd:enumeration value="Schlage Lock Company"/>
          <xsd:enumeration value="Scicor Inc"/>
          <xsd:enumeration value="Scottsdale Insurance"/>
          <xsd:enumeration value="Scurlock Oil Co"/>
          <xsd:enumeration value="Sea World Corporation"/>
          <xsd:enumeration value="Seabury &amp; Smith Inc"/>
          <xsd:enumeration value="Seagram &amp; Sons"/>
          <xsd:enumeration value="Seal Group"/>
          <xsd:enumeration value="Sealed Power"/>
          <xsd:enumeration value="Sealmaster Bearings"/>
          <xsd:enumeration value="Sebring Power"/>
          <xsd:enumeration value="Secur"/>
          <xsd:enumeration value="Security and Safety"/>
          <xsd:enumeration value="Select Benefit Administrators"/>
          <xsd:enumeration value="Self Help Community Center"/>
          <xsd:enumeration value="Semiconductor Products Sector"/>
          <xsd:enumeration value="Sensall"/>
          <xsd:enumeration value="Sensitized Goods Mfg"/>
          <xsd:enumeration value="Sentrol"/>
          <xsd:enumeration value="Sentry Polymers"/>
          <xsd:enumeration value="Service Products Company Inc"/>
          <xsd:enumeration value="Services De Paie Des Jardins"/>
          <xsd:enumeration value="Setco Inc"/>
          <xsd:enumeration value="Sewickley Valley Hospital"/>
          <xsd:enumeration value="Shared Services Group"/>
          <xsd:enumeration value="Shell Oil Co - Canada"/>
          <xsd:enumeration value="Shell Oil Co - UK"/>
          <xsd:enumeration value="Shin Caterpillar Mitsubishi, Ltd"/>
          <xsd:enumeration value="Siecor Corp"/>
          <xsd:enumeration value="Sierra On-Line Inc"/>
          <xsd:enumeration value="Signode"/>
          <xsd:enumeration value="Simian Co Inc"/>
          <xsd:enumeration value="Simmonds Precision"/>
          <xsd:enumeration value="Sisters of St. Joseph Health System"/>
          <xsd:enumeration value="Skil Corporation"/>
          <xsd:enumeration value="Skinner Macaroni Company"/>
          <xsd:enumeration value="Slim-Fast Foods"/>
          <xsd:enumeration value="Small Business"/>
          <xsd:enumeration value="Smart &amp; Final"/>
          <xsd:enumeration value="Smith Fiberglass Products"/>
          <xsd:enumeration value="SmithKline Beecham"/>
          <xsd:enumeration value="Smiths Detection"/>
          <xsd:enumeration value="Society Corporation"/>
          <xsd:enumeration value="Society National Bank"/>
          <xsd:enumeration value="Softsoap Enterprises Inc"/>
          <xsd:enumeration value="Solar Turbines"/>
          <xsd:enumeration value="Solicitor General"/>
          <xsd:enumeration value="Somerset Community Hospital"/>
          <xsd:enumeration value="Somerville Building Materia"/>
          <xsd:enumeration value="Sony Electronics"/>
          <xsd:enumeration value="Sony Music"/>
          <xsd:enumeration value="South Carolina Elec &amp; Gas"/>
          <xsd:enumeration value="South Hills Health System"/>
          <xsd:enumeration value="Southeast Division"/>
          <xsd:enumeration value="Southeast Division-Florida Region"/>
          <xsd:enumeration value="Southeast Division-Gulf States Region"/>
          <xsd:enumeration value="Southeast Division-Southern States Reg"/>
          <xsd:enumeration value="Southeastern Health Service"/>
          <xsd:enumeration value="Southern CA (AAA)"/>
          <xsd:enumeration value="Southern California Region"/>
          <xsd:enumeration value="Southern Foods Inc"/>
          <xsd:enumeration value="Southern Hospitality"/>
          <xsd:enumeration value="Southwest Chemical Svcs"/>
          <xsd:enumeration value="Space Systems"/>
          <xsd:enumeration value="Spartan Express"/>
          <xsd:enumeration value="Specialty Chemicals"/>
          <xsd:enumeration value="Specialty Materials"/>
          <xsd:enumeration value="Specialty Polymers &amp; Chemicals"/>
          <xsd:enumeration value="Spectra Renal Management"/>
          <xsd:enumeration value="Spring City Knitting"/>
          <xsd:enumeration value="Squibb &amp; Sons"/>
          <xsd:enumeration value="St Agnes Med Ctr-Philadelph"/>
          <xsd:enumeration value="St Josephs Hospital-Lancast"/>
          <xsd:enumeration value="St Josephs Hospital-Reading"/>
          <xsd:enumeration value="St Laurent Paperboard"/>
          <xsd:enumeration value="St Marys Hospital-Langhorne"/>
          <xsd:enumeration value="St. John Health System"/>
          <xsd:enumeration value="St. Joseph Regional Health Network"/>
          <xsd:enumeration value="St. Mary's Healthcare Center"/>
          <xsd:enumeration value="St. Vincent Health System"/>
          <xsd:enumeration value="Staff Development"/>
          <xsd:enumeration value="Stafford Foods Inc"/>
          <xsd:enumeration value="Stanton &amp; Associates"/>
          <xsd:enumeration value="StarKist"/>
          <xsd:enumeration value="Star-Kist Inc"/>
          <xsd:enumeration value="State Fair Foods"/>
          <xsd:enumeration value="State of Alabama"/>
          <xsd:enumeration value="State of Alaska"/>
          <xsd:enumeration value="State of Arizona"/>
          <xsd:enumeration value="State of Arkansas"/>
          <xsd:enumeration value="State of California"/>
          <xsd:enumeration value="State of Colorado"/>
          <xsd:enumeration value="State of Connecticut"/>
          <xsd:enumeration value="State Of Delaware"/>
          <xsd:enumeration value="State Of Florida"/>
          <xsd:enumeration value="State of Georgia"/>
          <xsd:enumeration value="State of Hawaii"/>
          <xsd:enumeration value="State of Idaho"/>
          <xsd:enumeration value="State of Illinois"/>
          <xsd:enumeration value="State of Indiana"/>
          <xsd:enumeration value="State of Iowa"/>
          <xsd:enumeration value="State of Kansas"/>
          <xsd:enumeration value="State of Kentucky"/>
          <xsd:enumeration value="State of Louisiana"/>
          <xsd:enumeration value="State of Maine"/>
          <xsd:enumeration value="State of Maryland"/>
          <xsd:enumeration value="State of Massachusetts"/>
          <xsd:enumeration value="State of Michigan"/>
          <xsd:enumeration value="State of Minnesota"/>
          <xsd:enumeration value="State of Mississippi"/>
          <xsd:enumeration value="State of Missouri"/>
          <xsd:enumeration value="State of Montana"/>
          <xsd:enumeration value="State of Nebraska"/>
          <xsd:enumeration value="State of Nevada"/>
          <xsd:enumeration value="State of New Hampshire"/>
          <xsd:enumeration value="State of New Jersey"/>
          <xsd:enumeration value="State of New Mexico"/>
          <xsd:enumeration value="State of New York"/>
          <xsd:enumeration value="State of North Carolina"/>
          <xsd:enumeration value="State of North Dakota"/>
          <xsd:enumeration value="State of Ohio"/>
          <xsd:enumeration value="State of Oklahoma"/>
          <xsd:enumeration value="State of Oregon"/>
          <xsd:enumeration value="State of Pennsylvania"/>
          <xsd:enumeration value="State of Rhode Island"/>
          <xsd:enumeration value="State of South Carolina"/>
          <xsd:enumeration value="State of South Dakota"/>
          <xsd:enumeration value="State of Tennessee"/>
          <xsd:enumeration value="State of Texas"/>
          <xsd:enumeration value="State of Utah"/>
          <xsd:enumeration value="State of Vermont"/>
          <xsd:enumeration value="State of Virginia"/>
          <xsd:enumeration value="State of Washington"/>
          <xsd:enumeration value="State of West Virginia"/>
          <xsd:enumeration value="State of Wisconsin"/>
          <xsd:enumeration value="State of Wyoming"/>
          <xsd:enumeration value="State Street Bank"/>
          <xsd:enumeration value="Statistics Canada"/>
          <xsd:enumeration value="Staybridge Suites"/>
          <xsd:enumeration value="Steak - N - Shake"/>
          <xsd:enumeration value="Stedman Corporation"/>
          <xsd:enumeration value="Steel Cord"/>
          <xsd:enumeration value="Steelcase Canada Inc"/>
          <xsd:enumeration value="Sterling Corp/Drug/Intl"/>
          <xsd:enumeration value="Stero Company"/>
          <xsd:enumeration value="Stewart Connector Systems"/>
          <xsd:enumeration value="Stolle Products"/>
          <xsd:enumeration value="Stone Container Corp"/>
          <xsd:enumeration value="Stonhard Inc"/>
          <xsd:enumeration value="Stop &amp; Shop"/>
          <xsd:enumeration value="Stop N Go"/>
          <xsd:enumeration value="STOP-N-GO"/>
          <xsd:enumeration value="Strathmore Paper Company"/>
          <xsd:enumeration value="Stroehmann Bakeries"/>
          <xsd:enumeration value="Structure"/>
          <xsd:enumeration value="Style Magazine"/>
          <xsd:enumeration value="Sulzer Bingham Pumps Inc"/>
          <xsd:enumeration value="Sulzer Canada Inc"/>
          <xsd:enumeration value="Sulzer Metco Inc"/>
          <xsd:enumeration value="Sulzer Orthopedics"/>
          <xsd:enumeration value="Sulzer Ruti Inc"/>
          <xsd:enumeration value="Sulzermedica USA Inc"/>
          <xsd:enumeration value="Sun Life"/>
          <xsd:enumeration value="SunAmerica Inc"/>
          <xsd:enumeration value="Sundor Brands Corporation"/>
          <xsd:enumeration value="Super 8 Motels"/>
          <xsd:enumeration value="SuperAmerica"/>
          <xsd:enumeration value="Superior Metal Products"/>
          <xsd:enumeration value="Supply Chain"/>
          <xsd:enumeration value="SUPRA Products"/>
          <xsd:enumeration value="Surgical Care Affiliates"/>
          <xsd:enumeration value="Suspension Components Inc"/>
          <xsd:enumeration value="Systagenix"/>
          <xsd:enumeration value="System One Corporation"/>
          <xsd:enumeration value="Systems &amp; Electronics Inc"/>
          <xsd:enumeration value="Sytech"/>
          <xsd:enumeration value="Taco Bell"/>
          <xsd:enumeration value="Tafa Inc"/>
          <xsd:enumeration value="Talecris Plasma Resources"/>
          <xsd:enumeration value="Tampa Electric"/>
          <xsd:enumeration value="Tampa Foods"/>
          <xsd:enumeration value="Tampa Health Care Group"/>
          <xsd:enumeration value="Tara Foods"/>
          <xsd:enumeration value="Tasty Frozen Products Inc"/>
          <xsd:enumeration value="Taylor Publishing Co"/>
          <xsd:enumeration value="TCI Inc"/>
          <xsd:enumeration value="Technical Materials Inc"/>
          <xsd:enumeration value="Technical Services Division"/>
          <xsd:enumeration value="Technology &amp; Operations"/>
          <xsd:enumeration value="TECO Transport &amp; Trade"/>
          <xsd:enumeration value="Telecommunications"/>
          <xsd:enumeration value="Tenaris"/>
          <xsd:enumeration value="Tenaris Buenos Aries"/>
          <xsd:enumeration value="Tenaris Global Services"/>
          <xsd:enumeration value="Tenaris Mexico"/>
          <xsd:enumeration value="Tenaris University"/>
          <xsd:enumeration value="Tennessee Eastman"/>
          <xsd:enumeration value="Terumo Cardiovascular Systems"/>
          <xsd:enumeration value="Testor Corp"/>
          <xsd:enumeration value="Tetra"/>
          <xsd:enumeration value="Texas"/>
          <xsd:enumeration value="Texas Eastman"/>
          <xsd:enumeration value="Texas Gas Transmission"/>
          <xsd:enumeration value="The Loyalty Group"/>
          <xsd:enumeration value="Thermal Components Inc"/>
          <xsd:enumeration value="Thermo King"/>
          <xsd:enumeration value="Therm-o-disc"/>
          <xsd:enumeration value="Thilmany"/>
          <xsd:enumeration value="Things Remembered"/>
          <xsd:enumeration value="Thomas J Lipton Co"/>
          <xsd:enumeration value="Thompson Consumer"/>
          <xsd:enumeration value="Thompson Tractor"/>
          <xsd:enumeration value="Thompson-Minwax"/>
          <xsd:enumeration value="Thrall Car Mgr Co"/>
          <xsd:enumeration value="Thrift Drug Co"/>
          <xsd:enumeration value="Ticona"/>
          <xsd:enumeration value="Time Warner Cable/Pgh PA On"/>
          <xsd:enumeration value="Tipp City, Ohio Division"/>
          <xsd:enumeration value="Title Research Group"/>
          <xsd:enumeration value="Titleist"/>
          <xsd:enumeration value="Titus Products"/>
          <xsd:enumeration value="T-Mobile"/>
          <xsd:enumeration value="Toledo Edison"/>
          <xsd:enumeration value="Tops Markets"/>
          <xsd:enumeration value="Toromont"/>
          <xsd:enumeration value="Torrington Co"/>
          <xsd:enumeration value="Total Petroleum"/>
          <xsd:enumeration value="Tower Automotive"/>
          <xsd:enumeration value="Townsend"/>
          <xsd:enumeration value="Toyoda Gosei Co"/>
          <xsd:enumeration value="Toyota Financial Services"/>
          <xsd:enumeration value="Toyota Motor Sales USA"/>
          <xsd:enumeration value="TPI Restaurants"/>
          <xsd:enumeration value="Track Type Tractors Divsion"/>
          <xsd:enumeration value="Training &amp; Development Canada"/>
          <xsd:enumeration value="TrainingServer Learning Mgmt System"/>
          <xsd:enumeration value="Trane"/>
          <xsd:enumeration value="Transaction/Network Services"/>
          <xsd:enumeration value="TransAmerica Corp"/>
          <xsd:enumeration value="Transcontinental Gas Pipeline Corp"/>
          <xsd:enumeration value="Transportation Systems"/>
          <xsd:enumeration value="Travel Channel (The)"/>
          <xsd:enumeration value="Travel Distribution Services"/>
          <xsd:enumeration value="Travelport Americas"/>
          <xsd:enumeration value="Tremco Inc"/>
          <xsd:enumeration value="Triad Hospitals, Inc."/>
          <xsd:enumeration value="TriHealth"/>
          <xsd:enumeration value="Trim Masters"/>
          <xsd:enumeration value="Trinity Health System"/>
          <xsd:enumeration value="TripAdvisor"/>
          <xsd:enumeration value="U.S. Fence"/>
          <xsd:enumeration value="Ulster Bank Ltd"/>
          <xsd:enumeration value="Ultramar"/>
          <xsd:enumeration value="Unicom Enterprises"/>
          <xsd:enumeration value="Union Camp"/>
          <xsd:enumeration value="Union Carbide"/>
          <xsd:enumeration value="Union Envelope Company"/>
          <xsd:enumeration value="Uniontown Hospital"/>
          <xsd:enumeration value="Uniprise Inc"/>
          <xsd:enumeration value="Uniqerna"/>
          <xsd:enumeration value="Uniroyal Goodrich Tire Co"/>
          <xsd:enumeration value="United Guaranty Corp"/>
          <xsd:enumeration value="United Telephone Systems"/>
          <xsd:enumeration value="Unity Family Healthcare"/>
          <xsd:enumeration value="Unity Healthcare"/>
          <xsd:enumeration value="University HealthSystem Consortium"/>
          <xsd:enumeration value="US Air Force"/>
          <xsd:enumeration value="US Army"/>
          <xsd:enumeration value="US Electrical Motors"/>
          <xsd:enumeration value="US Marines"/>
          <xsd:enumeration value="US Navy"/>
          <xsd:enumeration value="Us Operating Co"/>
          <xsd:enumeration value="US SemperFi"/>
          <xsd:enumeration value="US West"/>
          <xsd:enumeration value="USD Products"/>
          <xsd:enumeration value="UT Automotive"/>
          <xsd:enumeration value="Utility Services"/>
          <xsd:enumeration value="Valero Energy"/>
          <xsd:enumeration value="Valero L.P."/>
          <xsd:enumeration value="Valleylab Inc"/>
          <xsd:enumeration value="Valvoline Inc"/>
          <xsd:enumeration value="Vanguard Health System"/>
          <xsd:enumeration value="Varian Instrument Inc"/>
          <xsd:enumeration value="Varian Medical Systems"/>
          <xsd:enumeration value="Varian Semiconductor Equipment"/>
          <xsd:enumeration value="Vehicle Services"/>
          <xsd:enumeration value="Vehicle Systems Division"/>
          <xsd:enumeration value="Vendor Services"/>
          <xsd:enumeration value="Veratec"/>
          <xsd:enumeration value="Verizon Wireless"/>
          <xsd:enumeration value="Vermont American Corporatio"/>
          <xsd:enumeration value="Versa Corporation"/>
          <xsd:enumeration value="Veterans Affairs"/>
          <xsd:enumeration value="Veyance Technlogies"/>
          <xsd:enumeration value="VHA"/>
          <xsd:enumeration value="Videk"/>
          <xsd:enumeration value="Viking Freight"/>
          <xsd:enumeration value="Viking Pump"/>
          <xsd:enumeration value="Viracon"/>
          <xsd:enumeration value="Virginia"/>
          <xsd:enumeration value="Visa Des Jardins"/>
          <xsd:enumeration value="Voith Hydro Inc"/>
          <xsd:enumeration value="Voith Paper Fabric &amp; Roll Systems"/>
          <xsd:enumeration value="Voith Sulzer Paper Technology"/>
          <xsd:enumeration value="Volume Shoe Company"/>
          <xsd:enumeration value="Vulcan Chemicals"/>
          <xsd:enumeration value="W P Foods"/>
          <xsd:enumeration value="W R Grace"/>
          <xsd:enumeration value="Wachovia"/>
          <xsd:enumeration value="Wachovia Bank"/>
          <xsd:enumeration value="Wagner Brake"/>
          <xsd:enumeration value="Wagner Equipment Co"/>
          <xsd:enumeration value="Warner Lambert"/>
          <xsd:enumeration value="Warren Rupp"/>
          <xsd:enumeration value="Waterloo Industries"/>
          <xsd:enumeration value="Wats Marketing"/>
          <xsd:enumeration value="Wausau Meteal Corp"/>
          <xsd:enumeration value="Weather Channel (The)"/>
          <xsd:enumeration value="Weber Aircraft"/>
          <xsd:enumeration value="Webway"/>
          <xsd:enumeration value="Weight Watchers Intl Inc"/>
          <xsd:enumeration value="Wenco"/>
          <xsd:enumeration value="Wendcoast"/>
          <xsd:enumeration value="Wendy's Restaurant of Canad"/>
          <xsd:enumeration value="Wenesco"/>
          <xsd:enumeration value="Wensouth"/>
          <xsd:enumeration value="West Florida Division"/>
          <xsd:enumeration value="Western Division"/>
          <xsd:enumeration value="Western Division-Northern CA"/>
          <xsd:enumeration value="Western Division-Southern CA 1"/>
          <xsd:enumeration value="Western Division-Southern CA 2"/>
          <xsd:enumeration value="Western Division-Southern CA 3"/>
          <xsd:enumeration value="Western Forge"/>
          <xsd:enumeration value="Western Power"/>
          <xsd:enumeration value="Western Union Insurance Co"/>
          <xsd:enumeration value="Westinghouse Canada"/>
          <xsd:enumeration value="Westmoreland Hospital"/>
          <xsd:enumeration value="Whayne Supply Co"/>
          <xsd:enumeration value="Wheel Loaders &amp; Excavators Division"/>
          <xsd:enumeration value="White Consolidated Industries"/>
          <xsd:enumeration value="Whitehall Robins"/>
          <xsd:enumeration value="Willbros Usa Inc"/>
          <xsd:enumeration value="Williams Advanced Materials"/>
          <xsd:enumeration value="Williams Communications Group"/>
          <xsd:enumeration value="Williams Companies Inc"/>
          <xsd:enumeration value="Williams Energy Services"/>
          <xsd:enumeration value="Williams Pipeline Company"/>
          <xsd:enumeration value="Windsor Mfg"/>
          <xsd:enumeration value="Windstream Yellow Pages"/>
          <xsd:enumeration value="Winners Corp"/>
          <xsd:enumeration value="Wisconsin Protective Coatings Corp"/>
          <xsd:enumeration value="Wm Zinsser &amp; Co Inc"/>
          <xsd:enumeration value="Womens Health - Generics"/>
          <xsd:enumeration value="Worldspan"/>
          <xsd:enumeration value="Wright Express Corp"/>
          <xsd:enumeration value="WTVF-TV"/>
          <xsd:enumeration value="Wyeth Pharmaceuticals"/>
          <xsd:enumeration value="Wyndham Vacation Ownership"/>
          <xsd:enumeration value="Xertronix"/>
          <xsd:enumeration value="Y &amp; S Candies"/>
          <xsd:enumeration value="Yusa Corporation"/>
          <xsd:enumeration value="Zausner Foods Corporation"/>
          <xsd:enumeration value="Zep Manufacturing Co"/>
          <xsd:enumeration value="ZF"/>
          <xsd:enumeration value="Zimmer Inc"/>
          <xsd:enumeration value="Zodiac Seats California"/>
          <xsd:enumeration value="Zurbrugg Hospital"/>
        </xsd:restriction>
      </xsd:simpleType>
    </xsd:element>
    <xsd:element name="Document_x0020_Date" ma:index="8" nillable="true" ma:displayName="Document Date" ma:description="Enter or select the date the item was created, not the date you are adding it" ma:format="DateOnly" ma:internalName="Document_x0020_Date">
      <xsd:simpleType>
        <xsd:restriction base="dms:DateTime"/>
      </xsd:simpleType>
    </xsd:element>
    <xsd:element name="Document_x0020_Type" ma:index="9" nillable="true" ma:displayName="Document Type" ma:format="Dropdown" ma:internalName="Document_x0020_Type">
      <xsd:simpleType>
        <xsd:restriction base="dms:Choice">
          <xsd:enumeration value=""/>
          <xsd:enumeration value="Account Plan"/>
          <xsd:enumeration value="Administrator Manual"/>
          <xsd:enumeration value="Agenda / Minutes"/>
          <xsd:enumeration value="Article"/>
          <xsd:enumeration value="Benchmarking Survey Report"/>
          <xsd:enumeration value="Bibliography"/>
          <xsd:enumeration value="Bio"/>
          <xsd:enumeration value="Brochure / LearningLinks"/>
          <xsd:enumeration value="Checklist"/>
          <xsd:enumeration value="Client Information"/>
          <xsd:enumeration value="Client List"/>
          <xsd:enumeration value="Client Success"/>
          <xsd:enumeration value="Communication Plan"/>
          <xsd:enumeration value="Competency Map / Matrix"/>
          <xsd:enumeration value="Competitive Analysis"/>
          <xsd:enumeration value="Consulting Guide"/>
          <xsd:enumeration value="Contract / Agreement"/>
          <xsd:enumeration value="Course at a Glance"/>
          <xsd:enumeration value="Custom Material"/>
          <xsd:enumeration value="Data Collection Tool"/>
          <xsd:enumeration value="Design Document"/>
          <xsd:enumeration value="Details"/>
          <xsd:enumeration value="Development Guide"/>
          <xsd:enumeration value="Directions / At DDI"/>
          <xsd:enumeration value="Executive Summary"/>
          <xsd:enumeration value="Facts"/>
          <xsd:enumeration value="Financial Information"/>
          <xsd:enumeration value="Form"/>
          <xsd:enumeration value="Frequently Asked Questions (FAQs)"/>
          <xsd:enumeration value="Implementation Plan / Timeline"/>
          <xsd:enumeration value="Interview Guide"/>
          <xsd:enumeration value="Investment Summary"/>
          <xsd:enumeration value="Invoice Schedule"/>
          <xsd:enumeration value="Job Aid"/>
          <xsd:enumeration value="Launch Plan"/>
          <xsd:enumeration value="Model"/>
          <xsd:enumeration value="Monograph"/>
          <xsd:enumeration value="Overview"/>
          <xsd:enumeration value="Policy / Procedure"/>
          <xsd:enumeration value="Presentation"/>
          <xsd:enumeration value="Prework"/>
          <xsd:enumeration value="Price List"/>
          <xsd:enumeration value="Product Support"/>
          <xsd:enumeration value="Project Document"/>
          <xsd:enumeration value="Project Profitability Statement"/>
          <xsd:enumeration value="Project Spec Sheet"/>
          <xsd:enumeration value="Project Summary"/>
          <xsd:enumeration value="Project Tool Template"/>
          <xsd:enumeration value="Proposal"/>
          <xsd:enumeration value="Realization Plan"/>
          <xsd:enumeration value="Release Notes &amp; Communications"/>
          <xsd:enumeration value="Research Result"/>
          <xsd:enumeration value="Risk Assessment &amp; Contigency Plan"/>
          <xsd:enumeration value="Roles &amp; Responsibilities"/>
          <xsd:enumeration value="Sales Strategy Blue Sheet"/>
          <xsd:enumeration value="Sales Success"/>
          <xsd:enumeration value="Sample"/>
          <xsd:enumeration value="Scope of Work"/>
          <xsd:enumeration value="Scorecard"/>
          <xsd:enumeration value="Standard Material"/>
          <xsd:enumeration value="Status Document"/>
          <xsd:enumeration value="Technical Diagnostic"/>
          <xsd:enumeration value="Technical Support"/>
          <xsd:enumeration value="User Reference"/>
          <xsd:enumeration value="White Paper"/>
          <xsd:enumeration value="Workbook"/>
        </xsd:restriction>
      </xsd:simpleType>
    </xsd:element>
    <xsd:element name="Family" ma:index="10" nillable="true" ma:displayName="Family" ma:description="Family is the parent of a client or partner company." ma:format="Dropdown" ma:internalName="Family">
      <xsd:simpleType>
        <xsd:restriction base="dms:Choice">
          <xsd:enumeration value=""/>
          <xsd:enumeration value="(The) Gallup Organization"/>
          <xsd:enumeration value="1&amp;1 Internet AG"/>
          <xsd:enumeration value="1199 Funds"/>
          <xsd:enumeration value="1st Source Corporation"/>
          <xsd:enumeration value="24 Hour Fitness Worldwide, Inc"/>
          <xsd:enumeration value="3Com Corp"/>
          <xsd:enumeration value="3D Performance"/>
          <xsd:enumeration value="3i Group plc"/>
          <xsd:enumeration value="3M Company"/>
          <xsd:enumeration value="3M Inc"/>
          <xsd:enumeration value="7-Eleven Inc"/>
          <xsd:enumeration value="84 Lumber"/>
          <xsd:enumeration value="A M Castle"/>
          <xsd:enumeration value="A. Schulman Inc."/>
          <xsd:enumeration value="A.P. Moller - Maersk A/S"/>
          <xsd:enumeration value="AAA Arizona, Inc."/>
          <xsd:enumeration value="AAF McQuay"/>
          <xsd:enumeration value="AARP"/>
          <xsd:enumeration value="AB Electrolux"/>
          <xsd:enumeration value="AB SKF"/>
          <xsd:enumeration value="Abacus Intl Pte Ltd"/>
          <xsd:enumeration value="Abarta Inc."/>
          <xsd:enumeration value="ABB Ltd"/>
          <xsd:enumeration value="Abbott Laboratories"/>
          <xsd:enumeration value="ABC Network Inc"/>
          <xsd:enumeration value="Abercrombie &amp; Fitch"/>
          <xsd:enumeration value="Abitibi Consolidated"/>
          <xsd:enumeration value="Abitibibowater Inc"/>
          <xsd:enumeration value="ABM Industries Inc"/>
          <xsd:enumeration value="ABN AMRO Inc"/>
          <xsd:enumeration value="Aboitiz Equity Ventures"/>
          <xsd:enumeration value="ABS-CBN"/>
          <xsd:enumeration value="ABX Holdings Inc"/>
          <xsd:enumeration value="Academy Sports &amp; Outdoors"/>
          <xsd:enumeration value="Accellent"/>
          <xsd:enumeration value="Accenture"/>
          <xsd:enumeration value="Accenture plc"/>
          <xsd:enumeration value="Acco Brands"/>
          <xsd:enumeration value="Accor"/>
          <xsd:enumeration value="Accord Health Care Corp"/>
          <xsd:enumeration value="Accredo Health"/>
          <xsd:enumeration value="Accuride"/>
          <xsd:enumeration value="ACE Cash Express Inc"/>
          <xsd:enumeration value="Ace Hardware Corporation"/>
          <xsd:enumeration value="ACE Limited"/>
          <xsd:enumeration value="Acelity"/>
          <xsd:enumeration value="Acer America Corporation"/>
          <xsd:enumeration value="Acetex Corporation"/>
          <xsd:enumeration value="AchieveGlobal"/>
          <xsd:enumeration value="ACIPCO"/>
          <xsd:enumeration value="Acnielsen Corp"/>
          <xsd:enumeration value="ACT"/>
          <xsd:enumeration value="Actavis, Inc."/>
          <xsd:enumeration value="Active Minerals International"/>
          <xsd:enumeration value="Activision Blizzard"/>
          <xsd:enumeration value="Actuant Corporation"/>
          <xsd:enumeration value="Acuity Brands, Inc."/>
          <xsd:enumeration value="Acxiom Corporation"/>
          <xsd:enumeration value="Ada Carbon Solutions LLC"/>
          <xsd:enumeration value="Adacel Technologies Limited"/>
          <xsd:enumeration value="Adams USA"/>
          <xsd:enumeration value="Adani Enterprises Limited"/>
          <xsd:enumeration value="ADC Telecommunications Inc"/>
          <xsd:enumeration value="A-Dec Inc"/>
          <xsd:enumeration value="Adecco"/>
          <xsd:enumeration value="Adelphia Communications Corp"/>
          <xsd:enumeration value="Adena Health System"/>
          <xsd:enumeration value="Adidas Group"/>
          <xsd:enumeration value="Adobe Systems, Inc."/>
          <xsd:enumeration value="ADT Security Services"/>
          <xsd:enumeration value="Advance Auto Parts, Inc."/>
          <xsd:enumeration value="Advanced Communications Inc"/>
          <xsd:enumeration value="Advanced Elastomer Systems"/>
          <xsd:enumeration value="Advanced Micro Devices"/>
          <xsd:enumeration value="AdvancePCS Inc"/>
          <xsd:enumeration value="Advanta Corp"/>
          <xsd:enumeration value="Advantest Corporation"/>
          <xsd:enumeration value="Adventist Health"/>
          <xsd:enumeration value="Adventist Health System"/>
          <xsd:enumeration value="Adventist Health Systems"/>
          <xsd:enumeration value="Adventist Healthcare"/>
          <xsd:enumeration value="Advocat Inc"/>
          <xsd:enumeration value="Advocate Health Care"/>
          <xsd:enumeration value="Advo-System Inc"/>
          <xsd:enumeration value="AECOM"/>
          <xsd:enumeration value="Aecon Group Inc"/>
          <xsd:enumeration value="AEG Live"/>
          <xsd:enumeration value="Aegis Group Plc"/>
          <xsd:enumeration value="AEGON N.V."/>
          <xsd:enumeration value="Aerospace Industry Association (AIA)"/>
          <xsd:enumeration value="Aerzener Maschinenfabrik GmbH"/>
          <xsd:enumeration value="AES Corporation"/>
          <xsd:enumeration value="Aetna Inc."/>
          <xsd:enumeration value="Afb International"/>
          <xsd:enumeration value="Affiliated Computer Services Inc"/>
          <xsd:enumeration value="Affinion"/>
          <xsd:enumeration value="Affinity Health Plan"/>
          <xsd:enumeration value="Affinity Health System"/>
          <xsd:enumeration value="AFG Arbonia-Forster-Holding AG"/>
          <xsd:enumeration value="AFLAC"/>
          <xsd:enumeration value="AFNI"/>
          <xsd:enumeration value="After Hours Formal Wear"/>
          <xsd:enumeration value="AG"/>
          <xsd:enumeration value="AG Edwards &amp; Sons"/>
          <xsd:enumeration value="AGC Automotive Group"/>
          <xsd:enumeration value="AGCO Corporation"/>
          <xsd:enumeration value="Agfa Corporation"/>
          <xsd:enumeration value="Aggreko plc"/>
          <xsd:enumeration value="Agilent Technologies"/>
          <xsd:enumeration value="Agility (Asia/Pacific) Limited"/>
          <xsd:enumeration value="Agilysys Inc"/>
          <xsd:enumeration value="AGL Resources"/>
          <xsd:enumeration value="Agrana Zucker, Stärke und Frucht Holding AG"/>
          <xsd:enumeration value="Agricultural Bank of China Limited"/>
          <xsd:enumeration value="Agrium Inc"/>
          <xsd:enumeration value="Agropur"/>
          <xsd:enumeration value="Agway Systems"/>
          <xsd:enumeration value="AHL Services Inc"/>
          <xsd:enumeration value="AHMC Inc"/>
          <xsd:enumeration value="AIA Group Limited"/>
          <xsd:enumeration value="Aimco/Pam"/>
          <xsd:enumeration value="Air Berlin PLC"/>
          <xsd:enumeration value="Air Canada Enteprise"/>
          <xsd:enumeration value="Air France Klm Group"/>
          <xsd:enumeration value="Air International Thermal Systems"/>
          <xsd:enumeration value="Air Liquide"/>
          <xsd:enumeration value="Air Products &amp; Chemicals"/>
          <xsd:enumeration value="Air System Components"/>
          <xsd:enumeration value="Airborne Express"/>
          <xsd:enumeration value="Airco"/>
          <xsd:enumeration value="Airgas Inc"/>
          <xsd:enumeration value="Airservices Australia"/>
          <xsd:enumeration value="AirTran Airways"/>
          <xsd:enumeration value="Akron General Health System"/>
          <xsd:enumeration value="Akzo Nobel NV"/>
          <xsd:enumeration value="Al Global Investments SARL"/>
          <xsd:enumeration value="Alameda Medical Center"/>
          <xsd:enumeration value="Alamo CC District"/>
          <xsd:enumeration value="Alaska Air Group Inc"/>
          <xsd:enumeration value="Alba Group"/>
          <xsd:enumeration value="Albany Molecular Research Inc"/>
          <xsd:enumeration value="Albecca Inc"/>
          <xsd:enumeration value="Albemarle Corporation"/>
          <xsd:enumeration value="Albemarle Health"/>
          <xsd:enumeration value="Albert Einstein Healthcare Network"/>
          <xsd:enumeration value="Albert Lea Medical Center"/>
          <xsd:enumeration value="Alberta Health Services"/>
          <xsd:enumeration value="Alberto Culver Company"/>
          <xsd:enumeration value="Alcan Inc"/>
          <xsd:enumeration value="Alcatel-Lucent"/>
          <xsd:enumeration value="Alcoa"/>
          <xsd:enumeration value="Alcon Pharma"/>
          <xsd:enumeration value="Alcool NB Liquor (ANBL)"/>
          <xsd:enumeration value="Alegent Health"/>
          <xsd:enumeration value="Aleris"/>
          <xsd:enumeration value="Alex Lee Inc"/>
          <xsd:enumeration value="Alexian Brothers Health System"/>
          <xsd:enumeration value="Alfa Laval"/>
          <xsd:enumeration value="Alimentation Couche-Tard Inc"/>
          <xsd:enumeration value="All Saints Health Care System"/>
          <xsd:enumeration value="Alladdin Gaming LLC"/>
          <xsd:enumeration value="Allegheny Energy"/>
          <xsd:enumeration value="Allegheny Technologies Inc"/>
          <xsd:enumeration value="Allegiance Healthcare Corp"/>
          <xsd:enumeration value="Allegis Group, Inc"/>
          <xsd:enumeration value="Allergan, Inc"/>
          <xsd:enumeration value="Allgeier SE"/>
          <xsd:enumeration value="Alliance and Health"/>
          <xsd:enumeration value="Alliance Data Systems"/>
          <xsd:enumeration value="Alliant Energy"/>
          <xsd:enumeration value="Alliant Techsystems"/>
          <xsd:enumeration value="Allianz SE"/>
          <xsd:enumeration value="Allied Building Products"/>
          <xsd:enumeration value="Allied Domecq PLC"/>
          <xsd:enumeration value="Allied Security Holdings LLC"/>
          <xsd:enumeration value="Allied Services"/>
          <xsd:enumeration value="Allied Signal"/>
          <xsd:enumeration value="Allina Hospitals &amp; Clinics"/>
          <xsd:enumeration value="Allscripts"/>
          <xsd:enumeration value="Allstate"/>
          <xsd:enumeration value="ALLTEL Corporation"/>
          <xsd:enumeration value="Ally Financial Inc."/>
          <xsd:enumeration value="Alpha Group"/>
          <xsd:enumeration value="Alphabet Holding Company, Inc."/>
          <xsd:enumeration value="Alpharma"/>
          <xsd:enumeration value="Alpla Holding GmbH"/>
          <xsd:enumeration value="ALPLA Inc"/>
          <xsd:enumeration value="Alps Electric Co Ltd"/>
          <xsd:enumeration value="ALSCO Metals"/>
          <xsd:enumeration value="ALSTOM"/>
          <xsd:enumeration value="ALSTOM Euronext"/>
          <xsd:enumeration value="Alta Healthcare System"/>
          <xsd:enumeration value="Altamed Health Services"/>
          <xsd:enumeration value="Altana"/>
          <xsd:enumeration value="Altec Inc"/>
          <xsd:enumeration value="Altera Corporation"/>
          <xsd:enumeration value="Alternative Behavioral Services"/>
          <xsd:enumeration value="Alticor Global Holdings Inc."/>
          <xsd:enumeration value="Altoona Regional Health System"/>
          <xsd:enumeration value="Altran Technologies"/>
          <xsd:enumeration value="Altria Group, Inc."/>
          <xsd:enumeration value="Altru Health System"/>
          <xsd:enumeration value="Alyeska Pipeline Service Co"/>
          <xsd:enumeration value="Amazon.com, Inc."/>
          <xsd:enumeration value="AMB Generali"/>
          <xsd:enumeration value="AMC International Alfa Metalcraft Corporation AG"/>
          <xsd:enumeration value="Amcor Limited"/>
          <xsd:enumeration value="AMD (China) Co., Ltd."/>
          <xsd:enumeration value="Amdocs Limited"/>
          <xsd:enumeration value="AMEC"/>
          <xsd:enumeration value="Amedisys"/>
          <xsd:enumeration value="Amer Group Ltd"/>
          <xsd:enumeration value="Ameren"/>
          <xsd:enumeration value="American Automobile Assoc"/>
          <xsd:enumeration value="American Builders &amp; Contractors Supply"/>
          <xsd:enumeration value="American Cancer Society, Inc"/>
          <xsd:enumeration value="American Chemet Corporation"/>
          <xsd:enumeration value="American Color Graphics Inc"/>
          <xsd:enumeration value="American Commercial Lines Inc."/>
          <xsd:enumeration value="American Dental Partners, Inc."/>
          <xsd:enumeration value="American Diabetes Association"/>
          <xsd:enumeration value="American Eagle Outfitters Inc."/>
          <xsd:enumeration value="American Electric Power"/>
          <xsd:enumeration value="American Express Corporation"/>
          <xsd:enumeration value="American Family Insurance"/>
          <xsd:enumeration value="American Financial"/>
          <xsd:enumeration value="American Golf Corporation"/>
          <xsd:enumeration value="American Greetings Corp"/>
          <xsd:enumeration value="American Heart Association"/>
          <xsd:enumeration value="American Home Mortgage"/>
          <xsd:enumeration value="American Hospital Association"/>
          <xsd:enumeration value="American International Group Inc"/>
          <xsd:enumeration value="American Italian Pasta"/>
          <xsd:enumeration value="American Licorice"/>
          <xsd:enumeration value="American Management Association (AMA)"/>
          <xsd:enumeration value="American Medical Systems"/>
          <xsd:enumeration value="American Modern Insurance Group"/>
          <xsd:enumeration value="American Multi Cinema"/>
          <xsd:enumeration value="American National Ins Co"/>
          <xsd:enumeration value="American Racing"/>
          <xsd:enumeration value="American Red Cross"/>
          <xsd:enumeration value="American Republic"/>
          <xsd:enumeration value="American Senior Communities"/>
          <xsd:enumeration value="American Society for the Prevention of Cruelty to Animals"/>
          <xsd:enumeration value="American Standard"/>
          <xsd:enumeration value="American Trimm LLC"/>
          <xsd:enumeration value="American University"/>
          <xsd:enumeration value="American Water Works"/>
          <xsd:enumeration value="Americana Group"/>
          <xsd:enumeration value="Americhem"/>
          <xsd:enumeration value="Americold Logistics LLC"/>
          <xsd:enumeration value="Americredit"/>
          <xsd:enumeration value="Amerigas"/>
          <xsd:enumeration value="Amerigroup Corporation"/>
          <xsd:enumeration value="AmeriPath"/>
          <xsd:enumeration value="Ameriprise Financial Inc"/>
          <xsd:enumeration value="Ameriquest"/>
          <xsd:enumeration value="Ameris Health Systems LLC"/>
          <xsd:enumeration value="AmerisourceBergen Corp"/>
          <xsd:enumeration value="Ameristar Casino"/>
          <xsd:enumeration value="Amerisure Insurance"/>
          <xsd:enumeration value="Ametek Inc"/>
          <xsd:enumeration value="Amgen Inc"/>
          <xsd:enumeration value="Amkor Technology"/>
          <xsd:enumeration value="Amobee Group Pte. Ltd."/>
          <xsd:enumeration value="AMP Limited"/>
          <xsd:enumeration value="Amphenol Corporation"/>
          <xsd:enumeration value="AMR Corp"/>
          <xsd:enumeration value="Amsouth"/>
          <xsd:enumeration value="Amsted Industries Inc"/>
          <xsd:enumeration value="AMVESCAP PLC"/>
          <xsd:enumeration value="Amylin Pharmaceuticals, Inc"/>
          <xsd:enumeration value="Anadarko Petroleum Corp"/>
          <xsd:enumeration value="Analog Devices"/>
          <xsd:enumeration value="Andersen Company"/>
          <xsd:enumeration value="Andersen Worldwide"/>
          <xsd:enumeration value="Andrew Corporation"/>
          <xsd:enumeration value="Andritz AG"/>
          <xsd:enumeration value="Android Industries"/>
          <xsd:enumeration value="Andrx"/>
          <xsd:enumeration value="Anglian Water Group Limited"/>
          <xsd:enumeration value="Anglo American"/>
          <xsd:enumeration value="ANH Refractories Company"/>
          <xsd:enumeration value="Anheuser Busch"/>
          <xsd:enumeration value="Anixter International"/>
          <xsd:enumeration value="Anmed Health"/>
          <xsd:enumeration value="Ann Taylor Co"/>
          <xsd:enumeration value="Ansaldo STS USA"/>
          <xsd:enumeration value="Ansys"/>
          <xsd:enumeration value="Anthem"/>
          <xsd:enumeration value="Antioch Company"/>
          <xsd:enumeration value="ANZ Banking Group Limited"/>
          <xsd:enumeration value="AO Smith Corp"/>
          <xsd:enumeration value="AOL Inc"/>
          <xsd:enumeration value="AON"/>
          <xsd:enumeration value="Aon Consulting Worldwide"/>
          <xsd:enumeration value="AP Technologies"/>
          <xsd:enumeration value="APAC Customer Services Inc"/>
          <xsd:enumeration value="Apache Corporation"/>
          <xsd:enumeration value="Apex Communications Cellular &amp; Security"/>
          <xsd:enumeration value="APL Limited"/>
          <xsd:enumeration value="APM Global Logistics"/>
          <xsd:enumeration value="Apogee Enterprises Inc"/>
          <xsd:enumeration value="Apollo Management"/>
          <xsd:enumeration value="Apollo Tyres Limited"/>
          <xsd:enumeration value="Apotex"/>
          <xsd:enumeration value="Appalachian Regional HC"/>
          <xsd:enumeration value="Apparent Networks"/>
          <xsd:enumeration value="Apple"/>
          <xsd:enumeration value="Apple Gold Group"/>
          <xsd:enumeration value="Apple Vacations"/>
          <xsd:enumeration value="Applica, Inc"/>
          <xsd:enumeration value="Applied Industrial Technologies Inc"/>
          <xsd:enumeration value="Applied Materials"/>
          <xsd:enumeration value="Apria Healthcare Group"/>
          <xsd:enumeration value="APS Inc"/>
          <xsd:enumeration value="Aptalis Pharma Inc."/>
          <xsd:enumeration value="AptarGroup Inc"/>
          <xsd:enumeration value="APW Ltd"/>
          <xsd:enumeration value="Ara AG"/>
          <xsd:enumeration value="ARAMARK Corporation"/>
          <xsd:enumeration value="Arbella Mutual Insurance Co"/>
          <xsd:enumeration value="ARCADIS NV"/>
          <xsd:enumeration value="Arcandor AG"/>
          <xsd:enumeration value="Arcapita Companies"/>
          <xsd:enumeration value="ArcelorMittal"/>
          <xsd:enumeration value="ArcelorMittal S.A"/>
          <xsd:enumeration value="Archer Daniels Midland"/>
          <xsd:enumeration value="Archon Group (The)"/>
          <xsd:enumeration value="Arco Limited"/>
          <xsd:enumeration value="Ardent Health Services"/>
          <xsd:enumeration value="Ardex"/>
          <xsd:enumeration value="Areva Group"/>
          <xsd:enumeration value="Ariba, Inc"/>
          <xsd:enumeration value="Aribtration Forums"/>
          <xsd:enumeration value="Arizona State Credit Union"/>
          <xsd:enumeration value="Arkema, Inc."/>
          <xsd:enumeration value="Arla Foods amba"/>
          <xsd:enumeration value="Armor Holdings Inc"/>
          <xsd:enumeration value="Armstrong China Holdings, Limited"/>
          <xsd:enumeration value="Armstrong Group of Companies"/>
          <xsd:enumeration value="Armstrong World Industries"/>
          <xsd:enumeration value="Arris Group"/>
          <xsd:enumeration value="Arrium"/>
          <xsd:enumeration value="Arrow Electronics, Inc."/>
          <xsd:enumeration value="ART.COM"/>
          <xsd:enumeration value="Artemis Holding AG"/>
          <xsd:enumeration value="Arthur J. Gallagher &amp; Co."/>
          <xsd:enumeration value="Arup"/>
          <xsd:enumeration value="ARV Assisted Living Inc"/>
          <xsd:enumeration value="ARYZTA AG"/>
          <xsd:enumeration value="AS America Inc"/>
          <xsd:enumeration value="Asahi Kasei Corporation"/>
          <xsd:enumeration value="Asamer Familienholding GmbH"/>
          <xsd:enumeration value="Asante Health System"/>
          <xsd:enumeration value="Asarco Inc"/>
          <xsd:enumeration value="Ascension Health"/>
          <xsd:enumeration value="Ascent Capital Group, Inc."/>
          <xsd:enumeration value="Ascom Group"/>
          <xsd:enumeration value="Asfinag"/>
          <xsd:enumeration value="Ash Grove Cement"/>
          <xsd:enumeration value="Ashland Community Hospital"/>
          <xsd:enumeration value="Ashland Inc"/>
          <xsd:enumeration value="Ashley Furniture Industries, Inc."/>
          <xsd:enumeration value="Asia Pacific Breweries Limited"/>
          <xsd:enumeration value="ASM International NV"/>
          <xsd:enumeration value="ASML Holding"/>
          <xsd:enumeration value="Asociacion de Gerentes de Guatemala"/>
          <xsd:enumeration value="Aspect Communications"/>
          <xsd:enumeration value="Aspen Education Group"/>
          <xsd:enumeration value="Aspen Technology Inc"/>
          <xsd:enumeration value="ASSA ABLOY AB"/>
          <xsd:enumeration value="Assessment Solutions, Inc. (ASI)"/>
          <xsd:enumeration value="Asset Acceptance Capital Corp"/>
          <xsd:enumeration value="Assicurazioni Generali SpA"/>
          <xsd:enumeration value="Associa"/>
          <xsd:enumeration value="Associated Banc-Corp"/>
          <xsd:enumeration value="Associated British Foods PLC"/>
          <xsd:enumeration value="Associated Healthcare Systems"/>
          <xsd:enumeration value="Assurant Inc"/>
          <xsd:enumeration value="ASTD"/>
          <xsd:enumeration value="Astellas Pharma"/>
          <xsd:enumeration value="Astral Media"/>
          <xsd:enumeration value="AstraZeneca PLC"/>
          <xsd:enumeration value="Asurion"/>
          <xsd:enumeration value="ASUSTEK Computer Inc."/>
          <xsd:enumeration value="AT&amp;S Austria Technologies &amp; Systemtechnik AG"/>
          <xsd:enumeration value="AT&amp;T Inc"/>
          <xsd:enumeration value="ATCO Group of Companies"/>
          <xsd:enumeration value="Athabasca University"/>
          <xsd:enumeration value="Atlantic Coast Airlines"/>
          <xsd:enumeration value="Atlantic Health System"/>
          <xsd:enumeration value="AtlantiCare Health System"/>
          <xsd:enumeration value="Atlantis Plastics"/>
          <xsd:enumeration value="Atlas Air Worldwide"/>
          <xsd:enumeration value="Atlas Copco"/>
          <xsd:enumeration value="Atlas Energy Inc"/>
          <xsd:enumeration value="Atmel Corporation"/>
          <xsd:enumeration value="ATMI, Inc."/>
          <xsd:enumeration value="Atmos Energy"/>
          <xsd:enumeration value="ATON GmbH"/>
          <xsd:enumeration value="Audi AG"/>
          <xsd:enumeration value="Audia Group LLC"/>
          <xsd:enumeration value="Aurora Health Care Inc"/>
          <xsd:enumeration value="Aurubis AG"/>
          <xsd:enumeration value="Austal"/>
          <xsd:enumeration value="Austin Industries"/>
          <xsd:enumeration value="Australand Holdings Limited"/>
          <xsd:enumeration value="Australia Post"/>
          <xsd:enumeration value="Australian Institute Of Mgmt"/>
          <xsd:enumeration value="Austrian Airlines Group"/>
          <xsd:enumeration value="Authoria"/>
          <xsd:enumeration value="Auto Suppliers"/>
          <xsd:enumeration value="Autodesk"/>
          <xsd:enumeration value="Autodesk, Inc."/>
          <xsd:enumeration value="AutoEmploy"/>
          <xsd:enumeration value="AUTOLIV"/>
          <xsd:enumeration value="Autoliv, Inc."/>
          <xsd:enumeration value="Automatic Data Processing"/>
          <xsd:enumeration value="Automobile Club of Southern California"/>
          <xsd:enumeration value="Automotive Data Processing, Inc."/>
          <xsd:enumeration value="AutoNation"/>
          <xsd:enumeration value="Autoneum Holding AG"/>
          <xsd:enumeration value="Autozone"/>
          <xsd:enumeration value="Auxilium Pharmaceuticals"/>
          <xsd:enumeration value="Availity, LLC"/>
          <xsd:enumeration value="Avalon Development Corp"/>
          <xsd:enumeration value="Avaya"/>
          <xsd:enumeration value="AVECO Holding AG"/>
          <xsd:enumeration value="Avenor"/>
          <xsd:enumeration value="Aventis"/>
          <xsd:enumeration value="Avera Health"/>
          <xsd:enumeration value="Avery Dennison"/>
          <xsd:enumeration value="Avis Budget Group, Inc."/>
          <xsd:enumeration value="Avista Capital Holdings, L.P."/>
          <xsd:enumeration value="Aviva Corporation"/>
          <xsd:enumeration value="AvMed"/>
          <xsd:enumeration value="Avnet"/>
          <xsd:enumeration value="Avocent Corp"/>
          <xsd:enumeration value="Avon Products"/>
          <xsd:enumeration value="Avondale, Inc"/>
          <xsd:enumeration value="AWB Limited"/>
          <xsd:enumeration value="AXA"/>
          <xsd:enumeration value="Axalta Coating Systems"/>
          <xsd:enumeration value="Axcess Financial"/>
          <xsd:enumeration value="AXIA Health"/>
          <xsd:enumeration value="Axiall Corporation"/>
          <xsd:enumeration value="Axis AB"/>
          <xsd:enumeration value="Axis Specialty US Services"/>
          <xsd:enumeration value="Axpo Gruppe"/>
          <xsd:enumeration value="Ayala Corporation"/>
          <xsd:enumeration value="B Braun McGaw"/>
          <xsd:enumeration value="B Braun Melsungen"/>
          <xsd:enumeration value="B Braun Melsungen AG"/>
          <xsd:enumeration value="Babcock &amp; Wilcox"/>
          <xsd:enumeration value="Bacardi Corporation"/>
          <xsd:enumeration value="Bach Training &amp; Develp"/>
          <xsd:enumeration value="BAE Systems"/>
          <xsd:enumeration value="Baker &amp; Taylor Inc"/>
          <xsd:enumeration value="Baker Hughes"/>
          <xsd:enumeration value="Bakkavor Group Limited"/>
          <xsd:enumeration value="Balanced Care"/>
          <xsd:enumeration value="Baldor Electric"/>
          <xsd:enumeration value="Balfour Beatty PLC"/>
          <xsd:enumeration value="Ball Corporation"/>
          <xsd:enumeration value="Ballard"/>
          <xsd:enumeration value="Bally's Corporation"/>
          <xsd:enumeration value="Baloise Group"/>
          <xsd:enumeration value="Banco Bilbao Vizcaya Argentaria, S.A."/>
          <xsd:enumeration value="Bank Of America Corporation"/>
          <xsd:enumeration value="Bank of China"/>
          <xsd:enumeration value="Bank of Communications co., Ltd."/>
          <xsd:enumeration value="Bank Of New York"/>
          <xsd:enumeration value="Bank of the West"/>
          <xsd:enumeration value="Bank One Corporation"/>
          <xsd:enumeration value="Bankers Insurance Group"/>
          <xsd:enumeration value="Bankers Life &amp; Casualty"/>
          <xsd:enumeration value="Banner Health System"/>
          <xsd:enumeration value="Banque Laurentienne"/>
          <xsd:enumeration value="Banque Nationale du Canada"/>
          <xsd:enumeration value="Banque Populaire Group"/>
          <xsd:enumeration value="Banta"/>
          <xsd:enumeration value="Baptist Health"/>
          <xsd:enumeration value="Baptist Health Arkansas"/>
          <xsd:enumeration value="Baptist Health Care"/>
          <xsd:enumeration value="Baptist Health South Florida"/>
          <xsd:enumeration value="Baptist Health System"/>
          <xsd:enumeration value="Baptist Health System of East TN"/>
          <xsd:enumeration value="Baptist Health System of San Antonio"/>
          <xsd:enumeration value="Baptist Health Systems"/>
          <xsd:enumeration value="Baptist Healthcare System Of KY"/>
          <xsd:enumeration value="Baptist Memorial HC Corp"/>
          <xsd:enumeration value="Barcelo Crestline Corporation"/>
          <xsd:enumeration value="Barclays PLC"/>
          <xsd:enumeration value="Barco nv"/>
          <xsd:enumeration value="Barnes &amp; Noble Inc"/>
          <xsd:enumeration value="Barnes Group Inc"/>
          <xsd:enumeration value="Barr Pharmaceuticals"/>
          <xsd:enumeration value="Barrick Gold"/>
          <xsd:enumeration value="Barry Callebaut"/>
          <xsd:enumeration value="Barton Protective Services"/>
          <xsd:enumeration value="BASF"/>
          <xsd:enumeration value="BASF AG"/>
          <xsd:enumeration value="Basic American Foods Inc"/>
          <xsd:enumeration value="Basin Electric Power Co"/>
          <xsd:enumeration value="Bass Hotels &amp; Resorts"/>
          <xsd:enumeration value="Basset Healthcare System"/>
          <xsd:enumeration value="Baton Rouge General"/>
          <xsd:enumeration value="Batzner Pest Management Inc."/>
          <xsd:enumeration value="Bauer Aktiengesellschaft"/>
          <xsd:enumeration value="Bauer Verlagsgruppe"/>
          <xsd:enumeration value="Bausch &amp; Lomb"/>
          <xsd:enumeration value="Baxter Healthcare"/>
          <xsd:enumeration value="Baxter International Inc"/>
          <xsd:enumeration value="Bayada Nurses Inc."/>
          <xsd:enumeration value="BayCare Health Network Inc"/>
          <xsd:enumeration value="Baycare Health System"/>
          <xsd:enumeration value="Bayer AG"/>
          <xsd:enumeration value="Bayer AG Group"/>
          <xsd:enumeration value="Bayhealth Medical Center"/>
          <xsd:enumeration value="Baylor Scott &amp; White Health"/>
          <xsd:enumeration value="Baystate Health Systems"/>
          <xsd:enumeration value="BayWa AG"/>
          <xsd:enumeration value="BB&amp;T"/>
          <xsd:enumeration value="BBA Aviation"/>
          <xsd:enumeration value="BC Gas Inc"/>
          <xsd:enumeration value="BC Lottery Corporation"/>
          <xsd:enumeration value="BC Technology Industries Association"/>
          <xsd:enumeration value="BC Telecom Group"/>
          <xsd:enumeration value="BCD Travel"/>
          <xsd:enumeration value="BD Biosciences"/>
          <xsd:enumeration value="BE Aerospace Inc"/>
          <xsd:enumeration value="BEA Systems, Inc"/>
          <xsd:enumeration value="Beacon Hill Lodges"/>
          <xsd:enumeration value="Beall's Inc."/>
          <xsd:enumeration value="Bear Stearns"/>
          <xsd:enumeration value="BearingPoint Inc"/>
          <xsd:enumeration value="Beaumont Hospital"/>
          <xsd:enumeration value="Bechtel"/>
          <xsd:enumeration value="Beckers Group"/>
          <xsd:enumeration value="Beckman Coulter"/>
          <xsd:enumeration value="Becton Dickinson Co"/>
          <xsd:enumeration value="Bed Bath &amp; Beyond"/>
          <xsd:enumeration value="Behavioral Health Services"/>
          <xsd:enumeration value="Behavioral Science Technology"/>
          <xsd:enumeration value="Behr"/>
          <xsd:enumeration value="Behr America"/>
          <xsd:enumeration value="Beiersdorf AG"/>
          <xsd:enumeration value="Beingmate Group Co., Ltd."/>
          <xsd:enumeration value="Bekaert"/>
          <xsd:enumeration value="Beko Technologies"/>
          <xsd:enumeration value="Belden"/>
          <xsd:enumeration value="Belk Inc"/>
          <xsd:enumeration value="Belkin International, Inc."/>
          <xsd:enumeration value="Bell Canada"/>
          <xsd:enumeration value="Bell South"/>
          <xsd:enumeration value="Bellco Credit Union"/>
          <xsd:enumeration value="Belo Corporation"/>
          <xsd:enumeration value="Beltman Group"/>
          <xsd:enumeration value="Bemis Company Inc"/>
          <xsd:enumeration value="Bemis Manufacturing Company"/>
          <xsd:enumeration value="Benchmark Electronics"/>
          <xsd:enumeration value="Benedictine Health System"/>
          <xsd:enumeration value="Benteler International AG"/>
          <xsd:enumeration value="Bentley Systems Inc"/>
          <xsd:enumeration value="Berkshire Hathaway"/>
          <xsd:enumeration value="Berkshire Health System"/>
          <xsd:enumeration value="Berlex Labs"/>
          <xsd:enumeration value="Berlitz"/>
          <xsd:enumeration value="Bermuda Government"/>
          <xsd:enumeration value="Bermuda Hospitals Board"/>
          <xsd:enumeration value="Berner SE"/>
          <xsd:enumeration value="Berry Company (The)"/>
          <xsd:enumeration value="Bertelsmann AG"/>
          <xsd:enumeration value="Bertelsmann SE &amp; Co. KGaA"/>
          <xsd:enumeration value="Bertrandt Group"/>
          <xsd:enumeration value="Best Buy"/>
          <xsd:enumeration value="Best Western Int'l"/>
          <xsd:enumeration value="Bestv New Media Co., Ltd."/>
          <xsd:enumeration value="Beth Israel Medical Center"/>
          <xsd:enumeration value="Bethlehem Steel Corp"/>
          <xsd:enumeration value="Beverly Enterprises Inc"/>
          <xsd:enumeration value="BHP Billiton"/>
          <xsd:enumeration value="BIC CORP"/>
          <xsd:enumeration value="Bigband Networks"/>
          <xsd:enumeration value="Bijou Brigitte modische Accessoires AG"/>
          <xsd:enumeration value="Bilfinger Berger SE"/>
          <xsd:enumeration value="Bilfinger SE Group"/>
          <xsd:enumeration value="Bill &amp; Melinda Gates Foundation"/>
          <xsd:enumeration value="Bi-Lo Winn-Dixie"/>
          <xsd:enumeration value="Biogen Idec Inc"/>
          <xsd:enumeration value="Biomerieux Inc"/>
          <xsd:enumeration value="Biomet, Inc"/>
          <xsd:enumeration value="Bio-Rad Laboratories Inc"/>
          <xsd:enumeration value="Bisk Education"/>
          <xsd:enumeration value="BISYS Group Inc"/>
          <xsd:enumeration value="Biz-Ed"/>
          <xsd:enumeration value="BizEd Services Pty Ltd"/>
          <xsd:enumeration value="BJ Services Company"/>
          <xsd:enumeration value="BJC HealthCare"/>
          <xsd:enumeration value="BJ's Wholesale"/>
          <xsd:enumeration value="Black &amp; Decker Corp"/>
          <xsd:enumeration value="Black &amp; Veatch"/>
          <xsd:enumeration value="Blackbaud's Inc"/>
          <xsd:enumeration value="Blackhawk Automotive Plastics"/>
          <xsd:enumeration value="BlackRock"/>
          <xsd:enumeration value="Blanchard Training &amp; Development, Inc."/>
          <xsd:enumeration value="Blast Radius Communications"/>
          <xsd:enumeration value="Blessing/White"/>
          <xsd:enumeration value="Blockbuster Inc"/>
          <xsd:enumeration value="Bloomberg L.P."/>
          <xsd:enumeration value="Bloomington Hospital"/>
          <xsd:enumeration value="Blue Cross Association"/>
          <xsd:enumeration value="Blue Shield"/>
          <xsd:enumeration value="Bluebell Far East Limited"/>
          <xsd:enumeration value="BlueScope Steel"/>
          <xsd:enumeration value="Blum Verwaltung GmbH"/>
          <xsd:enumeration value="BMC Software Inc"/>
          <xsd:enumeration value="BMO Financial Group"/>
          <xsd:enumeration value="BMW Group"/>
          <xsd:enumeration value="BMW Manufacturing Corp"/>
          <xsd:enumeration value="Bnp Group"/>
          <xsd:enumeration value="BNP Paribas"/>
          <xsd:enumeration value="Boar's Head"/>
          <xsd:enumeration value="Bob Evans Farms Incorporated"/>
          <xsd:enumeration value="Bobcat Company"/>
          <xsd:enumeration value="Bobst Group SA"/>
          <xsd:enumeration value="BOC Hong Kong (Holdings) Limited"/>
          <xsd:enumeration value="Boehringer Ingelheim"/>
          <xsd:enumeration value="Boeing Corporation"/>
          <xsd:enumeration value="Boise Cascade"/>
          <xsd:enumeration value="Boise Inc"/>
          <xsd:enumeration value="Boler Company"/>
          <xsd:enumeration value="Bollinger Shipyards Inc"/>
          <xsd:enumeration value="Bombardier Inc"/>
          <xsd:enumeration value="Bon Secours Health System"/>
          <xsd:enumeration value="Bongrain Group"/>
          <xsd:enumeration value="Booz Allen &amp; Hamilton"/>
          <xsd:enumeration value="Boral Australian Gypsum Limited"/>
          <xsd:enumeration value="Bord Gais Eireann"/>
          <xsd:enumeration value="Borders Group"/>
          <xsd:enumeration value="Borg Warner"/>
          <xsd:enumeration value="Borgers AG"/>
          <xsd:enumeration value="Borouge Pte Ltd"/>
          <xsd:enumeration value="Bose Corp"/>
          <xsd:enumeration value="Bossini International Holdings Limited"/>
          <xsd:enumeration value="Boston Consulting Group"/>
          <xsd:enumeration value="Boston Market Corp"/>
          <xsd:enumeration value="Boston Medical Center"/>
          <xsd:enumeration value="Boston Scientific"/>
          <xsd:enumeration value="Bottega Veneta International SARL"/>
          <xsd:enumeration value="Boutiques Jacob Inc"/>
          <xsd:enumeration value="Bouygues Group"/>
          <xsd:enumeration value="Bowater"/>
          <xsd:enumeration value="Bowne &amp; Co., Inc."/>
          <xsd:enumeration value="Boy Scouts of America"/>
          <xsd:enumeration value="Boyd Gaming"/>
          <xsd:enumeration value="BP Amoco"/>
          <xsd:enumeration value="Brach &amp; Brock Confections Inc"/>
          <xsd:enumeration value="Bradken Limited"/>
          <xsd:enumeration value="Brady Corporation"/>
          <xsd:enumeration value="Brahms"/>
          <xsd:enumeration value="Brambles Limited"/>
          <xsd:enumeration value="Brassring Solutions"/>
          <xsd:enumeration value="BRE Properties Inc"/>
          <xsd:enumeration value="Breitburn Management Company"/>
          <xsd:enumeration value="Brenntag AG"/>
          <xsd:enumeration value="Bresnan Communications"/>
          <xsd:enumeration value="Brickman Group"/>
          <xsd:enumeration value="Bridgepoint Advisers Group LTD"/>
          <xsd:enumeration value="Bridgestone - Firestone"/>
          <xsd:enumeration value="Bridgestone Corporation"/>
          <xsd:enumeration value="Briggs &amp; Stratton Corporation"/>
          <xsd:enumeration value="Bright Horizons Family Solutions Inc"/>
          <xsd:enumeration value="Brightpoint Inc"/>
          <xsd:enumeration value="Brim Healthcare Inc"/>
          <xsd:enumeration value="Brinker International, Inc."/>
          <xsd:enumeration value="Brink's Company"/>
          <xsd:enumeration value="Briot"/>
          <xsd:enumeration value="Bristol-Myers Squibb Co"/>
          <xsd:enumeration value="British American Tobacco plc"/>
          <xsd:enumeration value="British Broadcasting Corporation"/>
          <xsd:enumeration value="Broadcom Corporation"/>
          <xsd:enumeration value="Broadlane Inc"/>
          <xsd:enumeration value="Broadridge Financial Solutions Inc"/>
          <xsd:enumeration value="Brocade Communications Systems Inc"/>
          <xsd:enumeration value="Bronson Healthcare Group Inc"/>
          <xsd:enumeration value="Brookdale Senior Living Inc"/>
          <xsd:enumeration value="Brookfield Asset Management Inc"/>
          <xsd:enumeration value="Brooks Automation Inc"/>
          <xsd:enumeration value="Brookshire Grocery Company"/>
          <xsd:enumeration value="Brose Fahrzeugteile GmbH &amp; Co KG"/>
          <xsd:enumeration value="Brose International GmbH"/>
          <xsd:enumeration value="BROTHER INDUSTRIES, LTD."/>
          <xsd:enumeration value="Broward Health"/>
          <xsd:enumeration value="Brown &amp; Williamson Tobacco"/>
          <xsd:enumeration value="Brown Forman"/>
          <xsd:enumeration value="BRP Inc."/>
          <xsd:enumeration value="Bruch-Beteiligungs-GmbH"/>
          <xsd:enumeration value="Brunner Mond Group Ltd"/>
          <xsd:enumeration value="Brunswick"/>
          <xsd:enumeration value="Bryan LGH Medical Center"/>
          <xsd:enumeration value="Bryant &amp; Stratton"/>
          <xsd:enumeration value="BSH Bosch &amp; Siemens"/>
          <xsd:enumeration value="BT Group plc"/>
          <xsd:enumeration value="Bucher Industries AG"/>
          <xsd:enumeration value="Bucyrus International Inc"/>
          <xsd:enumeration value="Budd Company"/>
          <xsd:enumeration value="Buffets Holdings Inc"/>
          <xsd:enumeration value="Bühler Holding AG"/>
          <xsd:enumeration value="Building Materials Holdings Inc"/>
          <xsd:enumeration value="Bundesrechenzentrum GmbH"/>
          <xsd:enumeration value="Bunge Ltd"/>
          <xsd:enumeration value="Bunnings Group Limited"/>
          <xsd:enumeration value="Bunn-O-Matic Corporation"/>
          <xsd:enumeration value="Bunzl plc"/>
          <xsd:enumeration value="BUPA"/>
          <xsd:enumeration value="Burlington Industries Inc"/>
          <xsd:enumeration value="Burlington Northern Santa Fe RR"/>
          <xsd:enumeration value="Burlington Resources Inc"/>
          <xsd:enumeration value="Bush Industries"/>
          <xsd:enumeration value="Business Development Bank of Canada"/>
          <xsd:enumeration value="Butterfield Bank"/>
          <xsd:enumeration value="BV Beteiligung GmbH &amp; Co KG"/>
          <xsd:enumeration value="C &amp; S Wholesale Grocers Inc"/>
          <xsd:enumeration value="C A + P E Ltd."/>
          <xsd:enumeration value="C.H. Robinson Worldwide Inc"/>
          <xsd:enumeration value="C13 Certfac"/>
          <xsd:enumeration value="CA, Inc."/>
          <xsd:enumeration value="Cabelas's Incorporated"/>
          <xsd:enumeration value="Cable &amp; Wireless PLC"/>
          <xsd:enumeration value="Cablevision Systems Corp"/>
          <xsd:enumeration value="Cabot Corporation"/>
          <xsd:enumeration value="CACI International Inc"/>
          <xsd:enumeration value="Cadbury Schweppes"/>
          <xsd:enumeration value="Cadence Innovation"/>
          <xsd:enumeration value="CAE Inc"/>
          <xsd:enumeration value="Caesars Entertainment Corporation"/>
          <xsd:enumeration value="Caholic Health Initiative"/>
          <xsd:enumeration value="Caisses D'epargnes Group"/>
          <xsd:enumeration value="California Casualty"/>
          <xsd:enumeration value="California Corporate College"/>
          <xsd:enumeration value="California State University"/>
          <xsd:enumeration value="California Training Cooperative"/>
          <xsd:enumeration value="Caliper"/>
          <xsd:enumeration value="Calpine Corporation"/>
          <xsd:enumeration value="Calsonic Kansei Corporation"/>
          <xsd:enumeration value="Calsonic North America"/>
          <xsd:enumeration value="Calvary Chapel"/>
          <xsd:enumeration value="Cambia Health Solutions Inc"/>
          <xsd:enumeration value="Cambrex Corporation"/>
          <xsd:enumeration value="CAMC Health System Inc"/>
          <xsd:enumeration value="Camelot Healthcare Inc"/>
          <xsd:enumeration value="Camelot Healthcare LLC"/>
          <xsd:enumeration value="Cameron International"/>
          <xsd:enumeration value="Camlog Group"/>
          <xsd:enumeration value="Camoplast Solideal Inc."/>
          <xsd:enumeration value="Camosun College"/>
          <xsd:enumeration value="Campbell Soup"/>
          <xsd:enumeration value="Canada Brokerlink Inc"/>
          <xsd:enumeration value="Canada Cement Lafarge Ltd"/>
          <xsd:enumeration value="Canada Education Channel"/>
          <xsd:enumeration value="Canada Health Infoway"/>
          <xsd:enumeration value="Canada Life"/>
          <xsd:enumeration value="Canada Trust"/>
          <xsd:enumeration value="Canadian Cancer Society"/>
          <xsd:enumeration value="Canadian Liquid Air"/>
          <xsd:enumeration value="Canadian Management Centre"/>
          <xsd:enumeration value="Canadian Pacific Railway Limited"/>
          <xsd:enumeration value="Canadian Tire Corporation"/>
          <xsd:enumeration value="Canadian Western Bank Group"/>
          <xsd:enumeration value="Canam Manac Group"/>
          <xsd:enumeration value="Canandaigua Wine Company"/>
          <xsd:enumeration value="Cancer Institute NSW"/>
          <xsd:enumeration value="Cancer Treatment Centers Of America"/>
          <xsd:enumeration value="Candlewood Suites"/>
          <xsd:enumeration value="Canfor Corporation"/>
          <xsd:enumeration value="Canon Inc"/>
          <xsd:enumeration value="Cantar/Polyair"/>
          <xsd:enumeration value="Canwest Global Communications Corp"/>
          <xsd:enumeration value="Canyon Ranch"/>
          <xsd:enumeration value="Cape Cod Healthcare"/>
          <xsd:enumeration value="Cape Fear Valley Health System"/>
          <xsd:enumeration value="Capgemini"/>
          <xsd:enumeration value="Capital Credit Union"/>
          <xsd:enumeration value="Capital Group Companies, Inc"/>
          <xsd:enumeration value="Capital Health System"/>
          <xsd:enumeration value="Capital One"/>
          <xsd:enumeration value="Capital Power Corporation"/>
          <xsd:enumeration value="CAPTC"/>
          <xsd:enumeration value="Captive Plastics"/>
          <xsd:enumeration value="Capvis Equity Partners AG"/>
          <xsd:enumeration value="Car Toys"/>
          <xsd:enumeration value="CARA Enterprises"/>
          <xsd:enumeration value="Caradon Plc"/>
          <xsd:enumeration value="Caraustar"/>
          <xsd:enumeration value="Cardinal Health"/>
          <xsd:enumeration value="Care New England Health System"/>
          <xsd:enumeration value="Care USA"/>
          <xsd:enumeration value="Career Education Corporation"/>
          <xsd:enumeration value="Career Executive Service Board"/>
          <xsd:enumeration value="CareFusion Corporation"/>
          <xsd:enumeration value="CareGroup"/>
          <xsd:enumeration value="Careone Inc"/>
          <xsd:enumeration value="Carestream Health Inc"/>
          <xsd:enumeration value="Cargill Inc"/>
          <xsd:enumeration value="Cargotec Corporation"/>
          <xsd:enumeration value="Carhartt Inc"/>
          <xsd:enumeration value="Carilion Health System"/>
          <xsd:enumeration value="Caritor"/>
          <xsd:enumeration value="Carl Zeiss"/>
          <xsd:enumeration value="Carlisle Companies Inc"/>
          <xsd:enumeration value="Carlsberg A/S"/>
          <xsd:enumeration value="Carlson Companies"/>
          <xsd:enumeration value="Carlton Holding AG"/>
          <xsd:enumeration value="Carl-Zeiss-Stiftung"/>
          <xsd:enumeration value="Carma Developers LP"/>
          <xsd:enumeration value="Carmax"/>
          <xsd:enumeration value="Carnegie Library Of Pittsburgh"/>
          <xsd:enumeration value="Carnegie Mellon University"/>
          <xsd:enumeration value="Carolinas HealthCare System"/>
          <xsd:enumeration value="Caromont Health System"/>
          <xsd:enumeration value="Carquest"/>
          <xsd:enumeration value="Carrefour Group"/>
          <xsd:enumeration value="Cartwright Group"/>
          <xsd:enumeration value="Cascades Inc"/>
          <xsd:enumeration value="Cash America Intl"/>
          <xsd:enumeration value="Casino USA, Inc"/>
          <xsd:enumeration value="CASIO COMPUTER CO. LTD"/>
          <xsd:enumeration value="Catalent Pharma Solutions Inc"/>
          <xsd:enumeration value="Catalyst Paper Corporation"/>
          <xsd:enumeration value="Catapult Learning"/>
          <xsd:enumeration value="Caterpillar Inc"/>
          <xsd:enumeration value="Cathedral Health System"/>
          <xsd:enumeration value="Catholic Health &amp; Human Services"/>
          <xsd:enumeration value="Catholic Health East"/>
          <xsd:enumeration value="Catholic Health Initiatives"/>
          <xsd:enumeration value="Catholic Health Services of Long Island"/>
          <xsd:enumeration value="Catholic Healthcare Partners"/>
          <xsd:enumeration value="Catholic Healthcare System"/>
          <xsd:enumeration value="Catholic Healthcare West"/>
          <xsd:enumeration value="Caxton Iseman Investments Lp"/>
          <xsd:enumeration value="CB Richard Ellis Group Inc"/>
          <xsd:enumeration value="CBaySystems Holdings"/>
          <xsd:enumeration value="CBC/Radio-Canada"/>
          <xsd:enumeration value="CBEYOND"/>
          <xsd:enumeration value="CBI China Co. Limited"/>
          <xsd:enumeration value="CBR Cement Canada Ltd"/>
          <xsd:enumeration value="CBRE Group Inc"/>
          <xsd:enumeration value="CCAC"/>
          <xsd:enumeration value="CCC Information Services Inc."/>
          <xsd:enumeration value="CCG Holdings Inc"/>
          <xsd:enumeration value="CCL Industries Inc"/>
          <xsd:enumeration value="CDI"/>
          <xsd:enumeration value="CDP Capital"/>
          <xsd:enumeration value="CDS"/>
          <xsd:enumeration value="CDW Corporation"/>
          <xsd:enumeration value="CEDA International"/>
          <xsd:enumeration value="Cedars-Sinai"/>
          <xsd:enumeration value="Celanese AG"/>
          <xsd:enumeration value="Celcom"/>
          <xsd:enumeration value="Celesio"/>
          <xsd:enumeration value="Celgard, Inc"/>
          <xsd:enumeration value="Celgene Corporation"/>
          <xsd:enumeration value="Celltech"/>
          <xsd:enumeration value="Cemex SA De CV"/>
          <xsd:enumeration value="Cenlar Management Co Inc"/>
          <xsd:enumeration value="Centaline (China) Property Consultants Limited"/>
          <xsd:enumeration value="Centegra Health System"/>
          <xsd:enumeration value="Centene Corporation"/>
          <xsd:enumeration value="Center for Creative Leadership (CCL)"/>
          <xsd:enumeration value="CenterPoint Energy"/>
          <xsd:enumeration value="Centex"/>
          <xsd:enumeration value="Centier Bank"/>
          <xsd:enumeration value="Centinela Freeman Healthsystem"/>
          <xsd:enumeration value="Centra Health"/>
          <xsd:enumeration value="Central &amp; South West"/>
          <xsd:enumeration value="Central Bank of Egypt (CBE)"/>
          <xsd:enumeration value="Central PA Health Services Corp"/>
          <xsd:enumeration value="Central Utah Clinic PC"/>
          <xsd:enumeration value="Centria"/>
          <xsd:enumeration value="Centrica Plc"/>
          <xsd:enumeration value="Centura Health"/>
          <xsd:enumeration value="Century Aluminum Company"/>
          <xsd:enumeration value="Century Canning Corporation"/>
          <xsd:enumeration value="CenturyLink"/>
          <xsd:enumeration value="Cephalon Inc"/>
          <xsd:enumeration value="Ceradyne"/>
          <xsd:enumeration value="CeramTec Group"/>
          <xsd:enumeration value="Ceridian"/>
          <xsd:enumeration value="Cerner Corporation"/>
          <xsd:enumeration value="Certegy Inc"/>
          <xsd:enumeration value="Cerveceria Cuauhtemoc Moctezuma"/>
          <xsd:enumeration value="CGI Group Inc"/>
          <xsd:enumeration value="CH2M Hill Companies Ltd"/>
          <xsd:enumeration value="Cha Technologies Inc."/>
          <xsd:enumeration value="Chabot-Las Positas CCD"/>
          <xsd:enumeration value="Champion Homes"/>
          <xsd:enumeration value="Chandler McLeod"/>
          <xsd:enumeration value="Chanel Limited"/>
          <xsd:enumeration value="Chanel S.A."/>
          <xsd:enumeration value="Charles River Labs"/>
          <xsd:enumeration value="Charles Schwab Corp"/>
          <xsd:enumeration value="Charlotte Pipe &amp; Foundry Company"/>
          <xsd:enumeration value="Charmer Sunbelt Group"/>
          <xsd:enumeration value="Chart Industries"/>
          <xsd:enumeration value="Charter Communications Inc"/>
          <xsd:enumeration value="Charter Manufacturing"/>
          <xsd:enumeration value="Chatsworth Data Corp"/>
          <xsd:enumeration value="CHC Group Ltd."/>
          <xsd:enumeration value="Check Point Software Technologies Ltd"/>
          <xsd:enumeration value="Chef Solutions"/>
          <xsd:enumeration value="Chemtura Corporation"/>
          <xsd:enumeration value="Chep USA"/>
          <xsd:enumeration value="Chesapeake Corporation"/>
          <xsd:enumeration value="Chesapeake Energy Corp"/>
          <xsd:enumeration value="Chesapeake Utilities Corporation"/>
          <xsd:enumeration value="Chevron"/>
          <xsd:enumeration value="Chevron Phillips Chemical Co"/>
          <xsd:enumeration value="Chevron Phillips Chemical Company LP"/>
          <xsd:enumeration value="Chevy Chase Bank"/>
          <xsd:enumeration value="Chicago Bridge &amp; Iron Company N.V."/>
          <xsd:enumeration value="Chico's FAS Inc"/>
          <xsd:enumeration value="Childrens &amp; Womens Health Centre - BC"/>
          <xsd:enumeration value="Childrens Health System of Alabama"/>
          <xsd:enumeration value="Childrens Healthcare of Atlanta"/>
          <xsd:enumeration value="Childrens Hospital Of Orange County"/>
          <xsd:enumeration value="Childrens Hospital Of Philadelphia"/>
          <xsd:enumeration value="Childrens Hospitals &amp; Clinics Of MN"/>
          <xsd:enumeration value="Childrens National Medical Center"/>
          <xsd:enumeration value="Children's Place (The)"/>
          <xsd:enumeration value="China Electric Equipment Group Co., Ltd."/>
          <xsd:enumeration value="China Huanya Group Company"/>
          <xsd:enumeration value="China International Intellectech Corporation"/>
          <xsd:enumeration value="China Investment Corporation"/>
          <xsd:enumeration value="China Merchants Bank Co., Ltd."/>
          <xsd:enumeration value="China National Petroleum Corp"/>
          <xsd:enumeration value="China National Travel Service (HK) Group Corporation"/>
          <xsd:enumeration value="China Ocean Shipping (Group) Company"/>
          <xsd:enumeration value="China Pacific Insurance (Group) Co., Ltd."/>
          <xsd:enumeration value="China Post Group Company"/>
          <xsd:enumeration value="China Taiping Insurance Shareholding Co., Ltd."/>
          <xsd:enumeration value="China Telecommunications Corporation"/>
          <xsd:enumeration value="China UnionPay"/>
          <xsd:enumeration value="Chinatrust Financial Holding Co Ltd"/>
          <xsd:enumeration value="Chiquita Brands"/>
          <xsd:enumeration value="Chocoladefabriken Lindt &amp; Sprüngli AG"/>
          <xsd:enumeration value="Choice Hotels International"/>
          <xsd:enumeration value="Chongqing Changan Automobile Co., Ltd."/>
          <xsd:enumeration value="Chongqing Kerui Yuqi Medicine Industry Co., Ltd."/>
          <xsd:enumeration value="Chorus Aviation Inc."/>
          <xsd:enumeration value="Christian Childrens Fund"/>
          <xsd:enumeration value="Christiana Care Health System"/>
          <xsd:enumeration value="CHRISTUS Health"/>
          <xsd:enumeration value="Chrysler"/>
          <xsd:enumeration value="Chubb"/>
          <xsd:enumeration value="Ciba Specialty Chemical"/>
          <xsd:enumeration value="CIBC"/>
          <xsd:enumeration value="Cigna"/>
          <xsd:enumeration value="Cincinnati Bell"/>
          <xsd:enumeration value="Cincinnati Childrens Hospital Med Ctr"/>
          <xsd:enumeration value="Cinemark Holdings Inc"/>
          <xsd:enumeration value="Cinergy"/>
          <xsd:enumeration value="CINRAM Manufacturing"/>
          <xsd:enumeration value="Cintas"/>
          <xsd:enumeration value="CIRCOR International, Inc."/>
          <xsd:enumeration value="Circuit City"/>
          <xsd:enumeration value="Cirrus Health"/>
          <xsd:enumeration value="Cisco Systems Inc"/>
          <xsd:enumeration value="CIT Group"/>
          <xsd:enumeration value="Citadel"/>
          <xsd:enumeration value="Citco Group"/>
          <xsd:enumeration value="Citgo Petroleum"/>
          <xsd:enumeration value="CITIC Group Corporation"/>
          <xsd:enumeration value="CITIC-Prudential Life Insurance Company Ltd."/>
          <xsd:enumeration value="Citigroup Inc"/>
          <xsd:enumeration value="Citizens Banking Corp"/>
          <xsd:enumeration value="Citrix Systems"/>
          <xsd:enumeration value="Citrus Valley Health Partners"/>
          <xsd:enumeration value="CITS Group Corporation"/>
          <xsd:enumeration value="City Colleges Of Chicago"/>
          <xsd:enumeration value="City of Calgary"/>
          <xsd:enumeration value="City Of Hope National Medical Center"/>
          <xsd:enumeration value="City Of Vancouver"/>
          <xsd:enumeration value="CKE Restaurants Inc"/>
          <xsd:enumeration value="Claas Group"/>
          <xsd:enumeration value="Clackamas Community College"/>
          <xsd:enumeration value="Claires Stores Inc"/>
          <xsd:enumeration value="Clariant (China) Limited"/>
          <xsd:enumeration value="Clariant AG"/>
          <xsd:enumeration value="Clariant Corporation"/>
          <xsd:enumeration value="Clayton, Dubilier &amp; Rice, Inc."/>
          <xsd:enumeration value="Clear Channel"/>
          <xsd:enumeration value="Clearwater Paper Corporation"/>
          <xsd:enumeration value="Clearwire Corporation"/>
          <xsd:enumeration value="Cleveland Clinic Health System"/>
          <xsd:enumeration value="Cleveland-Cliffs Inc"/>
          <xsd:enumeration value="Clevenger - Start-ups"/>
          <xsd:enumeration value="Click2learn.Com, Inc"/>
          <xsd:enumeration value="Clifton Gunderson"/>
          <xsd:enumeration value="Clinical Alliance Mount Sinai HS"/>
          <xsd:enumeration value="Clorox Corporation"/>
          <xsd:enumeration value="Club Car, Inc"/>
          <xsd:enumeration value="Club Med"/>
          <xsd:enumeration value="CMC Electronics"/>
          <xsd:enumeration value="CMC Steel"/>
          <xsd:enumeration value="CMS Energy Corporation"/>
          <xsd:enumeration value="CN Rail"/>
          <xsd:enumeration value="CNA Insurance"/>
          <xsd:enumeration value="CNH Global NV"/>
          <xsd:enumeration value="CNH Industrial N.V."/>
          <xsd:enumeration value="CNL Group"/>
          <xsd:enumeration value="Coach, Inc."/>
          <xsd:enumeration value="Coast CCD"/>
          <xsd:enumeration value="Coast District Hospitals"/>
          <xsd:enumeration value="Coast Hotels &amp; Resorts"/>
          <xsd:enumeration value="Coastal Administrative Services"/>
          <xsd:enumeration value="Coats North American"/>
          <xsd:enumeration value="Cobham plc"/>
          <xsd:enumeration value="Coca Cola"/>
          <xsd:enumeration value="Coca Cola HBC"/>
          <xsd:enumeration value="Cochlear Limited"/>
          <xsd:enumeration value="Coffee Health Group"/>
          <xsd:enumeration value="Coffey Health System"/>
          <xsd:enumeration value="Cofra Holding AG"/>
          <xsd:enumeration value="Cogeco"/>
          <xsd:enumeration value="Cognis Corporation"/>
          <xsd:enumeration value="Cognis GmbH"/>
          <xsd:enumeration value="Cognizant Technology Solutions"/>
          <xsd:enumeration value="Cognos"/>
          <xsd:enumeration value="Coherent"/>
          <xsd:enumeration value="Cole National"/>
          <xsd:enumeration value="Coles Group Ltd"/>
          <xsd:enumeration value="Colfax"/>
          <xsd:enumeration value="Colgate Palmolive"/>
          <xsd:enumeration value="Collectcorp Corporation"/>
          <xsd:enumeration value="Collective Brands"/>
          <xsd:enumeration value="College Entrance Examination Board"/>
          <xsd:enumeration value="College Of Southern  Maryland"/>
          <xsd:enumeration value="Collin County Community College Dist."/>
          <xsd:enumeration value="Collins &amp; Aikman Corp"/>
          <xsd:enumeration value="Colonial Pipeline"/>
          <xsd:enumeration value="Columbia Distributing"/>
          <xsd:enumeration value="Columbia Forest Products"/>
          <xsd:enumeration value="Columbia House Company"/>
          <xsd:enumeration value="Columbia Union Conference 7Day Adventist"/>
          <xsd:enumeration value="Comcare Health"/>
          <xsd:enumeration value="Comcast"/>
          <xsd:enumeration value="Comerica Inc"/>
          <xsd:enumeration value="Comfort Keepers Franchising Inc"/>
          <xsd:enumeration value="Cominco Ltd."/>
          <xsd:enumeration value="Commerce Bancorp"/>
          <xsd:enumeration value="Commerce Bank Inc"/>
          <xsd:enumeration value="Commercial Intertech"/>
          <xsd:enumeration value="Commerzbank AG"/>
          <xsd:enumeration value="Commonwealth Bank of Australia"/>
          <xsd:enumeration value="Commonwealth Health Corporation"/>
          <xsd:enumeration value="Commscope Inc"/>
          <xsd:enumeration value="Community Blood Center"/>
          <xsd:enumeration value="Community College (Local)"/>
          <xsd:enumeration value="Community College of Southern Nevada"/>
          <xsd:enumeration value="Community Credit Union"/>
          <xsd:enumeration value="Community General Hospital Health Srvs"/>
          <xsd:enumeration value="Community Health Network"/>
          <xsd:enumeration value="Community Health Systems Inc"/>
          <xsd:enumeration value="Community Medical Center Healthcare Sys"/>
          <xsd:enumeration value="Community Medical Centers"/>
          <xsd:enumeration value="Community Providers Inc"/>
          <xsd:enumeration value="Compagnie Financière Richemont SA"/>
          <xsd:enumeration value="Companhia Vale do Rio Doce (CVRD)"/>
          <xsd:enumeration value="Compania Sud Americana de Vapores S.A."/>
          <xsd:enumeration value="Compaq"/>
          <xsd:enumeration value="Compass Bancshares Inc"/>
          <xsd:enumeration value="Compass Group"/>
          <xsd:enumeration value="CompAssess"/>
          <xsd:enumeration value="Complete Healthcare Resources"/>
          <xsd:enumeration value="CompuCom Systems Inc"/>
          <xsd:enumeration value="CompUSA"/>
          <xsd:enumeration value="Computacenter Group"/>
          <xsd:enumeration value="Computer Associates International, Inc."/>
          <xsd:enumeration value="Computer Sciences"/>
          <xsd:enumeration value="Computer Task Group Inc"/>
          <xsd:enumeration value="Compuware"/>
          <xsd:enumeration value="ConAgra"/>
          <xsd:enumeration value="Conair Corporation"/>
          <xsd:enumeration value="Concentra"/>
          <xsd:enumeration value="Concordia University"/>
          <xsd:enumeration value="Concur Technologies, Inc."/>
          <xsd:enumeration value="Concurrent Technologies Corp."/>
          <xsd:enumeration value="Conemaugh Health System"/>
          <xsd:enumeration value="Conestoga College"/>
          <xsd:enumeration value="Conestoga Wood Specialties Corp"/>
          <xsd:enumeration value="ConocoPhillips"/>
          <xsd:enumeration value="Conrail"/>
          <xsd:enumeration value="Conservation Services Group, Inc."/>
          <xsd:enumeration value="Consol Energy"/>
          <xsd:enumeration value="Consolidated Edison"/>
          <xsd:enumeration value="Consolidated Natural Gas"/>
          <xsd:enumeration value="Consolidated Products"/>
          <xsd:enumeration value="Constantia Flexibles Group GmbH"/>
          <xsd:enumeration value="Constellation Brands"/>
          <xsd:enumeration value="Constellation Energy"/>
          <xsd:enumeration value="Container Store Inc"/>
          <xsd:enumeration value="Continental AG"/>
          <xsd:enumeration value="Continental Grain Co"/>
          <xsd:enumeration value="Continental Tire"/>
          <xsd:enumeration value="Continuum Health Partners, Inc."/>
          <xsd:enumeration value="Contra Costa Community College District"/>
          <xsd:enumeration value="Convenience Food Systems"/>
          <xsd:enumeration value="Convergys"/>
          <xsd:enumeration value="Con-way Inc"/>
          <xsd:enumeration value="Cook County Bureau"/>
          <xsd:enumeration value="Cooper Cameron"/>
          <xsd:enumeration value="Cooper Industries"/>
          <xsd:enumeration value="Cooper Tire &amp; Rubber Co"/>
          <xsd:enumeration value="Cooperatieve Ceva/Egl ll B.A."/>
          <xsd:enumeration value="Cooper-Standard Holdings Inc"/>
          <xsd:enumeration value="Coop-Gruppe Genossenschaft"/>
          <xsd:enumeration value="Copley Press Inc"/>
          <xsd:enumeration value="Coram Health Services"/>
          <xsd:enumeration value="Corbis Corporation"/>
          <xsd:enumeration value="Core Laboratories"/>
          <xsd:enumeration value="Corel"/>
          <xsd:enumeration value="CoreLogic Inc"/>
          <xsd:enumeration value="Core-Mark Holding Company Inc"/>
          <xsd:enumeration value="Corinthian College Inc"/>
          <xsd:enumeration value="Corix"/>
          <xsd:enumeration value="Cornell University"/>
          <xsd:enumeration value="Cornerstone OnDemand"/>
          <xsd:enumeration value="Corning Inc"/>
          <xsd:enumeration value="Corporate Express"/>
          <xsd:enumeration value="Correctional Service of Canada (CSC)"/>
          <xsd:enumeration value="Cort Furniture"/>
          <xsd:enumeration value="Corydon Converting Company Inc"/>
          <xsd:enumeration value="Costco"/>
          <xsd:enumeration value="Cott Corporation"/>
          <xsd:enumeration value="Cottage Health System"/>
          <xsd:enumeration value="Coty Inc."/>
          <xsd:enumeration value="Country Insurance And Financial Services"/>
          <xsd:enumeration value="County of Santa Clara"/>
          <xsd:enumeration value="Covad Communications"/>
          <xsd:enumeration value="Covance Inc"/>
          <xsd:enumeration value="Covenant Care"/>
          <xsd:enumeration value="Covenant Health System"/>
          <xsd:enumeration value="Coventry Health Care"/>
          <xsd:enumeration value="Coveright Surfaces"/>
          <xsd:enumeration value="Covidien"/>
          <xsd:enumeration value="Cox Enterprises Inc"/>
          <xsd:enumeration value="CoxHealth"/>
          <xsd:enumeration value="CP Kelco"/>
          <xsd:enumeration value="CPG International Holdings LP"/>
          <xsd:enumeration value="CPS Energy"/>
          <xsd:enumeration value="CPSA"/>
          <xsd:enumeration value="CR Bard Inc"/>
          <xsd:enumeration value="Cracker Barrel Old Country Store Inc"/>
          <xsd:enumeration value="Craft Brew Alliance, Inc."/>
          <xsd:enumeration value="Crane Co."/>
          <xsd:enumeration value="Crédit Agricole Gruppe"/>
          <xsd:enumeration value="Credit Suisse First Boston (USA), Inc."/>
          <xsd:enumeration value="Credit Suisse Group AG"/>
          <xsd:enumeration value="Credit Union Central Of Canada"/>
          <xsd:enumeration value="Cree Inc"/>
          <xsd:enumeration value="CRH PLC"/>
          <xsd:enumeration value="Cricket Communications"/>
          <xsd:enumeration value="Cross River Healthcare"/>
          <xsd:enumeration value="Crouse Hospital"/>
          <xsd:enumeration value="Crowley Maritime Corporation"/>
          <xsd:enumeration value="Crown Castle"/>
          <xsd:enumeration value="Crown Holdings, Inc."/>
          <xsd:enumeration value="Crozer-Keystone Health System"/>
          <xsd:enumeration value="CSA Group"/>
          <xsd:enumeration value="CSA Health System"/>
          <xsd:enumeration value="CSAA Insurance Group"/>
          <xsd:enumeration value="CSG Systems"/>
          <xsd:enumeration value="CSL Behring"/>
          <xsd:enumeration value="CSL Group Inc"/>
          <xsd:enumeration value="CSL LIMITED"/>
          <xsd:enumeration value="CSR Group"/>
          <xsd:enumeration value="CSR Limited"/>
          <xsd:enumeration value="CSW Contractors Inc"/>
          <xsd:enumeration value="CSX"/>
          <xsd:enumeration value="CTI"/>
          <xsd:enumeration value="CTRIP.COM International, Ltd"/>
          <xsd:enumeration value="Cubic Corporation"/>
          <xsd:enumeration value="Cubiks"/>
          <xsd:enumeration value="Culligan International Company"/>
          <xsd:enumeration value="Cummins Engine"/>
          <xsd:enumeration value="Cummins Inc."/>
          <xsd:enumeration value="Cuna Mutual"/>
          <xsd:enumeration value="CUNY"/>
          <xsd:enumeration value="CuraScript Inc"/>
          <xsd:enumeration value="Curative Health Services"/>
          <xsd:enumeration value="Curtiss-Wright Controls"/>
          <xsd:enumeration value="Curtiss-Wright Flow Controls"/>
          <xsd:enumeration value="Cushman &amp; Wakefield"/>
          <xsd:enumeration value="Custom House"/>
          <xsd:enumeration value="CVS Caremark"/>
          <xsd:enumeration value="CVS Corporation"/>
          <xsd:enumeration value="Cyberonics"/>
          <xsd:enumeration value="CyberU"/>
          <xsd:enumeration value="Cypress"/>
          <xsd:enumeration value="Cytec"/>
          <xsd:enumeration value="D. E Master Blenders 1753 N.V."/>
          <xsd:enumeration value="Dachser GmbH &amp; Co. KG"/>
          <xsd:enumeration value="Dahlsens Building Centres"/>
          <xsd:enumeration value="Daiichi Pharmaceutical Co., Ltd."/>
          <xsd:enumeration value="Daikin Industries, Ltd."/>
          <xsd:enumeration value="Daimler"/>
          <xsd:enumeration value="Daishowa Marubeni International Ltd"/>
          <xsd:enumeration value="Daisytek International"/>
          <xsd:enumeration value="Daiwa Securities Group Inc."/>
          <xsd:enumeration value="DAK Americas"/>
          <xsd:enumeration value="Daka International"/>
          <xsd:enumeration value="Dallas Cty CC District"/>
          <xsd:enumeration value="Dallas Fort Worth International Airport"/>
          <xsd:enumeration value="Damons International Inc"/>
          <xsd:enumeration value="Dana Corp"/>
          <xsd:enumeration value="Dana Corporation"/>
          <xsd:enumeration value="Danaher"/>
          <xsd:enumeration value="Danbury Health Systems"/>
          <xsd:enumeration value="DANFOSS A/S"/>
          <xsd:enumeration value="Danka Business Systems"/>
          <xsd:enumeration value="Danone Group"/>
          <xsd:enumeration value="Dap Inc"/>
          <xsd:enumeration value="Darcy Masius Benton &amp; Bowles Inc"/>
          <xsd:enumeration value="Darden Corporation"/>
          <xsd:enumeration value="Dartmouth-Hitchcock Alliance"/>
          <xsd:enumeration value="Dassault Falcon Jet Corp"/>
          <xsd:enumeration value="Dassault Systèmes S.A"/>
          <xsd:enumeration value="Datev"/>
          <xsd:enumeration value="Daughters Of Charity"/>
          <xsd:enumeration value="Daughters of Charity Health System"/>
          <xsd:enumeration value="DAUN &amp; Cie AG"/>
          <xsd:enumeration value="David C Cook Publishing Co"/>
          <xsd:enumeration value="David's Bridal Inc"/>
          <xsd:enumeration value="DaVita Inc"/>
          <xsd:enumeration value="Dawn Food Products"/>
          <xsd:enumeration value="DCH Health Services"/>
          <xsd:enumeration value="De Beers"/>
          <xsd:enumeration value="De La Rue Cash Systems"/>
          <xsd:enumeration value="Dealertrack"/>
          <xsd:enumeration value="Dean Foods Company"/>
          <xsd:enumeration value="Decisionone Holding Corp"/>
          <xsd:enumeration value="Deere &amp; Co"/>
          <xsd:enumeration value="Deichmann SE"/>
          <xsd:enumeration value="DeKalb Regional HC"/>
          <xsd:enumeration value="DEKRA e.V."/>
          <xsd:enumeration value="Del Monte Pacific Limited"/>
          <xsd:enumeration value="Delaware North Companies Inc"/>
          <xsd:enumeration value="Delhaize America"/>
          <xsd:enumeration value="Delhaize Group"/>
          <xsd:enumeration value="Dell Computer"/>
          <xsd:enumeration value="Deloitte"/>
          <xsd:enumeration value="Deloitte &amp; Touche: Human Capital Corp."/>
          <xsd:enumeration value="Deloitte Touche Tohmatsu"/>
          <xsd:enumeration value="Delphi Corporation"/>
          <xsd:enumeration value="Delta Airlines"/>
          <xsd:enumeration value="Delta Beverage Group"/>
          <xsd:enumeration value="Delta College"/>
          <xsd:enumeration value="Delta Credit Union"/>
          <xsd:enumeration value="Delta Electronics, Inc."/>
          <xsd:enumeration value="Delta Lloyd Group"/>
          <xsd:enumeration value="Deluxe Corporation"/>
          <xsd:enumeration value="Democracy Data &amp; Communications"/>
          <xsd:enumeration value="Dennys Corporation"/>
          <xsd:enumeration value="Denso"/>
          <xsd:enumeration value="Dental Health Services"/>
          <xsd:enumeration value="Dental Network of America"/>
          <xsd:enumeration value="Dentsply"/>
          <xsd:enumeration value="Dentsply Tulsa Dental Specialties"/>
          <xsd:enumeration value="Department of Health &amp; Mental Hygiene"/>
          <xsd:enumeration value="Department of Trade and Industry"/>
          <xsd:enumeration value="Department of Veterans Affairs"/>
          <xsd:enumeration value="Depository Trust And Clearing Corp"/>
          <xsd:enumeration value="Dept of the Air Force HQ"/>
          <xsd:enumeration value="Dept of the Army-Surgeon General"/>
          <xsd:enumeration value="Dept of the Navy - Bureau of Med &amp; Surg"/>
          <xsd:enumeration value="Detroit Medical Center"/>
          <xsd:enumeration value="Detroit Newspapers"/>
          <xsd:enumeration value="Deutsche Apotheker- und Ärztebank"/>
          <xsd:enumeration value="Deutsche Bahn AG"/>
          <xsd:enumeration value="Deutsche Bank"/>
          <xsd:enumeration value="DEUTSCHE BÖRSE GROUP"/>
          <xsd:enumeration value="Deutsche Gesellschaft für Internationale Zusammenarbeit (GIZ) GmbH"/>
          <xsd:enumeration value="Deutsche Lufthansa AG"/>
          <xsd:enumeration value="Deutsche Post AG"/>
          <xsd:enumeration value="Deutsche Rentenversicherung"/>
          <xsd:enumeration value="Deutsche Telekom"/>
          <xsd:enumeration value="Developers Diversified Realty"/>
          <xsd:enumeration value="Development Dimensions Intl"/>
          <xsd:enumeration value="Devon Energy Corporation"/>
          <xsd:enumeration value="DeVry University"/>
          <xsd:enumeration value="Dex Media, Inc."/>
          <xsd:enumeration value="Dexia Group"/>
          <xsd:enumeration value="DFA"/>
          <xsd:enumeration value="DFB Pharmaceuticals"/>
          <xsd:enumeration value="DFE Pharma"/>
          <xsd:enumeration value="DHL Corporation"/>
          <xsd:enumeration value="Diageo plc"/>
          <xsd:enumeration value="Diblo S A De C V"/>
          <xsd:enumeration value="DIC Corporation"/>
          <xsd:enumeration value="Dicks Sporting Goods Inc"/>
          <xsd:enumeration value="Diebold Inc"/>
          <xsd:enumeration value="Diehl Stiftung &amp; Co. KG"/>
          <xsd:enumeration value="Diethelm Keller Holding AG"/>
          <xsd:enumeration value="Digene Corp"/>
          <xsd:enumeration value="Digital Equipment"/>
          <xsd:enumeration value="Dignity Health"/>
          <xsd:enumeration value="Dillards Inc"/>
          <xsd:enumeration value="Dimension Data Holdings PLC"/>
          <xsd:enumeration value="Dimension Data Philippines"/>
          <xsd:enumeration value="Dimensions Healthcare System"/>
          <xsd:enumeration value="Dimon, Inc"/>
          <xsd:enumeration value="Diosynth, Inc"/>
          <xsd:enumeration value="Direct Energy"/>
          <xsd:enumeration value="Direct General Corporation"/>
          <xsd:enumeration value="Directories Philippines Corporation"/>
          <xsd:enumeration value="DirecTV"/>
          <xsd:enumeration value="Discover"/>
          <xsd:enumeration value="Discovery Communications Inc"/>
          <xsd:enumeration value="DJO Global"/>
          <xsd:enumeration value="DKSH group"/>
          <xsd:enumeration value="D'leteren s.a."/>
          <xsd:enumeration value="dm-drogerie markt GmbH + Co. KG"/>
          <xsd:enumeration value="DMG Mori Seiki Aktiengesellschaft"/>
          <xsd:enumeration value="Doctors Community Healthcare Corp"/>
          <xsd:enumeration value="Dofasco"/>
          <xsd:enumeration value="Dole Foods"/>
          <xsd:enumeration value="Dollar General Corporation"/>
          <xsd:enumeration value="Dollar Tree Inc"/>
          <xsd:enumeration value="Dominion Resources"/>
          <xsd:enumeration value="Dominos Pizza"/>
          <xsd:enumeration value="Domtar Inc"/>
          <xsd:enumeration value="Donaldson Co"/>
          <xsd:enumeration value="Dot Foods Inc"/>
          <xsd:enumeration value="Dover Corporation"/>
          <xsd:enumeration value="Dow Chemical"/>
          <xsd:enumeration value="Dow Corning"/>
          <xsd:enumeration value="Dow Jones &amp; Company"/>
          <xsd:enumeration value="Downer EDI Limited"/>
          <xsd:enumeration value="Doyon"/>
          <xsd:enumeration value="DPL Inc"/>
          <xsd:enumeration value="Dr. Alexander Wacker Familiengesellschaft mit beschränkter Haftung"/>
          <xsd:enumeration value="Dr. Pepper Snapple Group, Inc"/>
          <xsd:enumeration value="Dr. Reddy's Laboratories Limited"/>
          <xsd:enumeration value="Draexlmaier Gruppe"/>
          <xsd:enumeration value="Drägerwerk AG"/>
          <xsd:enumeration value="Dräxlmaier Group"/>
          <xsd:enumeration value="Dresser Inc"/>
          <xsd:enumeration value="Dresser-Rand Group"/>
          <xsd:enumeration value="Drexel University"/>
          <xsd:enumeration value="Driscoll Strawberry Associates, Inc."/>
          <xsd:enumeration value="DRS Technologies Inc"/>
          <xsd:enumeration value="DS Waters"/>
          <xsd:enumeration value="DSC Logistics"/>
          <xsd:enumeration value="DSM Desotech"/>
          <xsd:enumeration value="DST Systems, Inc."/>
          <xsd:enumeration value="Dsv A/S"/>
          <xsd:enumeration value="DTE Energy"/>
          <xsd:enumeration value="DTZ Debenham Tie Leung Limited"/>
          <xsd:enumeration value="Dubuis Health Systems Inc"/>
          <xsd:enumeration value="Duchosois Industries"/>
          <xsd:enumeration value="Ducommun"/>
          <xsd:enumeration value="Duff &amp; Phelps"/>
          <xsd:enumeration value="Dufry AG"/>
          <xsd:enumeration value="Duke Energy Corp"/>
          <xsd:enumeration value="Duke LifePoint Healthcare"/>
          <xsd:enumeration value="Duke University"/>
          <xsd:enumeration value="Duke University Health System"/>
          <xsd:enumeration value="Duke University Medical Center"/>
          <xsd:enumeration value="Dun &amp; Bradstreet"/>
          <xsd:enumeration value="Dundee Corporation"/>
          <xsd:enumeration value="Dunham-Bush Holding Bhd"/>
          <xsd:enumeration value="DUNLOP"/>
          <xsd:enumeration value="DuPont"/>
          <xsd:enumeration value="Duquesne Light Co"/>
          <xsd:enumeration value="Duquesne University"/>
          <xsd:enumeration value="Duravit AG"/>
          <xsd:enumeration value="Dürr AG"/>
          <xsd:enumeration value="Dussmann Gruppe"/>
          <xsd:enumeration value="Dussmann Property Management (Shanghai) Co., Ltd"/>
          <xsd:enumeration value="DVB Bank SE"/>
          <xsd:enumeration value="Dynegy Inc"/>
          <xsd:enumeration value="DZ BANK AG Deutsche Zentral-Genossenschaftsbank"/>
          <xsd:enumeration value="E &amp; J Gallo"/>
          <xsd:enumeration value="E I Dupont"/>
          <xsd:enumeration value="E Plus Healthcare"/>
          <xsd:enumeration value="E Trade Financial"/>
          <xsd:enumeration value="E W Scripps Co"/>
          <xsd:enumeration value="E.G.O. Blanc und Fischer &amp; Co. GmbH"/>
          <xsd:enumeration value="E.ON AG"/>
          <xsd:enumeration value="Eads Group"/>
          <xsd:enumeration value="Eagle Ottawa China Ltd"/>
          <xsd:enumeration value="Earthgrains Co"/>
          <xsd:enumeration value="East Alabama Medical Center"/>
          <xsd:enumeration value="East Texas Medical Center Reg HC"/>
          <xsd:enumeration value="East West Seed Company Ltd."/>
          <xsd:enumeration value="Eastern Connecticut Health Network"/>
          <xsd:enumeration value="Eastern Maine Healthcare"/>
          <xsd:enumeration value="Eastern Ontario Hospitals"/>
          <xsd:enumeration value="Eastman (Shanghai) Chemical Commercial Company Ltd."/>
          <xsd:enumeration value="Eastman Chemical"/>
          <xsd:enumeration value="Eastman Kodak Co"/>
          <xsd:enumeration value="Easton Sports Inc"/>
          <xsd:enumeration value="Eat'N Park Hospitality Group"/>
          <xsd:enumeration value="Eaton Corp"/>
          <xsd:enumeration value="EBARA CORPORATION"/>
          <xsd:enumeration value="eBay"/>
          <xsd:enumeration value="Eberspächer Gruppe GmbH &amp; Co. KG"/>
          <xsd:enumeration value="ECCU"/>
          <xsd:enumeration value="Echo Entertainment Group Limited"/>
          <xsd:enumeration value="Echostar Communications Corp"/>
          <xsd:enumeration value="Eckerd Drug Co"/>
          <xsd:enumeration value="Eckes-Granini Group"/>
          <xsd:enumeration value="Ecolab Inc"/>
          <xsd:enumeration value="Economical Insurance"/>
          <xsd:enumeration value="Eddie Bauer Inc"/>
          <xsd:enumeration value="Edf Group"/>
          <xsd:enumeration value="Edf Renewable Energy"/>
          <xsd:enumeration value="Edison International"/>
          <xsd:enumeration value="Edmonton Airports"/>
          <xsd:enumeration value="EDP - Energias de Portugal SA"/>
          <xsd:enumeration value="Education Management Corporation"/>
          <xsd:enumeration value="Edward Don &amp; Company"/>
          <xsd:enumeration value="Edward Group"/>
          <xsd:enumeration value="Edwards Lifesciences Corp"/>
          <xsd:enumeration value="Ees S A De C V"/>
          <xsd:enumeration value="eFunds Corp"/>
          <xsd:enumeration value="EGL Eagle Global Logistics"/>
          <xsd:enumeration value="Eisai Co., LTD."/>
          <xsd:enumeration value="Eisenhower Medical Center"/>
          <xsd:enumeration value="El Dia Inc"/>
          <xsd:enumeration value="El Paso Corporation"/>
          <xsd:enumeration value="Elan Corporation"/>
          <xsd:enumeration value="Electric Power Board"/>
          <xsd:enumeration value="Electricity Networks Corporation"/>
          <xsd:enumeration value="Electricity Supply Board (ESB)"/>
          <xsd:enumeration value="Electro-Biology Inc"/>
          <xsd:enumeration value="Electronic Arts Inc"/>
          <xsd:enumeration value="Electronic Data Systems Inc."/>
          <xsd:enumeration value="Elf Atochem North America"/>
          <xsd:enumeration value="ELfusa Geral de Eletrofusao Ltda"/>
          <xsd:enumeration value="Elgin Community College"/>
          <xsd:enumeration value="Eli Lilly Company"/>
          <xsd:enumeration value="Elk Regional Health System"/>
          <xsd:enumeration value="Elk Valley Coal Corporation"/>
          <xsd:enumeration value="Elkay Manufacturing Company"/>
          <xsd:enumeration value="Elkcorp"/>
          <xsd:enumeration value="Elkem Metals Co"/>
          <xsd:enumeration value="Elliott"/>
          <xsd:enumeration value="ElringKlinger AG"/>
          <xsd:enumeration value="EMAK"/>
          <xsd:enumeration value="Emballages Cascades"/>
          <xsd:enumeration value="EMC Corporation"/>
          <xsd:enumeration value="EMCOR Group Inc"/>
          <xsd:enumeration value="EMDEON"/>
          <xsd:enumeration value="Emera Incorporated"/>
          <xsd:enumeration value="Emerge Interactive"/>
          <xsd:enumeration value="Emergent Biosolutions"/>
          <xsd:enumeration value="Emerson Electric co."/>
          <xsd:enumeration value="EMH Regional Healthcare System"/>
          <xsd:enumeration value="Emirates Airlines"/>
          <xsd:enumeration value="Emmis Communications"/>
          <xsd:enumeration value="Emory"/>
          <xsd:enumeration value="Empire Today"/>
          <xsd:enumeration value="EnBW Energie Baden-Württemberg AG"/>
          <xsd:enumeration value="EnCana Corporation"/>
          <xsd:enumeration value="Endless Mountains Health System"/>
          <xsd:enumeration value="Endress &amp; Hauser AG"/>
          <xsd:enumeration value="Endurance Specialty Holdings Ltd"/>
          <xsd:enumeration value="Energex Limited"/>
          <xsd:enumeration value="Energizer Holdings"/>
          <xsd:enumeration value="Energy East"/>
          <xsd:enumeration value="Energy Future Holdings Corp"/>
          <xsd:enumeration value="Energy Laboratories"/>
          <xsd:enumeration value="Engelhard Corporation"/>
          <xsd:enumeration value="Engineered Support Systems Inc"/>
          <xsd:enumeration value="English China Clays"/>
          <xsd:enumeration value="Enron"/>
          <xsd:enumeration value="Ensco International Inc."/>
          <xsd:enumeration value="Ensinger"/>
          <xsd:enumeration value="Entercom Communications"/>
          <xsd:enumeration value="Entergy Corp"/>
          <xsd:enumeration value="Enterprise Ohio"/>
          <xsd:enumeration value="Enterprise Rent-A-Car Company"/>
          <xsd:enumeration value="Entertainment Distribution Company"/>
          <xsd:enumeration value="Entreprises Barrette Ltee"/>
          <xsd:enumeration value="Envision Financial"/>
          <xsd:enumeration value="Envision Healthcare Corporation"/>
          <xsd:enumeration value="Enzon Pharmaceuticals, Inc."/>
          <xsd:enumeration value="EON"/>
          <xsd:enumeration value="Ephrata Community Hospital"/>
          <xsd:enumeration value="Epson Electronics America Inc"/>
          <xsd:enumeration value="EQT Corporation"/>
          <xsd:enumeration value="Equant Inc"/>
          <xsd:enumeration value="Equifax"/>
          <xsd:enumeration value="Equity Group Investments LLC"/>
          <xsd:enumeration value="ERCO Worldwide"/>
          <xsd:enumeration value="Erickson Retirement Community"/>
          <xsd:enumeration value="Ericsson Inc"/>
          <xsd:enumeration value="Erie Insurance Group"/>
          <xsd:enumeration value="Erlanger Health System"/>
          <xsd:enumeration value="Ernst &amp; Young LLP"/>
          <xsd:enumeration value="Erste Group Bank AG"/>
          <xsd:enumeration value="Essanelle Hair Group"/>
          <xsd:enumeration value="Essent Healthcare"/>
          <xsd:enumeration value="Essilor International"/>
          <xsd:enumeration value="Esso Petroleum Canada"/>
          <xsd:enumeration value="Estee Lauder"/>
          <xsd:enumeration value="Esterline Technologies Corporation"/>
          <xsd:enumeration value="Esurance"/>
          <xsd:enumeration value="eTelecare Global Solutions"/>
          <xsd:enumeration value="Ethica Health &amp; Retirement Communities"/>
          <xsd:enumeration value="Ethyl Corporation"/>
          <xsd:enumeration value="Euramax International, PLC"/>
          <xsd:enumeration value="Euro RSCG WW"/>
          <xsd:enumeration value="European Financial Group Efg (Luxembourg) SA"/>
          <xsd:enumeration value="ev3"/>
          <xsd:enumeration value="Evenflo"/>
          <xsd:enumeration value="Everest Ltd"/>
          <xsd:enumeration value="Evergreen Packaging"/>
          <xsd:enumeration value="Evernote Corporation"/>
          <xsd:enumeration value="Evert Temminck bv"/>
          <xsd:enumeration value="Evonik Industries AG"/>
          <xsd:enumeration value="EVRAZ plc"/>
          <xsd:enumeration value="EWT Holdings Corp."/>
          <xsd:enumeration value="Excela Health"/>
          <xsd:enumeration value="Excite@Home"/>
          <xsd:enumeration value="Exelon Corporation"/>
          <xsd:enumeration value="Exempla Healthcare"/>
          <xsd:enumeration value="Exeter Health Resources"/>
          <xsd:enumeration value="Exide Corporation"/>
          <xsd:enumeration value="Expedia Inc"/>
          <xsd:enumeration value="Expeditors International"/>
          <xsd:enumeration value="Experian Group Ltd"/>
          <xsd:enumeration value="Express Personnel"/>
          <xsd:enumeration value="Express Scripts Inc"/>
          <xsd:enumeration value="Extended Stay America Inc"/>
          <xsd:enumeration value="Extendicare Inc."/>
          <xsd:enumeration value="Exterran Holdings Inc"/>
          <xsd:enumeration value="Exult"/>
          <xsd:enumeration value="Exxon Mobil Corp"/>
          <xsd:enumeration value="F L Smidth Inc"/>
          <xsd:enumeration value="F. Hoffmann- La Roche Ltd"/>
          <xsd:enumeration value="Faber-Castell Aktiengesellschaft"/>
          <xsd:enumeration value="Factiva"/>
          <xsd:enumeration value="Factory Mutual Eng"/>
          <xsd:enumeration value="FactSet Research Systems"/>
          <xsd:enumeration value="Fair, Isaac and Company"/>
          <xsd:enumeration value="Fairbanks Capital"/>
          <xsd:enumeration value="Fairchild Semiconductor Intl Inc"/>
          <xsd:enumeration value="Fairfax Printers"/>
          <xsd:enumeration value="Fairmont Hotels &amp; Resorts"/>
          <xsd:enumeration value="Fairmount Minerals"/>
          <xsd:enumeration value="Fairpoint Communications"/>
          <xsd:enumeration value="Fairview Health Services"/>
          <xsd:enumeration value="Faith-Based Network"/>
          <xsd:enumeration value="Fallon Community Health Plan"/>
          <xsd:enumeration value="Family Dollar Stores, Inc."/>
          <xsd:enumeration value="Family Guardian Insurance"/>
          <xsd:enumeration value="Fannie Mae"/>
          <xsd:enumeration value="Farmland Industries"/>
          <xsd:enumeration value="FARO"/>
          <xsd:enumeration value="Faxton-St. Luke's Healthcare"/>
          <xsd:enumeration value="FDX Corporation"/>
          <xsd:enumeration value="Fed Gov - Central Intelligence Agency"/>
          <xsd:enumeration value="Fed Gov - Dept Of Agriculture"/>
          <xsd:enumeration value="Fed Gov - Dept Of Commerce"/>
          <xsd:enumeration value="Fed Gov - Dept Of Defense"/>
          <xsd:enumeration value="Fed Gov - Dept Of Education"/>
          <xsd:enumeration value="Fed Gov - Dept Of Energy"/>
          <xsd:enumeration value="Fed Gov - Dept Of Health &amp; Human Svcs"/>
          <xsd:enumeration value="Fed Gov - Dept of Homeland Security"/>
          <xsd:enumeration value="Fed Gov - Dept Of Interior"/>
          <xsd:enumeration value="Fed Gov - Dept Of Justice"/>
          <xsd:enumeration value="Fed Gov - Dept Of Labor"/>
          <xsd:enumeration value="Fed Gov - Dept Of State"/>
          <xsd:enumeration value="Fed Gov - Dept Of Transportation"/>
          <xsd:enumeration value="Fed Gov - Dept Of Treasury"/>
          <xsd:enumeration value="Fed Gov - Dept Of Veterans Affairs"/>
          <xsd:enumeration value="Fed Gov - EPA"/>
          <xsd:enumeration value="Fed Gov - Federal Reserve"/>
          <xsd:enumeration value="Fed Gov - General Accounting Office"/>
          <xsd:enumeration value="Fed Gov - General Svcs Administration"/>
          <xsd:enumeration value="Fed Gov - Independent Agencies"/>
          <xsd:enumeration value="Fed Gov - Intellingence Community"/>
          <xsd:enumeration value="Fed Gov - Internal Revenue Service"/>
          <xsd:enumeration value="Fed Gov - Office Of Mgmt &amp; Budget"/>
          <xsd:enumeration value="Fed Gov - Office Of Personnel Mgmt"/>
          <xsd:enumeration value="Fed Gov - SEC"/>
          <xsd:enumeration value="Fed Gov - Social Security Administration"/>
          <xsd:enumeration value="Fed Gov - US Agency For Int'l Develop"/>
          <xsd:enumeration value="Fed Gov - US Postal Service"/>
          <xsd:enumeration value="Fed Gov CA -  Mortgage &amp; Housing Corp"/>
          <xsd:enumeration value="Fed Gov CA - Agriculture &amp; Agri-Food"/>
          <xsd:enumeration value="Fed Gov CA - Canada Post Corporation"/>
          <xsd:enumeration value="Fed Gov CA - Canada Soc For Int'l Health"/>
          <xsd:enumeration value="Fed Gov CA - Canadian Heritage"/>
          <xsd:enumeration value="Fed Gov CA - Communications Security Est"/>
          <xsd:enumeration value="Fed Gov CA - Correctional Services"/>
          <xsd:enumeration value="Fed Gov CA - Department Of Justice"/>
          <xsd:enumeration value="Fed Gov CA - Fisheries &amp; Oceans"/>
          <xsd:enumeration value="Fed Gov CA - Foreign Affairs"/>
          <xsd:enumeration value="Fed Gov CA - Health"/>
          <xsd:enumeration value="Fed Gov CA - Human Resources Development"/>
          <xsd:enumeration value="Fed Gov CA - Indian &amp; Northern Affairs"/>
          <xsd:enumeration value="Fed Gov CA - Industry"/>
          <xsd:enumeration value="Fed Gov CA - National Capital Commission"/>
          <xsd:enumeration value="Fed Gov CA - National Defense"/>
          <xsd:enumeration value="Fed Gov CA - National Research Council"/>
          <xsd:enumeration value="Fed Gov CA - Natural Resources"/>
          <xsd:enumeration value="Fed Gov CA - NavCanada"/>
          <xsd:enumeration value="Fed Gov CA - Other"/>
          <xsd:enumeration value="Fed Gov CA - Public Service Commission"/>
          <xsd:enumeration value="Fed Gov CA - Revenue Canada"/>
          <xsd:enumeration value="Fed Gov CA - Royal Canadian Mint"/>
          <xsd:enumeration value="Fed Gov CA - Solicitor General"/>
          <xsd:enumeration value="Fed Gov CA - Statistics"/>
          <xsd:enumeration value="Fed Gov CA - Training &amp; Development"/>
          <xsd:enumeration value="Fed Gov CA - Veterans Affairs"/>
          <xsd:enumeration value="Federal Government - Canada"/>
          <xsd:enumeration value="Federal Signal Corporation"/>
          <xsd:enumeration value="Federal-Mogul Corp"/>
          <xsd:enumeration value="Federation of Migros Cooperatives"/>
          <xsd:enumeration value="Feeding America"/>
          <xsd:enumeration value="FEMSA"/>
          <xsd:enumeration value="Fenwal International"/>
          <xsd:enumeration value="Fermilab"/>
          <xsd:enumeration value="Ferrari SPA"/>
          <xsd:enumeration value="Ferrimag Limited"/>
          <xsd:enumeration value="Ferro Corporation"/>
          <xsd:enumeration value="Festo GmbH &amp; Co. KG"/>
          <xsd:enumeration value="Festo Group"/>
          <xsd:enumeration value="FHC Health Systems"/>
          <xsd:enumeration value="Fiat SpA"/>
          <xsd:enumeration value="Fiberweb plc"/>
          <xsd:enumeration value="Fidelis Care New York"/>
          <xsd:enumeration value="Fidelity Investments"/>
          <xsd:enumeration value="Fiege Logistik Holding Stiftung &amp; Co.KG"/>
          <xsd:enumeration value="Fielmann Aktiengesellschaft"/>
          <xsd:enumeration value="Fifth Third Bancorp"/>
          <xsd:enumeration value="Fikes Wholesale, Inc."/>
          <xsd:enumeration value="FileNet Corporation"/>
          <xsd:enumeration value="Finanz Informatik"/>
          <xsd:enumeration value="Finger Lakes Regional Health System"/>
          <xsd:enumeration value="Finisar Corporation"/>
          <xsd:enumeration value="FinishMaster Inc"/>
          <xsd:enumeration value="Finova"/>
          <xsd:enumeration value="Firmenich International"/>
          <xsd:enumeration value="First American Corp"/>
          <xsd:enumeration value="First Bancorporation"/>
          <xsd:enumeration value="First Bank"/>
          <xsd:enumeration value="First California Financial Group Inc"/>
          <xsd:enumeration value="First Canadian Title"/>
          <xsd:enumeration value="First Charter Bank"/>
          <xsd:enumeration value="First Citizens BancShares, Inc."/>
          <xsd:enumeration value="First Citizens Bank"/>
          <xsd:enumeration value="First Citzens Bank Corp of SC"/>
          <xsd:enumeration value="First Commonwealth Bank"/>
          <xsd:enumeration value="First Consulting Group"/>
          <xsd:enumeration value="First Data Corporation"/>
          <xsd:enumeration value="First Guaranty Bank &amp; Trust of Jackson"/>
          <xsd:enumeration value="First Horizon National Corporation"/>
          <xsd:enumeration value="First Horizon Pharmaceutical"/>
          <xsd:enumeration value="First Interstate BancSystem"/>
          <xsd:enumeration value="First Life Financial Company Inc."/>
          <xsd:enumeration value="First Market Bank"/>
          <xsd:enumeration value="First Merchants Corp"/>
          <xsd:enumeration value="First Midwest Bank"/>
          <xsd:enumeration value="First Niagara Financial Group"/>
          <xsd:enumeration value="First Pacific Company Ltd."/>
          <xsd:enumeration value="First Philippines Holdidngs Inc."/>
          <xsd:enumeration value="First Quality Enterprises"/>
          <xsd:enumeration value="First Solar Inc"/>
          <xsd:enumeration value="First Union Corporation"/>
          <xsd:enumeration value="Firstar Corporation"/>
          <xsd:enumeration value="FirstEnergy"/>
          <xsd:enumeration value="FirstGroup USA Inc"/>
          <xsd:enumeration value="FirstHealth of the Carolinas"/>
          <xsd:enumeration value="Firth Rixson"/>
          <xsd:enumeration value="Fiserv"/>
          <xsd:enumeration value="Fitzroy River Water"/>
          <xsd:enumeration value="Five Star Quality Care Inc"/>
          <xsd:enumeration value="Flatlake Privatstiftung"/>
          <xsd:enumeration value="FleetBoston Financial Corporation"/>
          <xsd:enumeration value="Fleetwood Enterprises"/>
          <xsd:enumeration value="Fleming"/>
          <xsd:enumeration value="Fletcher Allen Health Care"/>
          <xsd:enumeration value="Fletcher Building Limited"/>
          <xsd:enumeration value="Fletcher Challenge"/>
          <xsd:enumeration value="Flextronics"/>
          <xsd:enumeration value="Flint Energy Services Ltd"/>
          <xsd:enumeration value="Flint Ink"/>
          <xsd:enumeration value="Florence-Darlinton Technical College"/>
          <xsd:enumeration value="Florida Comm. College Jacksonville"/>
          <xsd:enumeration value="Florida Steel Corporation"/>
          <xsd:enumeration value="Flowers Food Inc"/>
          <xsd:enumeration value="Flowserve"/>
          <xsd:enumeration value="FLSmidth &amp; Co. A/S"/>
          <xsd:enumeration value="Fluor Corporation"/>
          <xsd:enumeration value="FM Facility Maintenance"/>
          <xsd:enumeration value="FMC Corporation"/>
          <xsd:enumeration value="FMC Technologies Inc"/>
          <xsd:enumeration value="Foamex International Inc"/>
          <xsd:enumeration value="Follett Corporation"/>
          <xsd:enumeration value="Fonterra Co-operative Group Limited"/>
          <xsd:enumeration value="Foot Locker, Inc."/>
          <xsd:enumeration value="Foothill-Deanza CCD"/>
          <xsd:enumeration value="Footstar Inc"/>
          <xsd:enumeration value="Forbo Holding AG"/>
          <xsd:enumeration value="Ford Motor Company"/>
          <xsd:enumeration value="Forest City Enterprises, Inc."/>
          <xsd:enumeration value="Forest Laboratories Inc"/>
          <xsd:enumeration value="Formica Corporation"/>
          <xsd:enumeration value="Formosa Chemicals &amp; Fiber Corporation"/>
          <xsd:enumeration value="Fortis Inc"/>
          <xsd:enumeration value="Fortune Brands Inc"/>
          <xsd:enumeration value="Forum"/>
          <xsd:enumeration value="FOSSIL"/>
          <xsd:enumeration value="Foster Farms"/>
          <xsd:enumeration value="Foster Wheeler"/>
          <xsd:enumeration value="Foster's Group"/>
          <xsd:enumeration value="Fosters Wine Estates"/>
          <xsd:enumeration value="Four Seasons"/>
          <xsd:enumeration value="Fox Holdings"/>
          <xsd:enumeration value="Foxwoods Casino"/>
          <xsd:enumeration value="France Telecom Group"/>
          <xsd:enumeration value="Franciscan Missionaries of Our Lady"/>
          <xsd:enumeration value="Franciscan Services Corp"/>
          <xsd:enumeration value="Franke Foodservice Systems"/>
          <xsd:enumeration value="Franklin Covey"/>
          <xsd:enumeration value="Franklin Electric"/>
          <xsd:enumeration value="Franklin Templeton"/>
          <xsd:enumeration value="Fraport AG Frankfurt Airport Services Worldwide"/>
          <xsd:enumeration value="Fraport Group"/>
          <xsd:enumeration value="Fraser Health Authority"/>
          <xsd:enumeration value="Fraser Papers Inc."/>
          <xsd:enumeration value="Frederick Memorial Healthcare System"/>
          <xsd:enumeration value="Fred's Inc"/>
          <xsd:enumeration value="Freedom Communications"/>
          <xsd:enumeration value="Freeman Companies"/>
          <xsd:enumeration value="Freeport-McMoran"/>
          <xsd:enumeration value="Freescale Semiconductor Inc"/>
          <xsd:enumeration value="Fremont Bancorporation"/>
          <xsd:enumeration value="Fremont-Rideout Health Group"/>
          <xsd:enumeration value="Fresenius Medical Care"/>
          <xsd:enumeration value="Fresenius SE"/>
          <xsd:enumeration value="Fresh Del Monte Produce Inc."/>
          <xsd:enumeration value="Freudenberg &amp; Co. Kommanditgesellschaft"/>
          <xsd:enumeration value="Freudenburg - Nok General Partnership"/>
          <xsd:enumeration value="Friedhelm Loh Stiftung &amp; Co. KG"/>
          <xsd:enumeration value="Friedkin Companies, Inc."/>
          <xsd:enumeration value="Friendly Ice Cream Corp"/>
          <xsd:enumeration value="Frischs Restaurants Inc"/>
          <xsd:enumeration value="Fritz Dräxlmaier Holding GmbH"/>
          <xsd:enumeration value="Fritz Schäfer KG"/>
          <xsd:enumeration value="Froedtert &amp; Community Health"/>
          <xsd:enumeration value="Frontline Technologies"/>
          <xsd:enumeration value="Fubon Financial Holding Co., Ltd."/>
          <xsd:enumeration value="Fuji Heavy Industries Ltd."/>
          <xsd:enumeration value="FUJIFILM Holdings Corp"/>
          <xsd:enumeration value="Fujisawa Pharmaceutical Co"/>
          <xsd:enumeration value="Fujitsu Electronics"/>
          <xsd:enumeration value="Fulton Financial Corporation"/>
          <xsd:enumeration value="Futureplus Financial Services"/>
          <xsd:enumeration value="G &amp; K Services Inc"/>
          <xsd:enumeration value="G2000 (Holdings) Limited"/>
          <xsd:enumeration value="G4S PLC"/>
          <xsd:enumeration value="Gabberts Furniture"/>
          <xsd:enumeration value="Gaf Corp"/>
          <xsd:enumeration value="Gai Consultants Inc"/>
          <xsd:enumeration value="Galderma"/>
          <xsd:enumeration value="Galey &amp; Lord Industries Inc"/>
          <xsd:enumeration value="Galileo International"/>
          <xsd:enumeration value="Gambro Healthcare,Inc"/>
          <xsd:enumeration value="GameStop Corporation"/>
          <xsd:enumeration value="Gaming Laboratories International LLC"/>
          <xsd:enumeration value="Gannett Company"/>
          <xsd:enumeration value="Gap"/>
          <xsd:enumeration value="Garda World Security Corporation"/>
          <xsd:enumeration value="Gardner Denver, Inc"/>
          <xsd:enumeration value="Garmin International"/>
          <xsd:enumeration value="Garmin Ltd."/>
          <xsd:enumeration value="Gartner, Inc."/>
          <xsd:enumeration value="Gate Gourmet Inc"/>
          <xsd:enumeration value="Gategroup Holding AG"/>
          <xsd:enumeration value="Gateway Inc"/>
          <xsd:enumeration value="Gaylord Container Corp"/>
          <xsd:enumeration value="Gaylord Entertainment"/>
          <xsd:enumeration value="GDF SUEZ"/>
          <xsd:enumeration value="GEA Group AG"/>
          <xsd:enumeration value="Geberit AG"/>
          <xsd:enumeration value="Gebr. Heinemann SE &amp; Co. KG"/>
          <xsd:enumeration value="Gefco Group"/>
          <xsd:enumeration value="Geisinger Health System"/>
          <xsd:enumeration value="Gemcom Software Australia"/>
          <xsd:enumeration value="GENCO"/>
          <xsd:enumeration value="Gencorp"/>
          <xsd:enumeration value="Genencor International"/>
          <xsd:enumeration value="General Atomics"/>
          <xsd:enumeration value="General Cable Corporation"/>
          <xsd:enumeration value="General Dynamics"/>
          <xsd:enumeration value="General Electric"/>
          <xsd:enumeration value="General Electric Company"/>
          <xsd:enumeration value="General Mills"/>
          <xsd:enumeration value="General Motors Corporation"/>
          <xsd:enumeration value="General Physics UK"/>
          <xsd:enumeration value="General Signal"/>
          <xsd:enumeration value="Generali"/>
          <xsd:enumeration value="Genesco Inc"/>
          <xsd:enumeration value="Genesis Health System"/>
          <xsd:enumeration value="Genesis HealthCare System"/>
          <xsd:enumeration value="Genivar Inc"/>
          <xsd:enumeration value="Genstar Cement"/>
          <xsd:enumeration value="Gentek Inc"/>
          <xsd:enumeration value="Gentiva Health Services"/>
          <xsd:enumeration value="Genuine Parts Company"/>
          <xsd:enumeration value="Genworth Financial"/>
          <xsd:enumeration value="Genzyme"/>
          <xsd:enumeration value="Georg Fischer AG"/>
          <xsd:enumeration value="George P. Johnson Company"/>
          <xsd:enumeration value="George Washington University"/>
          <xsd:enumeration value="George Weston Limited"/>
          <xsd:enumeration value="Georgia Gulf Corporation"/>
          <xsd:enumeration value="Georgsmarienhutte Holding GmbH"/>
          <xsd:enumeration value="Geoservices"/>
          <xsd:enumeration value="Gerling-Gruppe"/>
          <xsd:enumeration value="Gerresheimer AG"/>
          <xsd:enumeration value="Getinge AB"/>
          <xsd:enumeration value="GETRAG Getriebe- und Zahnradfabrik Hermann Hagenmeyer GmbH &amp; Cie KG"/>
          <xsd:enumeration value="Getronics NV"/>
          <xsd:enumeration value="Gevity HR Inc"/>
          <xsd:enumeration value="GfK SE"/>
          <xsd:enumeration value="GFKL-Gruppe"/>
          <xsd:enumeration value="Giant (China) Co., Ltd."/>
          <xsd:enumeration value="Giant Cement Holding Inc"/>
          <xsd:enumeration value="Giant Eagle Inc"/>
          <xsd:enumeration value="Gibson Guitar Corporation"/>
          <xsd:enumeration value="Gichner Systems Group Inc"/>
          <xsd:enumeration value="Giesecke &amp; Devrient GmbH"/>
          <xsd:enumeration value="Gilbane Inc."/>
          <xsd:enumeration value="Gilead Sciences Inc"/>
          <xsd:enumeration value="Gilsa Products And Services"/>
          <xsd:enumeration value="Giraffe Holding, Inc."/>
          <xsd:enumeration value="Givaudan SA"/>
          <xsd:enumeration value="GKN Inc"/>
          <xsd:enumeration value="Gladstone Ports Corporation"/>
          <xsd:enumeration value="GlaxoSmithKline"/>
          <xsd:enumeration value="GLENCORE XSTRATA PLC"/>
          <xsd:enumeration value="Global Crossing Limited"/>
          <xsd:enumeration value="Global Foundries"/>
          <xsd:enumeration value="Global Industries"/>
          <xsd:enumeration value="Global Knowledge Network Inc"/>
          <xsd:enumeration value="Global Mobility Holding B.V."/>
          <xsd:enumeration value="Global Payments Inc"/>
          <xsd:enumeration value="GN Resound"/>
          <xsd:enumeration value="GNC"/>
          <xsd:enumeration value="GNC Holdings Inc"/>
          <xsd:enumeration value="Go Daddy"/>
          <xsd:enumeration value="Godiva Chocolatier"/>
          <xsd:enumeration value="Gold Cheers Limited"/>
          <xsd:enumeration value="Gold Toe Brands Inc"/>
          <xsd:enumeration value="Golden Living"/>
          <xsd:enumeration value="Golden State Foods"/>
          <xsd:enumeration value="Goldendale Aluminum"/>
          <xsd:enumeration value="Golder Associates Ltd"/>
          <xsd:enumeration value="Goldman Sachs"/>
          <xsd:enumeration value="Goodlife Fitness Clubs"/>
          <xsd:enumeration value="Goodrich Corporation"/>
          <xsd:enumeration value="Goodwill Industries"/>
          <xsd:enumeration value="Goodyear Tire &amp; Rubber"/>
          <xsd:enumeration value="Google"/>
          <xsd:enumeration value="Gordon Food Service"/>
          <xsd:enumeration value="Gould Inc"/>
          <xsd:enumeration value="Goverment AU - Queensland"/>
          <xsd:enumeration value="Goverment AU - Victoria"/>
          <xsd:enumeration value="Government AU - NSW"/>
          <xsd:enumeration value="Governmental Agencies"/>
          <xsd:enumeration value="Governmental Agencies - Canada"/>
          <xsd:enumeration value="GPU Service Corp"/>
          <xsd:enumeration value="Grady Health System"/>
          <xsd:enumeration value="GrafTech International Ltd."/>
          <xsd:enumeration value="Graham Packaging Company"/>
          <xsd:enumeration value="GRAMMER AG"/>
          <xsd:enumeration value="Granite Construction, Inc"/>
          <xsd:enumeration value="Grant Prideco Inc"/>
          <xsd:enumeration value="Grant Thornton International"/>
          <xsd:enumeration value="Graphic Packaging International, Inc."/>
          <xsd:enumeration value="Graybar Electric"/>
          <xsd:enumeration value="Great Canadian Casinos Inc"/>
          <xsd:enumeration value="Great Clips"/>
          <xsd:enumeration value="Great Lakes Chemical Corp"/>
          <xsd:enumeration value="Great Lakes Health Network"/>
          <xsd:enumeration value="Great Plains Energy"/>
          <xsd:enumeration value="Great Plains Health Alliance Inc"/>
          <xsd:enumeration value="Great West Life"/>
          <xsd:enumeration value="Greatbatch Inc."/>
          <xsd:enumeration value="Greater Hudson Valley Health System"/>
          <xsd:enumeration value="Greatland Corporation"/>
          <xsd:enumeration value="Green Bay Packaging Inc."/>
          <xsd:enumeration value="Greenheck Fan Corporation"/>
          <xsd:enumeration value="Greentown Real Estate Group Co., Ltd."/>
          <xsd:enumeration value="Greenville Hospital System"/>
          <xsd:enumeration value="Greif, Inc."/>
          <xsd:enumeration value="Grey Global Group Inc"/>
          <xsd:enumeration value="Greyhound Lines Inc"/>
          <xsd:enumeration value="Grifols"/>
          <xsd:enumeration value="Grossmont-Cuyamaca CCD"/>
          <xsd:enumeration value="Group 4 Securicor Plc"/>
          <xsd:enumeration value="Group Banque Populaires"/>
          <xsd:enumeration value="Group Danone"/>
          <xsd:enumeration value="Group Galeries Lafayette"/>
          <xsd:enumeration value="Group Health Cooperative"/>
          <xsd:enumeration value="Groupe Cirque Du Soleil Inc"/>
          <xsd:enumeration value="Groupe Industrielle Alliance"/>
          <xsd:enumeration value="Groupe Le Duff"/>
          <xsd:enumeration value="Groupe SEB"/>
          <xsd:enumeration value="Groupe Synergie"/>
          <xsd:enumeration value="Groz-Beckert KG"/>
          <xsd:enumeration value="Gruma Corp"/>
          <xsd:enumeration value="Grünenthal Group"/>
          <xsd:enumeration value="Grupo ACS"/>
          <xsd:enumeration value="Grupo Bimbo, S.A."/>
          <xsd:enumeration value="Grupo Cydsa S A De C V"/>
          <xsd:enumeration value="Grupo Financiero BBVA Bancomer"/>
          <xsd:enumeration value="Grupo Hima San Pablo"/>
          <xsd:enumeration value="Grupo Industrial Lala"/>
          <xsd:enumeration value="Grupo Santander"/>
          <xsd:enumeration value="GSI Commerce"/>
          <xsd:enumeration value="Guaranty Federal Bancshares Inc"/>
          <xsd:enumeration value="Guaranty National Insurance"/>
          <xsd:enumeration value="Guardian Industries"/>
          <xsd:enumeration value="Guardian Life Insurance Co. of America"/>
          <xsd:enumeration value="Guess"/>
          <xsd:enumeration value="Guidant"/>
          <xsd:enumeration value="Guilford Mills"/>
          <xsd:enumeration value="Guinness Peat Group Plc"/>
          <xsd:enumeration value="Gulf Coast American Blind Corp"/>
          <xsd:enumeration value="Gulf Coast Regional Blood Center"/>
          <xsd:enumeration value="Gulf National Consultants"/>
          <xsd:enumeration value="Gulf National Consulting"/>
          <xsd:enumeration value="Gulf States Paper Corp"/>
          <xsd:enumeration value="Gulfstream Aerospace Corp"/>
          <xsd:enumeration value="GUS plc"/>
          <xsd:enumeration value="Guthrie Healthcare System"/>
          <xsd:enumeration value="GWA International Limited"/>
          <xsd:enumeration value="GWH Immobilien Holding"/>
          <xsd:enumeration value="Gwinnett Health System"/>
          <xsd:enumeration value="H &amp; R Block Inc"/>
          <xsd:enumeration value="H B Fuller"/>
          <xsd:enumeration value="H D R Inc"/>
          <xsd:enumeration value="H J Heinz Company"/>
          <xsd:enumeration value="H.C. Starck Group"/>
          <xsd:enumeration value="Häfele KG"/>
          <xsd:enumeration value="Hagebau Group"/>
          <xsd:enumeration value="Hagemeyer NA"/>
          <xsd:enumeration value="Hager SE"/>
          <xsd:enumeration value="Haggar Corp"/>
          <xsd:enumeration value="Halifax Fish Community Health"/>
          <xsd:enumeration value="Halifax Media Group"/>
          <xsd:enumeration value="Halkos Holdings, LLC"/>
          <xsd:enumeration value="Halliburton Company"/>
          <xsd:enumeration value="Hallmark Cards"/>
          <xsd:enumeration value="Hallmark Health System"/>
          <xsd:enumeration value="Hamot Medical Center"/>
          <xsd:enumeration value="Hancock Bank"/>
          <xsd:enumeration value="Hanesbrands Inc"/>
          <xsd:enumeration value="Hanger Orthopedic"/>
          <xsd:enumeration value="Haniel Group"/>
          <xsd:enumeration value="Hannaford Brothers"/>
          <xsd:enumeration value="Hanover Insurance Group"/>
          <xsd:enumeration value="Hanson PLC"/>
          <xsd:enumeration value="Hapsco Group Inc"/>
          <xsd:enumeration value="Harborside Healthcare"/>
          <xsd:enumeration value="Harley Davidson"/>
          <xsd:enumeration value="Harleysville Insurance"/>
          <xsd:enumeration value="Harman International Industries Inc."/>
          <xsd:enumeration value="Harris Corporation"/>
          <xsd:enumeration value="Harris County Hospital District"/>
          <xsd:enumeration value="Harris Teeter Supermarkets Inc"/>
          <xsd:enumeration value="Harsco Corporation"/>
          <xsd:enumeration value="Harte-Hanks"/>
          <xsd:enumeration value="Hartford Financial Services Group"/>
          <xsd:enumeration value="Hartford Health"/>
          <xsd:enumeration value="Hartmann Gruppe"/>
          <xsd:enumeration value="Harvard Business School"/>
          <xsd:enumeration value="Harvard Pilgrim Health Care Inc"/>
          <xsd:enumeration value="Harvard University"/>
          <xsd:enumeration value="Hasbro Inc"/>
          <xsd:enumeration value="Haverty's"/>
          <xsd:enumeration value="Hawaii Health System Corp"/>
          <xsd:enumeration value="Hawaii Pacific Health"/>
          <xsd:enumeration value="Hawaiian Electric Company"/>
          <xsd:enumeration value="Haworth Inc"/>
          <xsd:enumeration value="Hay Group"/>
          <xsd:enumeration value="Hbf Health Funds Inc"/>
          <xsd:enumeration value="HCA"/>
          <xsd:enumeration value="HCL Technologies Limited"/>
          <xsd:enumeration value="HCR Manorcare"/>
          <xsd:enumeration value="HD Supply"/>
          <xsd:enumeration value="HDI Haftpflichtverband der Deutschen Industrie Versicherungsverein auf Gegenseitigkeit"/>
          <xsd:enumeration value="Health Alliance Of Greater Cincinnati"/>
          <xsd:enumeration value="Health First"/>
          <xsd:enumeration value="Health Integrated"/>
          <xsd:enumeration value="Health Management Association"/>
          <xsd:enumeration value="Health Net"/>
          <xsd:enumeration value="Health Resources Alliance"/>
          <xsd:enumeration value="Healthcare Financial Management Association"/>
          <xsd:enumeration value="HealthCare Partners"/>
          <xsd:enumeration value="Healtheast Care System"/>
          <xsd:enumeration value="Healthplus Corp"/>
          <xsd:enumeration value="Healthsmart Pacific Inc"/>
          <xsd:enumeration value="Healthsouth"/>
          <xsd:enumeration value="Healthspring"/>
          <xsd:enumeration value="Hearst Corporation"/>
          <xsd:enumeration value="Heartland Community College"/>
          <xsd:enumeration value="Heartland Health"/>
          <xsd:enumeration value="Heartland Payment Systems Inc"/>
          <xsd:enumeration value="HEB"/>
          <xsd:enumeration value="Hecla Mining Company"/>
          <xsd:enumeration value="HeidelbergCement AG"/>
          <xsd:enumeration value="HeidelbergCementGroup"/>
          <xsd:enumeration value="Heidelberger Druckmaschinen AG"/>
          <xsd:enumeration value="Heineken USA Inc"/>
          <xsd:enumeration value="Hella Kgaa Hueck &amp; Co"/>
          <xsd:enumeration value="Hellmann Worldwide Logistics GmbH &amp; Co. KG"/>
          <xsd:enumeration value="Henkel AG"/>
          <xsd:enumeration value="Henry Ford Health System"/>
          <xsd:enumeration value="Henry Schein Inc"/>
          <xsd:enumeration value="Heraeus Holding GmbH"/>
          <xsd:enumeration value="Herbalife International Ltd Inc"/>
          <xsd:enumeration value="Hercules Inc"/>
          <xsd:enumeration value="Heritage Bank of Commerce"/>
          <xsd:enumeration value="Heritage Valley Health System"/>
          <xsd:enumeration value="Herman Miller Inc"/>
          <xsd:enumeration value="Herr Foods Incorporated"/>
          <xsd:enumeration value="Hershey Company"/>
          <xsd:enumeration value="Hertz"/>
          <xsd:enumeration value="Hess Corporation"/>
          <xsd:enumeration value="Hettich Holding GmbH &amp; Co. oHG"/>
          <xsd:enumeration value="Hewitt Associates"/>
          <xsd:enumeration value="Hewlett Packard"/>
          <xsd:enumeration value="Hexagon AB"/>
          <xsd:enumeration value="Hexcel Corporation"/>
          <xsd:enumeration value="HFF, Inc."/>
          <xsd:enumeration value="Hillcrest HealthCare System"/>
          <xsd:enumeration value="Hillenbrand Industries"/>
          <xsd:enumeration value="Hillenbrand Switzerland GmbH"/>
          <xsd:enumeration value="Hillshire Brands"/>
          <xsd:enumeration value="Hilti Group"/>
          <xsd:enumeration value="Hilton Hotels Corporation"/>
          <xsd:enumeration value="Himont"/>
          <xsd:enumeration value="Hire.com"/>
          <xsd:enumeration value="HirePursuit"/>
          <xsd:enumeration value="HireRight"/>
          <xsd:enumeration value="Hitachi, Ltd."/>
          <xsd:enumeration value="HMV Group"/>
          <xsd:enumeration value="HNTB"/>
          <xsd:enumeration value="Hoag Memorial Hospital Presbyterian"/>
          <xsd:enumeration value="Hochtief Group"/>
          <xsd:enumeration value="Hoerbiger"/>
          <xsd:enumeration value="Holcim Ltd"/>
          <xsd:enumeration value="HOLDAG Beteiligungsgesellschaft m.b.H."/>
          <xsd:enumeration value="Hollingsworth &amp; Vose Company"/>
          <xsd:enumeration value="Hologic"/>
          <xsd:enumeration value="Home Properties"/>
          <xsd:enumeration value="Homeaway, Inc."/>
          <xsd:enumeration value="Homebanc Corp"/>
          <xsd:enumeration value="Homesite Group Incorporated"/>
          <xsd:enumeration value="Hon Hai"/>
          <xsd:enumeration value="HON Industries Inc"/>
          <xsd:enumeration value="Honda"/>
          <xsd:enumeration value="Honeywell Inc"/>
          <xsd:enumeration value="Hood Packaging Corporation"/>
          <xsd:enumeration value="Hopp Beteiligungsges. mbH &amp; Co. KG"/>
          <xsd:enumeration value="Horizon Bay Retirement Living"/>
          <xsd:enumeration value="Horizon Health Corporation"/>
          <xsd:enumeration value="Hormel Foods Corporation"/>
          <xsd:enumeration value="Hornbach Holding AG"/>
          <xsd:enumeration value="Horseshoe Entertainment"/>
          <xsd:enumeration value="Hospira Inc"/>
          <xsd:enumeration value="Hospital Of Central CT At New Britain"/>
          <xsd:enumeration value="Hospital Partners Of America"/>
          <xsd:enumeration value="Hospital Sisters Health System"/>
          <xsd:enumeration value="Hostess Brands Inc"/>
          <xsd:enumeration value="Hotel Dieu Hospital Group"/>
          <xsd:enumeration value="Hotel Nikko"/>
          <xsd:enumeration value="Houghton Mifflin Harcourt"/>
          <xsd:enumeration value="House of Blues"/>
          <xsd:enumeration value="Houston Methodist"/>
          <xsd:enumeration value="Hovnanian Enterprises, Inc."/>
          <xsd:enumeration value="Howmet"/>
          <xsd:enumeration value="HOYA CORPORATION"/>
          <xsd:enumeration value="Hoyer GmbH Internationale Fachspedition"/>
          <xsd:enumeration value="HPR Partners"/>
          <xsd:enumeration value="HR.com"/>
          <xsd:enumeration value="HSBC Holdings plc"/>
          <xsd:enumeration value="HTC Corporation"/>
          <xsd:enumeration value="Hua Hong Semiconductor Limited"/>
          <xsd:enumeration value="Huawei Technologies Co., Ltd."/>
          <xsd:enumeration value="HUB Group Inc."/>
          <xsd:enumeration value="Hubbell"/>
          <xsd:enumeration value="Hubert Burda Media"/>
          <xsd:enumeration value="Hudson Valley Federal Credit Union"/>
          <xsd:enumeration value="Hudson's Bay Company"/>
          <xsd:enumeration value="Huffy Corp"/>
          <xsd:enumeration value="Hugo Kern und Liebers GmbH &amp; Co. KG Platinen- und Federnfabrik"/>
          <xsd:enumeration value="Huhtamaki"/>
          <xsd:enumeration value="Human Element Of Business"/>
          <xsd:enumeration value="Humana"/>
          <xsd:enumeration value="Hunt"/>
          <xsd:enumeration value="Hunter Douglas NV"/>
          <xsd:enumeration value="Huntington Bank"/>
          <xsd:enumeration value="Huntsman"/>
          <xsd:enumeration value="Huntsman Corp"/>
          <xsd:enumeration value="Huron Consulting Group"/>
          <xsd:enumeration value="Husky Oil"/>
          <xsd:enumeration value="Husqvarna AB"/>
          <xsd:enumeration value="Hutchinson Technology Inc"/>
          <xsd:enumeration value="Hyatt Corporation"/>
          <xsd:enumeration value="Hydro Aluminum"/>
          <xsd:enumeration value="Hydro One"/>
          <xsd:enumeration value="Hydro Ottawa Holding Inc"/>
          <xsd:enumeration value="Hyperion Solutions Corporation"/>
          <xsd:enumeration value="Hypertherm, Inc."/>
          <xsd:enumeration value="Hyundai Motor"/>
          <xsd:enumeration value="Hyundai of Canada"/>
          <xsd:enumeration value="Hy-Vee Inc"/>
          <xsd:enumeration value="I. K. Hofmann GmbH"/>
          <xsd:enumeration value="I.M.P. Group International Incorporated"/>
          <xsd:enumeration value="IAMGOLD"/>
          <xsd:enumeration value="Iams Company"/>
          <xsd:enumeration value="IASIS Health Care"/>
          <xsd:enumeration value="IAV GmbH Ingenieurgesellschaft Auto und Verkehr"/>
          <xsd:enumeration value="IBIDEN CO., LTD."/>
          <xsd:enumeration value="IBM Corporation"/>
          <xsd:enumeration value="IBM Deutschland GmbH"/>
          <xsd:enumeration value="IBP Inc"/>
          <xsd:enumeration value="IC Corporation"/>
          <xsd:enumeration value="Icarian"/>
          <xsd:enumeration value="ICI Group"/>
          <xsd:enumeration value="Icon plc"/>
          <xsd:enumeration value="Icoria"/>
          <xsd:enumeration value="ICT Group Inc"/>
          <xsd:enumeration value="Idaho Power"/>
          <xsd:enumeration value="IDEX Corporation"/>
          <xsd:enumeration value="IDEXX Laboratories Inc"/>
          <xsd:enumeration value="IDT Corporation"/>
          <xsd:enumeration value="IDX Systems Corporation"/>
          <xsd:enumeration value="IFS North America"/>
          <xsd:enumeration value="Ihealth Technologies Inc"/>
          <xsd:enumeration value="IKO Industries"/>
          <xsd:enumeration value="Ikon Office Solutions Inc"/>
          <xsd:enumeration value="Ilitch Holdings, Inc."/>
          <xsd:enumeration value="Illinois CC"/>
          <xsd:enumeration value="Illinois Eastern Community Colleges"/>
          <xsd:enumeration value="Illinois Tool Works Inc"/>
          <xsd:enumeration value="Illumina Inc"/>
          <xsd:enumeration value="Imagistics International Inc."/>
          <xsd:enumeration value="IMC Corporation"/>
          <xsd:enumeration value="IMDS (Innovative Medical Device Solutions)"/>
          <xsd:enumeration value="IMI plc"/>
          <xsd:enumeration value="Imperial Metals Corporation"/>
          <xsd:enumeration value="Imperial Tobacco"/>
          <xsd:enumeration value="Imprimerie Quebecor Inc"/>
          <xsd:enumeration value="IMS Benelux Holding Coöperatieve U.A."/>
          <xsd:enumeration value="IMS Health"/>
          <xsd:enumeration value="InBev S.A."/>
          <xsd:enumeration value="Inchcape plc"/>
          <xsd:enumeration value="Incyte Genomics Inc"/>
          <xsd:enumeration value="Indalex"/>
          <xsd:enumeration value="Independent Consultant"/>
          <xsd:enumeration value="Independent Facility"/>
          <xsd:enumeration value="Indesit Company SpA"/>
          <xsd:enumeration value="Indiana Statewide"/>
          <xsd:enumeration value="Indiana University"/>
          <xsd:enumeration value="Indiana University Health"/>
          <xsd:enumeration value="Industria de Diseño Textil, S.A."/>
          <xsd:enumeration value="Industrial Alliance Pacific Life Ins Co"/>
          <xsd:enumeration value="Industrial and Commercial Bank of China Limited"/>
          <xsd:enumeration value="IndyMac Bancorp, Inc"/>
          <xsd:enumeration value="INEOS"/>
          <xsd:enumeration value="INEOS AG"/>
          <xsd:enumeration value="Infineon Technologies AG"/>
          <xsd:enumeration value="Infinity Insurance"/>
          <xsd:enumeration value="Infirmary Health Systems"/>
          <xsd:enumeration value="Information Handling Services (IHS)"/>
          <xsd:enumeration value="Information Resources Inc"/>
          <xsd:enumeration value="Infosys"/>
          <xsd:enumeration value="ING Group"/>
          <xsd:enumeration value="Ingersoll Rand"/>
          <xsd:enumeration value="Ingersoll-Rand (Hong Kong) Holding Company Limited"/>
          <xsd:enumeration value="INGKA Holding B.V."/>
          <xsd:enumeration value="Ingles Markets Inc"/>
          <xsd:enumeration value="Ingram Micro Inc"/>
          <xsd:enumeration value="Ingredion Incorporated"/>
          <xsd:enumeration value="Inland Industries"/>
          <xsd:enumeration value="Inmet Mining Corp"/>
          <xsd:enumeration value="Inner Harbour Hospitals Limited"/>
          <xsd:enumeration value="Innosource"/>
          <xsd:enumeration value="Innovative Medical Device Solutions"/>
          <xsd:enumeration value="Inova Health System"/>
          <xsd:enumeration value="Inroads/Northeast Ohio"/>
          <xsd:enumeration value="Insight Enterprises"/>
          <xsd:enumeration value="Insilco Corporation"/>
          <xsd:enumeration value="Insperity Inc"/>
          <xsd:enumeration value="Inspira Health Network, Inc."/>
          <xsd:enumeration value="Inspire Pharmaceuticals"/>
          <xsd:enumeration value="Insteel Wire"/>
          <xsd:enumeration value="Institute of Nuclear Technology"/>
          <xsd:enumeration value="Insurance Australia Group"/>
          <xsd:enumeration value="Intact Financial Corporation"/>
          <xsd:enumeration value="Intechra"/>
          <xsd:enumeration value="Integral Energy Australia"/>
          <xsd:enumeration value="Integral International Trading Company Limited"/>
          <xsd:enumeration value="Integrated Device Technology"/>
          <xsd:enumeration value="Integrated Healthcare Holdings"/>
          <xsd:enumeration value="Integrated Medical Systems, Inc"/>
          <xsd:enumeration value="Integris Health"/>
          <xsd:enumeration value="Integrys Energy Group Inc"/>
          <xsd:enumeration value="Intel Corporation"/>
          <xsd:enumeration value="InterContinental Hotels Group"/>
          <xsd:enumeration value="Interface Inc"/>
          <xsd:enumeration value="Intergen"/>
          <xsd:enumeration value="Interior Health"/>
          <xsd:enumeration value="Interior Systems"/>
          <xsd:enumeration value="Interlake Corp"/>
          <xsd:enumeration value="Intermagnetics General Corporation"/>
          <xsd:enumeration value="Intermec"/>
          <xsd:enumeration value="Intermedia Communications"/>
          <xsd:enumeration value="Intermountain Health Care"/>
          <xsd:enumeration value="Internal Consultant"/>
          <xsd:enumeration value="International Capital and Management Company"/>
          <xsd:enumeration value="International Data Group"/>
          <xsd:enumeration value="International Enterprise Singapore"/>
          <xsd:enumeration value="International Flavors &amp; Fragrances Inc"/>
          <xsd:enumeration value="International Forest Products Limited"/>
          <xsd:enumeration value="International Paper Co"/>
          <xsd:enumeration value="International Personal Finance"/>
          <xsd:enumeration value="International Power plc"/>
          <xsd:enumeration value="International Specialty Products Inc"/>
          <xsd:enumeration value="International Steel Group"/>
          <xsd:enumeration value="Interpublic Group of Companies, Inc."/>
          <xsd:enumeration value="Intersnack Knabber-Gebäck Group"/>
          <xsd:enumeration value="Interstate Hotels &amp; Resorts"/>
          <xsd:enumeration value="Interwoven Inc"/>
          <xsd:enumeration value="Intraware"/>
          <xsd:enumeration value="Intrawest Corporation"/>
          <xsd:enumeration value="INTRUST Financial Corp"/>
          <xsd:enumeration value="Intuit"/>
          <xsd:enumeration value="Intuitive Surgical"/>
          <xsd:enumeration value="Invacare Corp"/>
          <xsd:enumeration value="Invensys Plc"/>
          <xsd:enumeration value="Inventiv Health Inc"/>
          <xsd:enumeration value="Investitionsbank Schleswig-Holstein"/>
          <xsd:enumeration value="Investment Corporation of Dubai (“ICD”)"/>
          <xsd:enumeration value="Investor AB"/>
          <xsd:enumeration value="Invista Performance Solutions"/>
          <xsd:enumeration value="Iowa CC"/>
          <xsd:enumeration value="Iowa Health System"/>
          <xsd:enumeration value="Iowa Network Services, Inc."/>
          <xsd:enumeration value="iPCS Inc"/>
          <xsd:enumeration value="IPL Energy"/>
          <xsd:enumeration value="Ipsos Group"/>
          <xsd:enumeration value="Ireland San Filippo"/>
          <xsd:enumeration value="Iris Software PL"/>
          <xsd:enumeration value="Iron Mountain Incorporated"/>
          <xsd:enumeration value="Iron Ore Company of Canada"/>
          <xsd:enumeration value="Irwin Financial Corp"/>
          <xsd:enumeration value="ISO New England"/>
          <xsd:enumeration value="ISS A/S"/>
          <xsd:enumeration value="ista Holdco 1 S.A."/>
          <xsd:enumeration value="ITC Limited"/>
          <xsd:enumeration value="ITOCHU Corporation"/>
          <xsd:enumeration value="Itron Incorporated"/>
          <xsd:enumeration value="ITT Industries"/>
          <xsd:enumeration value="Ivans"/>
          <xsd:enumeration value="Ivy Tech Community College"/>
          <xsd:enumeration value="J &amp; J Snack Foods Corp"/>
          <xsd:enumeration value="J C Penney Co"/>
          <xsd:enumeration value="J Crew Group Inc"/>
          <xsd:enumeration value="J D Irving Limited"/>
          <xsd:enumeration value="J F Shea Co Inc"/>
          <xsd:enumeration value="J M Huber Corp"/>
          <xsd:enumeration value="J M Smucker Company"/>
          <xsd:enumeration value="J R Simplot"/>
          <xsd:enumeration value="J. Bünting Beteiligungs AG"/>
          <xsd:enumeration value="J.P. Morgan Chase &amp; Co"/>
          <xsd:enumeration value="Jabil Circuit Inc"/>
          <xsd:enumeration value="Jack Henry &amp; Associates Inc"/>
          <xsd:enumeration value="Jack In The Box Inc"/>
          <xsd:enumeration value="Jackson Health System"/>
          <xsd:enumeration value="Jacobs Engineering Group Inc"/>
          <xsd:enumeration value="Jacobs Stiftung"/>
          <xsd:enumeration value="JAKOBS STIFTUNG"/>
          <xsd:enumeration value="James Hardie Industries Inc"/>
          <xsd:enumeration value="Japan Airlines Co Ltd"/>
          <xsd:enumeration value="Japan Tobacco International"/>
          <xsd:enumeration value="Jarden Corporation"/>
          <xsd:enumeration value="Jardine Matheson Holdings Limited"/>
          <xsd:enumeration value="Jazz Pharmaceuticals"/>
          <xsd:enumeration value="JB Hunt Transport Services Inc"/>
          <xsd:enumeration value="JDS Uniphase Corp"/>
          <xsd:enumeration value="JEA"/>
          <xsd:enumeration value="Jean Development Company"/>
          <xsd:enumeration value="Jefferson CC"/>
          <xsd:enumeration value="Jefferson County Public Schools"/>
          <xsd:enumeration value="Jefferson Health System"/>
          <xsd:enumeration value="Jefferson Pilot Corporation"/>
          <xsd:enumeration value="Jelf Group Plc"/>
          <xsd:enumeration value="Jenny Craig Inc"/>
          <xsd:enumeration value="Jetblue Airways Corporation"/>
          <xsd:enumeration value="Jewish Hospital &amp; St. Mary's Healthcare"/>
          <xsd:enumeration value="JG Summit Holdings Inc."/>
          <xsd:enumeration value="JK Harris &amp; Company"/>
          <xsd:enumeration value="JM Family Enterprises"/>
          <xsd:enumeration value="JobPlex Inc"/>
          <xsd:enumeration value="Jockey International"/>
          <xsd:enumeration value="Joh. Vaillant GmbH &amp; Co. KG"/>
          <xsd:enumeration value="John Alden Financial Corp"/>
          <xsd:enumeration value="John C. Lincoln Health Network"/>
          <xsd:enumeration value="John Carroll University"/>
          <xsd:enumeration value="John H Harland Co"/>
          <xsd:enumeration value="John Hancock Mutual Insurance"/>
          <xsd:enumeration value="John Muir Health"/>
          <xsd:enumeration value="John Wiley &amp; Sons"/>
          <xsd:enumeration value="John Wiley &amp; Sons Inc"/>
          <xsd:enumeration value="John Wood Group PLC"/>
          <xsd:enumeration value="Johns Hopkins"/>
          <xsd:enumeration value="Johnson &amp; Johnson"/>
          <xsd:enumeration value="Johnson Controls"/>
          <xsd:enumeration value="Johnson County Community College"/>
          <xsd:enumeration value="Johnson Electric Group"/>
          <xsd:enumeration value="Johnson Matthey plc"/>
          <xsd:enumeration value="Jollibee Foods Corporation"/>
          <xsd:enumeration value="Jones Lang LaSalle Incorporated"/>
          <xsd:enumeration value="Journal Communications"/>
          <xsd:enumeration value="Joy Global, Inc."/>
          <xsd:enumeration value="Joy Mining"/>
          <xsd:enumeration value="JPM Company"/>
          <xsd:enumeration value="JPS Health Network"/>
          <xsd:enumeration value="JT International"/>
          <xsd:enumeration value="JTEKT Corporation"/>
          <xsd:enumeration value="Jungheinrich AG"/>
          <xsd:enumeration value="Junior Achievement"/>
          <xsd:enumeration value="Juniper Networks"/>
          <xsd:enumeration value="K+S AG"/>
          <xsd:enumeration value="K2-B Commercial Services"/>
          <xsd:enumeration value="Kaba Group"/>
          <xsd:enumeration value="KAEFER Isoliertechnik GmbH &amp; Co. K"/>
          <xsd:enumeration value="Kaiser Aluminum &amp; Chemical Co"/>
          <xsd:enumeration value="Kaiser Permanente"/>
          <xsd:enumeration value="KAJIMA CORPORATION"/>
          <xsd:enumeration value="Kaleida Health"/>
          <xsd:enumeration value="Kamax Group"/>
          <xsd:enumeration value="Kangan Batman Tafe"/>
          <xsd:enumeration value="Kansas City Southern Railroad"/>
          <xsd:enumeration value="Kao Corporation"/>
          <xsd:enumeration value="Kapstone Paper and Packaging Corporation"/>
          <xsd:enumeration value="Kärcher Group"/>
          <xsd:enumeration value="Karl Storz GmbH &amp; Co. KG"/>
          <xsd:enumeration value="Karmann Gruppe"/>
          <xsd:enumeration value="KATHREIN-Werke KG"/>
          <xsd:enumeration value="Kawasaki Heavy Industries, Ltd."/>
          <xsd:enumeration value="Kayser Roth Corp"/>
          <xsd:enumeration value="KCG Holdings, Inc."/>
          <xsd:enumeration value="KCTCS"/>
          <xsd:enumeration value="Kelley Blue Book Co Inc"/>
          <xsd:enumeration value="Kellogg Brown &amp; Root"/>
          <xsd:enumeration value="Kellogg Inc"/>
          <xsd:enumeration value="Kelly Services Inc"/>
          <xsd:enumeration value="Kemet Electronics Corporati"/>
          <xsd:enumeration value="Kemira"/>
          <xsd:enumeration value="Kemper National Insurance Companies"/>
          <xsd:enumeration value="Kempinski Hotels SA"/>
          <xsd:enumeration value="Kennametal"/>
          <xsd:enumeration value="Kennedy Health System"/>
          <xsd:enumeration value="Ken's Foods Inc"/>
          <xsd:enumeration value="Kensington Health Centre"/>
          <xsd:enumeration value="Kentucky Tech"/>
          <xsd:enumeration value="Keppel Corporation Limited"/>
          <xsd:enumeration value="Kering"/>
          <xsd:enumeration value="Kern CCD"/>
          <xsd:enumeration value="Kerr-McGee Corporation"/>
          <xsd:enumeration value="Kessler Rehabilitation Corp"/>
          <xsd:enumeration value="Kettering Medical Center"/>
          <xsd:enumeration value="Keurig Green Mountain, Inc."/>
          <xsd:enumeration value="Key Corp"/>
          <xsd:enumeration value="Keyspan Corporation"/>
          <xsd:enumeration value="KG ATLAS Vermögensverwaltungsgesellschaft &amp; Co."/>
          <xsd:enumeration value="KIA Motors of Canada"/>
          <xsd:enumeration value="Kiewit Corporation"/>
          <xsd:enumeration value="KIK Custom Products"/>
          <xsd:enumeration value="Kimball International Inc"/>
          <xsd:enumeration value="Kimberly Clark Corp"/>
          <xsd:enumeration value="Kinder Morgan Inc"/>
          <xsd:enumeration value="Kindred Healthcare Inc"/>
          <xsd:enumeration value="King Pharmaceuticals"/>
          <xsd:enumeration value="Kingfisher plc"/>
          <xsd:enumeration value="King's Hawaiian Holding Company, Inc."/>
          <xsd:enumeration value="Kingston Technology Company Inc"/>
          <xsd:enumeration value="Kingsway America"/>
          <xsd:enumeration value="Kinko's, Inc"/>
          <xsd:enumeration value="Kion Group"/>
          <xsd:enumeration value="Kirchhoff Holding GmbH &amp; Co.KG"/>
          <xsd:enumeration value="Kirin Holdings Company"/>
          <xsd:enumeration value="Kitchell Corporation"/>
          <xsd:enumeration value="KKR &amp; Co. L.P."/>
          <xsd:enumeration value="KLA-Tencor"/>
          <xsd:enumeration value="Klcc Property Holdings Berhad"/>
          <xsd:enumeration value="Klöckner &amp; Co SE"/>
          <xsd:enumeration value="Klüh Service Management GmbH"/>
          <xsd:enumeration value="KMG Invest GmbH"/>
          <xsd:enumeration value="KN Energy"/>
          <xsd:enumeration value="Knape &amp; Vogt Manufacturing Company"/>
          <xsd:enumeration value="Knauf Group - CFO"/>
          <xsd:enumeration value="Knoll, Inc."/>
          <xsd:enumeration value="Knology"/>
          <xsd:enumeration value="Knorr-Bremse AG"/>
          <xsd:enumeration value="Koch Air"/>
          <xsd:enumeration value="Koch Industries"/>
          <xsd:enumeration value="Koenig &amp; Bauer AG"/>
          <xsd:enumeration value="Kohler"/>
          <xsd:enumeration value="Kohl's Corporation"/>
          <xsd:enumeration value="Komatsu Ltd"/>
          <xsd:enumeration value="Kone Oyj"/>
          <xsd:enumeration value="Konica Medical Corporation"/>
          <xsd:enumeration value="Konica Minolta Holding"/>
          <xsd:enumeration value="Koninklijke Vopak N.V."/>
          <xsd:enumeration value="Koppers Holdings Inc"/>
          <xsd:enumeration value="Körber-Stiftung"/>
          <xsd:enumeration value="Korea Management Assoc. (KMA)"/>
          <xsd:enumeration value="Korn/Ferry International"/>
          <xsd:enumeration value="KPC Global Care"/>
          <xsd:enumeration value="KPMG"/>
          <xsd:enumeration value="KPS Capital Partners, LP"/>
          <xsd:enumeration value="Kraft Foods Global Inc"/>
          <xsd:enumeration value="Kroger Co"/>
          <xsd:enumeration value="Kromberg &amp; Schubert KG"/>
          <xsd:enumeration value="Krones Group"/>
          <xsd:enumeration value="Kronos Worldwide Inc"/>
          <xsd:enumeration value="Kruger Inc"/>
          <xsd:enumeration value="Kubota Corp"/>
          <xsd:enumeration value="Kuehne + Nagel Group"/>
          <xsd:enumeration value="Kühne Holding AG"/>
          <xsd:enumeration value="KUKA AG"/>
          <xsd:enumeration value="Kulicke &amp; Soffa Industries Inc"/>
          <xsd:enumeration value="Kuoni Travel Holding Ltd."/>
          <xsd:enumeration value="Kuraray Co., Ltd."/>
          <xsd:enumeration value="Kuwait Petroleum Corporation"/>
          <xsd:enumeration value="K-V Pharmaceutical"/>
          <xsd:enumeration value="Kverneland Group"/>
          <xsd:enumeration value="KWS Group"/>
          <xsd:enumeration value="KY Society of CPAs"/>
          <xsd:enumeration value="KYOCERA CORPORATION"/>
          <xsd:enumeration value="Kyowa America"/>
          <xsd:enumeration value="L3Com"/>
          <xsd:enumeration value="LA County-Department of Health Services"/>
          <xsd:enumeration value="La Poste Group"/>
          <xsd:enumeration value="La Quinta Corporation"/>
          <xsd:enumeration value="Labatt Breweries"/>
          <xsd:enumeration value="Laboratory Corp Of America"/>
          <xsd:enumeration value="Lacek Group"/>
          <xsd:enumeration value="Lacoste Group"/>
          <xsd:enumeration value="Lafarge"/>
          <xsd:enumeration value="Lagardere Group"/>
          <xsd:enumeration value="Lai Wah Footwear Trading Limited"/>
          <xsd:enumeration value="Laidlaw Transit"/>
          <xsd:enumeration value="Laika, Inc"/>
          <xsd:enumeration value="Laird PLC"/>
          <xsd:enumeration value="Lake Health"/>
          <xsd:enumeration value="Lakeshore Technical College"/>
          <xsd:enumeration value="Lam Research Corporation"/>
          <xsd:enumeration value="Lance Inc"/>
          <xsd:enumeration value="Land O' Frost"/>
          <xsd:enumeration value="Land O Lakes"/>
          <xsd:enumeration value="Landacorp, Inc"/>
          <xsd:enumeration value="Landamerica"/>
          <xsd:enumeration value="Landesbank Baden-Württemberg"/>
          <xsd:enumeration value="Landmark Apartment Trust of America, Inc."/>
          <xsd:enumeration value="Landmark Communications"/>
          <xsd:enumeration value="Lane"/>
          <xsd:enumeration value="Lane Construction"/>
          <xsd:enumeration value="Lansing Community College"/>
          <xsd:enumeration value="Lanxess"/>
          <xsd:enumeration value="Larco Hospitality Inc."/>
          <xsd:enumeration value="Larsen &amp; Toubro Limited"/>
          <xsd:enumeration value="Lattice Semiconductor Corporation"/>
          <xsd:enumeration value="Laureate Higher Education Group"/>
          <xsd:enumeration value="Laurentian Community Technical College"/>
          <xsd:enumeration value="Lawrence General Regional Health System"/>
          <xsd:enumeration value="Lawson Products Inc"/>
          <xsd:enumeration value="La-Z-Boy Chair Co"/>
          <xsd:enumeration value="Lazy Days"/>
          <xsd:enumeration value="LB Foster"/>
          <xsd:enumeration value="LDI Ltd"/>
          <xsd:enumeration value="Le Groupe Bel"/>
          <xsd:enumeration value="Leading Concepts"/>
          <xsd:enumeration value="Leading Initiatives"/>
          <xsd:enumeration value="Lear Corporation"/>
          <xsd:enumeration value="LearnShare"/>
          <xsd:enumeration value="Ledcor Group"/>
          <xsd:enumeration value="Lee Memorial Health System"/>
          <xsd:enumeration value="Leeds"/>
          <xsd:enumeration value="Lees Investment Corporation"/>
          <xsd:enumeration value="Legacy Health System"/>
          <xsd:enumeration value="Leggett &amp; Platt Inc"/>
          <xsd:enumeration value="Legrand SA"/>
          <xsd:enumeration value="Lehigh Cement Company"/>
          <xsd:enumeration value="Lehman Brothers Holdings Inc."/>
          <xsd:enumeration value="Leighton Holdings Limited"/>
          <xsd:enumeration value="LEK Consulting"/>
          <xsd:enumeration value="Lend Lease"/>
          <xsd:enumeration value="Lenderlive Network, Inc."/>
          <xsd:enumeration value="Lennar Corporation"/>
          <xsd:enumeration value="Lennox Industries"/>
          <xsd:enumeration value="Lenovo Group Ltd"/>
          <xsd:enumeration value="Lenzing Aktiengesellschaft"/>
          <xsd:enumeration value="Leoni"/>
          <xsd:enumeration value="Leprino Foods Company"/>
          <xsd:enumeration value="Level 3 Communications, Inc."/>
          <xsd:enumeration value="Levi Strauss &amp; Co"/>
          <xsd:enumeration value="Levin Furniture"/>
          <xsd:enumeration value="Leviton Manufacturing Co"/>
          <xsd:enumeration value="Lewiston Healthcare Foundation"/>
          <xsd:enumeration value="Lexmark Intl"/>
          <xsd:enumeration value="LG Electronics Inc."/>
          <xsd:enumeration value="LHC Group, Inc."/>
          <xsd:enumeration value="Lhoist Group"/>
          <xsd:enumeration value="LHSC"/>
          <xsd:enumeration value="Li &amp; Fung Limited"/>
          <xsd:enumeration value="Liberty Bancorp Inc"/>
          <xsd:enumeration value="Liberty Diversified Industries"/>
          <xsd:enumeration value="Liberty Global Inc."/>
          <xsd:enumeration value="Liberty Health Care System"/>
          <xsd:enumeration value="Liberty Management"/>
          <xsd:enumeration value="Liberty Mutual Group"/>
          <xsd:enumeration value="LIEBHERR-INTERNATIONAL S.A."/>
          <xsd:enumeration value="Lieken Group"/>
          <xsd:enumeration value="Life And Specialty Ventures"/>
          <xsd:enumeration value="Life Care Centers Of America"/>
          <xsd:enumeration value="Life Technologies Corp"/>
          <xsd:enumeration value="Life Time Fitness Inc"/>
          <xsd:enumeration value="Lifebridge Health"/>
          <xsd:enumeration value="Lifecare Hospitals"/>
          <xsd:enumeration value="Lifespan"/>
          <xsd:enumeration value="Lifetouch Inc"/>
          <xsd:enumeration value="Lifeway Christian Resources"/>
          <xsd:enumeration value="Lilydale Inc"/>
          <xsd:enumeration value="Limited Inc"/>
          <xsd:enumeration value="Linamar Corporation"/>
          <xsd:enumeration value="Lincoln Electric Holdings"/>
          <xsd:enumeration value="Lincoln National"/>
          <xsd:enumeration value="Linde AG"/>
          <xsd:enumeration value="Linde Group"/>
          <xsd:enumeration value="Lindner Unternehmensgruppe GmbH &amp; Co.Hotel KG"/>
          <xsd:enumeration value="Linens 'n Things Inc"/>
          <xsd:enumeration value="Linkage Incorporated"/>
          <xsd:enumeration value="Lions Gate Hospital"/>
          <xsd:enumeration value="Lite-On Technology Corp."/>
          <xsd:enumeration value="Little Company of Mary"/>
          <xsd:enumeration value="Live Nation Entertainment"/>
          <xsd:enumeration value="Livingston Group"/>
          <xsd:enumeration value="Liz Claiborne Inc"/>
          <xsd:enumeration value="LL Bean"/>
          <xsd:enumeration value="LMI Aerospace, Inc"/>
          <xsd:enumeration value="Local Insights Media"/>
          <xsd:enumeration value="Lockheed Martin"/>
          <xsd:enumeration value="Loews Corporation"/>
          <xsd:enumeration value="Logica"/>
          <xsd:enumeration value="Logitech International S.A."/>
          <xsd:enumeration value="Lohmann GmbH &amp; Co. KG"/>
          <xsd:enumeration value="Loma Linda University"/>
          <xsd:enumeration value="Lominger (Career Architect)"/>
          <xsd:enumeration value="London University Hospital"/>
          <xsd:enumeration value="Long Island Health System"/>
          <xsd:enumeration value="Long John Silver's Inc"/>
          <xsd:enumeration value="Longaberger MFG Co"/>
          <xsd:enumeration value="Longs Drug Stores Corp"/>
          <xsd:enumeration value="Lonza Group"/>
          <xsd:enumeration value="Looser Holding"/>
          <xsd:enumeration value="Loral Corp"/>
          <xsd:enumeration value="Lord Corporation"/>
          <xsd:enumeration value="L'oreal Group"/>
          <xsd:enumeration value="Los Angeles CCD"/>
          <xsd:enumeration value="Los Rios CCD"/>
          <xsd:enumeration value="Loto-Québec"/>
          <xsd:enumeration value="Lougheed Ventures Ltd"/>
          <xsd:enumeration value="Louisiana Pacific Canada LTD"/>
          <xsd:enumeration value="Louisiana Pacific Corporation"/>
          <xsd:enumeration value="Louisiana State University"/>
          <xsd:enumeration value="Louisiana Technical College"/>
          <xsd:enumeration value="Lovelace Respiratory Research Inst"/>
          <xsd:enumeration value="Low &amp; Bonar Plc"/>
          <xsd:enumeration value="Lowes Companies, Inc."/>
          <xsd:enumeration value="Loyola University"/>
          <xsd:enumeration value="LPL Financial"/>
          <xsd:enumeration value="LSI Corporation"/>
          <xsd:enumeration value="LSI Logic Corp"/>
          <xsd:enumeration value="LSU Health Sciences Center HC"/>
          <xsd:enumeration value="LTV Steel"/>
          <xsd:enumeration value="Lubrizol Corp"/>
          <xsd:enumeration value="Lucent Technologies"/>
          <xsd:enumeration value="Lucite International"/>
          <xsd:enumeration value="Luckstone Corp"/>
          <xsd:enumeration value="Lucky Stores Inc"/>
          <xsd:enumeration value="LUKOIL"/>
          <xsd:enumeration value="Lutheran Social Services"/>
          <xsd:enumeration value="Luxottica Group SPA"/>
          <xsd:enumeration value="Luxottica Retail"/>
          <xsd:enumeration value="LV Sands"/>
          <xsd:enumeration value="Lvmh Group"/>
          <xsd:enumeration value="LyondellBasell Industries"/>
          <xsd:enumeration value="M &amp; T Bank"/>
          <xsd:enumeration value="M A Hanna"/>
          <xsd:enumeration value="M. Zanetti Industries SA"/>
          <xsd:enumeration value="Maaf Group"/>
          <xsd:enumeration value="MAAX"/>
          <xsd:enumeration value="Mabuhay Vinyl Corporation"/>
          <xsd:enumeration value="MacAndrews &amp; Forbes Holdings Inc."/>
          <xsd:enumeration value="MacDermid Incorporated"/>
          <xsd:enumeration value="MacMillian Bloedel Limited"/>
          <xsd:enumeration value="Macquarie Graduate Sch Of Mgmt"/>
          <xsd:enumeration value="Macquarie Group Limited"/>
          <xsd:enumeration value="MacQuarie Infrastructure Company Trust"/>
          <xsd:enumeration value="Macy's Inc"/>
          <xsd:enumeration value="Maersk"/>
          <xsd:enumeration value="MAG Industrial"/>
          <xsd:enumeration value="Magellan Health Services Inc"/>
          <xsd:enumeration value="Magna Company"/>
          <xsd:enumeration value="MagneTek Inc"/>
          <xsd:enumeration value="Mahindra &amp; Mahindra Limited"/>
          <xsd:enumeration value="MAHLE - STIFTUNG Gesellschaft mit beschränkter Haftung"/>
          <xsd:enumeration value="Mahle-Stiftung GmbH"/>
          <xsd:enumeration value="Mail-Well Inc"/>
          <xsd:enumeration value="Main Line Health"/>
          <xsd:enumeration value="MaineGeneral Health"/>
          <xsd:enumeration value="MaineHealth"/>
          <xsd:enumeration value="Major League Baseball"/>
          <xsd:enumeration value="Malayan Banking Berhad"/>
          <xsd:enumeration value="MAN AG"/>
          <xsd:enumeration value="Management Science Associates, Inc."/>
          <xsd:enumeration value="Management Service Center"/>
          <xsd:enumeration value="Management Service Center (MSC)"/>
          <xsd:enumeration value="Mandalay Resort Group"/>
          <xsd:enumeration value="Manhattan Associates"/>
          <xsd:enumeration value="Manitoba Hydro"/>
          <xsd:enumeration value="Manitoba Telecom Services Inc"/>
          <xsd:enumeration value="Mann + Hummel Holding GmbH"/>
          <xsd:enumeration value="Mannkind Corporation"/>
          <xsd:enumeration value="Manpower"/>
          <xsd:enumeration value="Manson Construction Co., Inc."/>
          <xsd:enumeration value="Manulife"/>
          <xsd:enumeration value="Mapfre SA"/>
          <xsd:enumeration value="Maple Leaf Foods"/>
          <xsd:enumeration value="Maples and Calder"/>
          <xsd:enumeration value="MaplesFS"/>
          <xsd:enumeration value="Maquet Cardiovascular"/>
          <xsd:enumeration value="Marathon Oil"/>
          <xsd:enumeration value="Marathon Petroleum Co LP"/>
          <xsd:enumeration value="Marconi Communications"/>
          <xsd:enumeration value="Marcus &amp; Millichap, Inc."/>
          <xsd:enumeration value="Marian Health System"/>
          <xsd:enumeration value="Maricopa County Community College Dist."/>
          <xsd:enumeration value="Mariner Post-Acute"/>
          <xsd:enumeration value="Maritz Inc"/>
          <xsd:enumeration value="Markel Corporation"/>
          <xsd:enumeration value="Marketing Store (The)"/>
          <xsd:enumeration value="Markus Stiftung"/>
          <xsd:enumeration value="Marquard &amp; Bahls AG"/>
          <xsd:enumeration value="Marriott Corporation"/>
          <xsd:enumeration value="Marriott Franchise"/>
          <xsd:enumeration value="Mars Inc"/>
          <xsd:enumeration value="Marsh &amp; McLennan Companies"/>
          <xsd:enumeration value="Marshall &amp; Ilsley Corporation"/>
          <xsd:enumeration value="Marshall Hospital Health Services"/>
          <xsd:enumeration value="Martin Marietta Materials"/>
          <xsd:enumeration value="Martin Memorial Health Systems"/>
          <xsd:enumeration value="Marubeni Corporation"/>
          <xsd:enumeration value="Marvell Technology Group"/>
          <xsd:enumeration value="Marvin Windows &amp; Doors"/>
          <xsd:enumeration value="Mary Kay Inc"/>
          <xsd:enumeration value="Mary Washington Healthcare"/>
          <xsd:enumeration value="Masco Corporation"/>
          <xsd:enumeration value="Mason &amp; Hanger"/>
          <xsd:enumeration value="Masonic Village"/>
          <xsd:enumeration value="Masonite"/>
          <xsd:enumeration value="Massachusetts Mutual Life"/>
          <xsd:enumeration value="Masso Enterprises"/>
          <xsd:enumeration value="MasTec Inc"/>
          <xsd:enumeration value="Mastercard International"/>
          <xsd:enumeration value="Materion"/>
          <xsd:enumeration value="Mathis Brothers Furniture"/>
          <xsd:enumeration value="Mattel Inc"/>
          <xsd:enumeration value="Matthews International Corp"/>
          <xsd:enumeration value="Maus FrÞres SA"/>
          <xsd:enumeration value="Maxim Crane Works"/>
          <xsd:enumeration value="Maxim Integrated Products, Inc"/>
          <xsd:enumeration value="Maximus Inc"/>
          <xsd:enumeration value="maxingvest ag"/>
          <xsd:enumeration value="Max's Franchising"/>
          <xsd:enumeration value="Maxus Energy"/>
          <xsd:enumeration value="Maxwell Technologies Inc"/>
          <xsd:enumeration value="May Dept Stores"/>
          <xsd:enumeration value="Maybank Philippines"/>
          <xsd:enumeration value="Mayfair Hotels Ltd"/>
          <xsd:enumeration value="Mayne Nickless Transport Inc"/>
          <xsd:enumeration value="Mayo Clinic"/>
          <xsd:enumeration value="Mayo Health System"/>
          <xsd:enumeration value="Mayr-Melnhof Karton Aktiengesellschaft"/>
          <xsd:enumeration value="Maytag Corporation"/>
          <xsd:enumeration value="Mazda Corporation"/>
          <xsd:enumeration value="McCain Food Limited"/>
          <xsd:enumeration value="McClatchy Company (The)"/>
          <xsd:enumeration value="McCormick &amp; Co"/>
          <xsd:enumeration value="McDermott International"/>
          <xsd:enumeration value="McDonalds Corporation"/>
          <xsd:enumeration value="McGraw Hill"/>
          <xsd:enumeration value="McHenry County College"/>
          <xsd:enumeration value="MCI WorldCom Inc"/>
          <xsd:enumeration value="McKee Baking Company"/>
          <xsd:enumeration value="McKesson Corporation"/>
          <xsd:enumeration value="Mckinsey and Co Inc"/>
          <xsd:enumeration value="McLaren Health Care Corp"/>
          <xsd:enumeration value="MD Anderson Cancer Center"/>
          <xsd:enumeration value="MDC Holdings Inc"/>
          <xsd:enumeration value="MDS Inc"/>
          <xsd:enumeration value="MeadWestvaco Corporation"/>
          <xsd:enumeration value="Medaphis Corp"/>
          <xsd:enumeration value="MedAssets, Inc."/>
          <xsd:enumeration value="MedCath Inc"/>
          <xsd:enumeration value="MedCentral Health System"/>
          <xsd:enumeration value="Medco"/>
          <xsd:enumeration value="Medco Health Solutions"/>
          <xsd:enumeration value="Medianews Group Inc"/>
          <xsd:enumeration value="Medical Card System"/>
          <xsd:enumeration value="Medical Mutual"/>
          <xsd:enumeration value="Medical Service Company"/>
          <xsd:enumeration value="Medicis Pharmaceutical Corporation"/>
          <xsd:enumeration value="Medisys Health Network"/>
          <xsd:enumeration value="Medline Industries, Inc"/>
          <xsd:enumeration value="Medpointe"/>
          <xsd:enumeration value="Medstar"/>
          <xsd:enumeration value="Medstar Health"/>
          <xsd:enumeration value="Medtronic Inc"/>
          <xsd:enumeration value="Megawide Corporation"/>
          <xsd:enumeration value="Meggitt plc"/>
          <xsd:enumeration value="Meijer Companies, Ltd."/>
          <xsd:enumeration value="Melaleuca Inc"/>
          <xsd:enumeration value="Melco Crown (Macau) Limited"/>
          <xsd:enumeration value="Melco Crown Entertainment Limited"/>
          <xsd:enumeration value="Melles Griot Inc"/>
          <xsd:enumeration value="MEMC Electronic Materials Inc"/>
          <xsd:enumeration value="Memorial Care"/>
          <xsd:enumeration value="Memorial Health"/>
          <xsd:enumeration value="Memorial Health Services"/>
          <xsd:enumeration value="Memorial Healthcare System"/>
          <xsd:enumeration value="Memorial Hermann HC System"/>
          <xsd:enumeration value="Memorial Sloan-Kettering Cancer Center"/>
          <xsd:enumeration value="Menard Inc"/>
          <xsd:enumeration value="Men's Wearhouse"/>
          <xsd:enumeration value="Mercantile Bancorporation"/>
          <xsd:enumeration value="Mercantile Bankshares Corp"/>
          <xsd:enumeration value="Mercer Consulting"/>
          <xsd:enumeration value="Merck"/>
          <xsd:enumeration value="Merck KGaA"/>
          <xsd:enumeration value="Mercy"/>
          <xsd:enumeration value="Mercy Integrated Health"/>
          <xsd:enumeration value="Meredith Corporation"/>
          <xsd:enumeration value="Merial Limited"/>
          <xsd:enumeration value="Meridian Bioscience"/>
          <xsd:enumeration value="Meridian Health"/>
          <xsd:enumeration value="Meritage Homes Corporation"/>
          <xsd:enumeration value="Meritor"/>
          <xsd:enumeration value="Merrill Corporation"/>
          <xsd:enumeration value="Messer Group"/>
          <xsd:enumeration value="Metalor Group"/>
          <xsd:enumeration value="Metalúrgica Gerdau S/A"/>
          <xsd:enumeration value="Metavante Technologies"/>
          <xsd:enumeration value="Methanex Corporation"/>
          <xsd:enumeration value="Methodist Health System"/>
          <xsd:enumeration value="Methodist Health System - Nebraska"/>
          <xsd:enumeration value="Methodist Healthcare"/>
          <xsd:enumeration value="Metpath"/>
          <xsd:enumeration value="Metris Companies"/>
          <xsd:enumeration value="Metro Inc"/>
          <xsd:enumeration value="Metrobank Card Corporation"/>
          <xsd:enumeration value="Metrohealth System"/>
          <xsd:enumeration value="Metropcs"/>
          <xsd:enumeration value="Metropolitan Jewish Health System"/>
          <xsd:enumeration value="Metropolitan Life Insurance"/>
          <xsd:enumeration value="Metropolitan Transportation Authority"/>
          <xsd:enumeration value="Mettler-Toledo International Inc"/>
          <xsd:enumeration value="Meyers Norris Penny"/>
          <xsd:enumeration value="MGM Resorts International"/>
          <xsd:enumeration value="MI Windows &amp; Doors, Inc"/>
          <xsd:enumeration value="Miami Dade College"/>
          <xsd:enumeration value="MIB Group Inc"/>
          <xsd:enumeration value="Michaels Stores Inc"/>
          <xsd:enumeration value="Michelin Tire"/>
          <xsd:enumeration value="Michigan CC"/>
          <xsd:enumeration value="Michigan Hosp Assoc/Members"/>
          <xsd:enumeration value="Micro Warehouse Inc"/>
          <xsd:enumeration value="Microchip Technology Inc."/>
          <xsd:enumeration value="Micron Technology"/>
          <xsd:enumeration value="Microsoft"/>
          <xsd:enumeration value="Mid America Packaging"/>
          <xsd:enumeration value="Midamerica Bank"/>
          <xsd:enumeration value="MidAmerican Energy Holding Company"/>
          <xsd:enumeration value="Midcontinent Independent System Operator, Inc."/>
          <xsd:enumeration value="MiddleBrook Pharma"/>
          <xsd:enumeration value="Middlesex Community College"/>
          <xsd:enumeration value="Mid-Florida Medical Services"/>
          <xsd:enumeration value="Midland Credit Management"/>
          <xsd:enumeration value="Midlands Technical College"/>
          <xsd:enumeration value="Midway Games"/>
          <xsd:enumeration value="Midwest Express Airlines"/>
          <xsd:enumeration value="Midwest Express Group"/>
          <xsd:enumeration value="Miele &amp; Cie. KG"/>
          <xsd:enumeration value="Mikron Industries"/>
          <xsd:enumeration value="Milacron Inc"/>
          <xsd:enumeration value="Milgard Manufacturing Inc"/>
          <xsd:enumeration value="Millennium Chemicals Inc"/>
          <xsd:enumeration value="Miller Brewing"/>
          <xsd:enumeration value="Milliken &amp; Company"/>
          <xsd:enumeration value="Millipore Corporation"/>
          <xsd:enumeration value="Millisor &amp; Nobil"/>
          <xsd:enumeration value="Millward Brown"/>
          <xsd:enumeration value="Milton Hershey School"/>
          <xsd:enumeration value="Minacs Worldwide Inc."/>
          <xsd:enumeration value="Minact"/>
          <xsd:enumeration value="Mine Safety Appliances Co"/>
          <xsd:enumeration value="MINEBEA CO., LTD."/>
          <xsd:enumeration value="Mineral Area College"/>
          <xsd:enumeration value="Mingara Recreation Club Ltd"/>
          <xsd:enumeration value="Ministry Health Care"/>
          <xsd:enumeration value="Mirant"/>
          <xsd:enumeration value="Mirvac Group"/>
          <xsd:enumeration value="Mirvac Limited"/>
          <xsd:enumeration value="Misc Client Conversion"/>
          <xsd:enumeration value="Mishorim Development Ltd."/>
          <xsd:enumeration value="Mission Hospitals"/>
          <xsd:enumeration value="Mission Industries"/>
          <xsd:enumeration value="Mississippi Baptist Health System"/>
          <xsd:enumeration value="Mississippi Lignite Mining Co"/>
          <xsd:enumeration value="Missouri CC"/>
          <xsd:enumeration value="Missouri Western State University"/>
          <xsd:enumeration value="Misys"/>
          <xsd:enumeration value="Mitre Corporation"/>
          <xsd:enumeration value="Mitsubishi"/>
          <xsd:enumeration value="Mitsubishi Chemical Holdings Corporation"/>
          <xsd:enumeration value="Mitsui &amp; Co. Ltd."/>
          <xsd:enumeration value="Mizuho Financial Group, Inc."/>
          <xsd:enumeration value="MN State College &amp; Univ."/>
          <xsd:enumeration value="MobiTV, Inc"/>
          <xsd:enumeration value="Modular Mining Systems, Inc."/>
          <xsd:enumeration value="Mohawk Industries"/>
          <xsd:enumeration value="Mohegan Sun Resort &amp; Casino"/>
          <xsd:enumeration value="Molex Inc"/>
          <xsd:enumeration value="Molina Healthcare"/>
          <xsd:enumeration value="Molson Inc"/>
          <xsd:enumeration value="Momentive Performance Materials Inc"/>
          <xsd:enumeration value="Momentive Specialty Chemicals Inc"/>
          <xsd:enumeration value="Monadelphous Engineering"/>
          <xsd:enumeration value="Monday Consulting"/>
          <xsd:enumeration value="Mondelez International, Inc."/>
          <xsd:enumeration value="Mondi Group"/>
          <xsd:enumeration value="MoneyGram International, Inc."/>
          <xsd:enumeration value="Monogram Food Solutions"/>
          <xsd:enumeration value="Monomoy Capital Partners"/>
          <xsd:enumeration value="Monsanto"/>
          <xsd:enumeration value="Monster Worldwide, Inc."/>
          <xsd:enumeration value="Montefiore Medical Center"/>
          <xsd:enumeration value="Moody's Corporation"/>
          <xsd:enumeration value="Moog"/>
          <xsd:enumeration value="Moore Business Forms &amp; Sys"/>
          <xsd:enumeration value="Morgan Stanley"/>
          <xsd:enumeration value="Morneau Sobeco"/>
          <xsd:enumeration value="Morton International Inc"/>
          <xsd:enumeration value="Mosaic Community"/>
          <xsd:enumeration value="Mosaic- Fertilizer"/>
          <xsd:enumeration value="Mosaic Sales Solutions"/>
          <xsd:enumeration value="Mosaic- Social Services"/>
          <xsd:enumeration value="Moses Cone Health System"/>
          <xsd:enumeration value="Mothers Work Inc"/>
          <xsd:enumeration value="Motorola Inc"/>
          <xsd:enumeration value="Mott Macdonald Group Ltd"/>
          <xsd:enumeration value="Mount Royal College"/>
          <xsd:enumeration value="Mount Sinai Health System"/>
          <xsd:enumeration value="Mountain States Health Alliance"/>
          <xsd:enumeration value="Mouvement Desjardins"/>
          <xsd:enumeration value="Mphasis Limited"/>
          <xsd:enumeration value="MSC Industrial Supply Co"/>
          <xsd:enumeration value="MSC Mediterranean Shipping Company SA"/>
          <xsd:enumeration value="Msd Group"/>
          <xsd:enumeration value="MSX International"/>
          <xsd:enumeration value="MTS Systems Corp"/>
          <xsd:enumeration value="MTU Aero Engines Holding AG"/>
          <xsd:enumeration value="Mubadala"/>
          <xsd:enumeration value="Muhr und Bender KG"/>
          <xsd:enumeration value="Mullikin Medical"/>
          <xsd:enumeration value="MultiCare Companies"/>
          <xsd:enumeration value="Multicare Health System"/>
          <xsd:enumeration value="Multifoods"/>
          <xsd:enumeration value="Mundipharma"/>
          <xsd:enumeration value="Munich Re"/>
          <xsd:enumeration value="Municipal Property Assessment Corp"/>
          <xsd:enumeration value="Municipio Autonomo De Caguas"/>
          <xsd:enumeration value="Munson Healthcare"/>
          <xsd:enumeration value="Murata Manufacturing Co., Ltd."/>
          <xsd:enumeration value="Murphy Oil Corp"/>
          <xsd:enumeration value="Musgrave Group"/>
          <xsd:enumeration value="Mutual Of New York"/>
          <xsd:enumeration value="Muzak"/>
          <xsd:enumeration value="MWH Global Inc"/>
          <xsd:enumeration value="MXL"/>
          <xsd:enumeration value="Mylan Inc."/>
          <xsd:enumeration value="Myriad Genetics"/>
          <xsd:enumeration value="N American Comp Life &amp; Health"/>
          <xsd:enumeration value="N Shore-Long Island Jewish Health System"/>
          <xsd:enumeration value="Nabors Industries Limited"/>
          <xsd:enumeration value="Nacco Industries Inc"/>
          <xsd:enumeration value="NAL Resources Management Ltd"/>
          <xsd:enumeration value="Nalco"/>
          <xsd:enumeration value="NANA Training System"/>
          <xsd:enumeration value="NAPA State Hospital"/>
          <xsd:enumeration value="NASA"/>
          <xsd:enumeration value="NASDAQ"/>
          <xsd:enumeration value="Naspers Limited"/>
          <xsd:enumeration value="National Australia Bank"/>
          <xsd:enumeration value="National Bank of Canada"/>
          <xsd:enumeration value="National Basketball Association"/>
          <xsd:enumeration value="National City Corporation"/>
          <xsd:enumeration value="National Commerce Financial Corp"/>
          <xsd:enumeration value="National Computer"/>
          <xsd:enumeration value="National Cooperative Bank"/>
          <xsd:enumeration value="National Data Corporation"/>
          <xsd:enumeration value="National Distributing Company"/>
          <xsd:enumeration value="National Express Group"/>
          <xsd:enumeration value="National Grange Mult Insurance"/>
          <xsd:enumeration value="National Grid"/>
          <xsd:enumeration value="National Healthcare Corp"/>
          <xsd:enumeration value="National Oil Well"/>
          <xsd:enumeration value="NATIONAL PENSION RESERVE FUND"/>
          <xsd:enumeration value="National Railroad Passenger Corporation"/>
          <xsd:enumeration value="National Semiconductor Corp"/>
          <xsd:enumeration value="National Service Industries Inc"/>
          <xsd:enumeration value="National Standard"/>
          <xsd:enumeration value="National Textiles, LLC"/>
          <xsd:enumeration value="Nationwide Insurance"/>
          <xsd:enumeration value="NAV CANADA"/>
          <xsd:enumeration value="Navistar, Inc"/>
          <xsd:enumeration value="Navtech Inc"/>
          <xsd:enumeration value="NAWLA"/>
          <xsd:enumeration value="Naylor"/>
          <xsd:enumeration value="NCCCS"/>
          <xsd:enumeration value="NCH Healthcare System"/>
          <xsd:enumeration value="NCR"/>
          <xsd:enumeration value="NCR (Switzerland)"/>
          <xsd:enumeration value="Nebraska Furniture Mart"/>
          <xsd:enumeration value="Nebraska Public Power District"/>
          <xsd:enumeration value="NEC Corp"/>
          <xsd:enumeration value="Neenah Paper"/>
          <xsd:enumeration value="Neiman Marcus"/>
          <xsd:enumeration value="Nemours Childrens Health"/>
          <xsd:enumeration value="Neo Derm Group Limited"/>
          <xsd:enumeration value="Neoris Inc"/>
          <xsd:enumeration value="Neptune Orient Lines (NOL)"/>
          <xsd:enumeration value="Neste Resins Corporation"/>
          <xsd:enumeration value="Nestle"/>
          <xsd:enumeration value="NetApp"/>
          <xsd:enumeration value="NetSuite Inc."/>
          <xsd:enumeration value="New Breed Corp"/>
          <xsd:enumeration value="New Century Mortgage Corp"/>
          <xsd:enumeration value="New Hanover Health Network"/>
          <xsd:enumeration value="New York Blood Center"/>
          <xsd:enumeration value="New York City Department Of Education"/>
          <xsd:enumeration value="New York Life Insurance"/>
          <xsd:enumeration value="New York Presbyterian Healthcare System"/>
          <xsd:enumeration value="New York Times Company"/>
          <xsd:enumeration value="New York University"/>
          <xsd:enumeration value="Newark Electronics"/>
          <xsd:enumeration value="Newco"/>
          <xsd:enumeration value="Newell Rubbermaid"/>
          <xsd:enumeration value="Newfield Exploration"/>
          <xsd:enumeration value="Newgistics, Inc."/>
          <xsd:enumeration value="Newmont Mining Corp"/>
          <xsd:enumeration value="NewPage Group Inc"/>
          <xsd:enumeration value="Newport Corp"/>
          <xsd:enumeration value="News Corp"/>
          <xsd:enumeration value="News Corporation"/>
          <xsd:enumeration value="News Limited"/>
          <xsd:enumeration value="Newsbank, Inc."/>
          <xsd:enumeration value="Nexans"/>
          <xsd:enumeration value="Nexen Inc"/>
          <xsd:enumeration value="Nexinnovations"/>
          <xsd:enumeration value="Nexteer"/>
          <xsd:enumeration value="Nextel Communications Inc"/>
          <xsd:enumeration value="NextEra Energy, Inc."/>
          <xsd:enumeration value="NFI Industries"/>
          <xsd:enumeration value="NI"/>
          <xsd:enumeration value="Niagara Mohawk Power Corp"/>
          <xsd:enumeration value="Nibco"/>
          <xsd:enumeration value="Nice-Pak Products Inc"/>
          <xsd:enumeration value="Nicor Inc"/>
          <xsd:enumeration value="NIDEC CORPORATION"/>
          <xsd:enumeration value="Nike"/>
          <xsd:enumeration value="Nikon Corporation"/>
          <xsd:enumeration value="Nine West"/>
          <xsd:enumeration value="Nintendo Co"/>
          <xsd:enumeration value="Nippon Express Co., Ltd."/>
          <xsd:enumeration value="Nippon Sheet Glass Company, Limited"/>
          <xsd:enumeration value="NiSource Inc"/>
          <xsd:enumeration value="Nissan"/>
          <xsd:enumeration value="Nobel Biocare"/>
          <xsd:enumeration value="Noble Energy Incorporated"/>
          <xsd:enumeration value="Nokia Corporation"/>
          <xsd:enumeration value="Nomura Holdings, Inc."/>
          <xsd:enumeration value="NORCAL Mutual Insurance"/>
          <xsd:enumeration value="Nordex SE Group"/>
          <xsd:enumeration value="Nordia"/>
          <xsd:enumeration value="Nordson Corporation"/>
          <xsd:enumeration value="Nordstrom"/>
          <xsd:enumeration value="Nordzucker Group"/>
          <xsd:enumeration value="Norfolk Southern Rail Road"/>
          <xsd:enumeration value="Noridian Mutual Insurance Company"/>
          <xsd:enumeration value="Norlight Telecommunications"/>
          <xsd:enumeration value="Noro-US Holdings, Inc."/>
          <xsd:enumeration value="Norsk Hydro ASA"/>
          <xsd:enumeration value="Nortel Networks Corporation"/>
          <xsd:enumeration value="North Arundel Health"/>
          <xsd:enumeration value="North Carolina Community College"/>
          <xsd:enumeration value="North Dakota CC"/>
          <xsd:enumeration value="North Idaho Rural Health Consortium"/>
          <xsd:enumeration value="North Mississippi Health Services"/>
          <xsd:enumeration value="North Orange County Community College District"/>
          <xsd:enumeration value="North Point Community Church"/>
          <xsd:enumeration value="North Shore Medical Center"/>
          <xsd:enumeration value="Northeast Health System"/>
          <xsd:enumeration value="Northeast Utilities"/>
          <xsd:enumeration value="Northern Alberta Inst Tech (NAIT)"/>
          <xsd:enumeration value="Northern Berkshire Health System"/>
          <xsd:enumeration value="Northern CA (AAA)"/>
          <xsd:enumeration value="Northern Health Authority"/>
          <xsd:enumeration value="Northern Illinois University"/>
          <xsd:enumeration value="Northern Ontario Hospitals"/>
          <xsd:enumeration value="Northern Trust"/>
          <xsd:enumeration value="Northrop Grumman Corp"/>
          <xsd:enumeration value="NorthShore University HealthSystem"/>
          <xsd:enumeration value="Northside Hospital"/>
          <xsd:enumeration value="Northwest Airlines"/>
          <xsd:enumeration value="Northwest Arkansas Community College"/>
          <xsd:enumeration value="Northwest Public Power Assoc"/>
          <xsd:enumeration value="Northwestern Energy"/>
          <xsd:enumeration value="Norton Company"/>
          <xsd:enumeration value="Norton Healthcare"/>
          <xsd:enumeration value="Norwood Promotional"/>
          <xsd:enumeration value="NOTE Group (NJ)"/>
          <xsd:enumeration value="Nova Corporation"/>
          <xsd:enumeration value="Novacare Inc"/>
          <xsd:enumeration value="Novant Health"/>
          <xsd:enumeration value="Novartis AG"/>
          <xsd:enumeration value="NovaStar"/>
          <xsd:enumeration value="Novations Group Inc."/>
          <xsd:enumeration value="Novelis, Inc."/>
          <xsd:enumeration value="Novell Inc"/>
          <xsd:enumeration value="NOVO NORDISK"/>
          <xsd:enumeration value="Novopharm"/>
          <xsd:enumeration value="NRG Energy"/>
          <xsd:enumeration value="NSight Telservices"/>
          <xsd:enumeration value="NSK Corporation"/>
          <xsd:enumeration value="NTN CORPORATION"/>
          <xsd:enumeration value="NTT Data EMEA Ltd."/>
          <xsd:enumeration value="Nuance Communications International Holdings"/>
          <xsd:enumeration value="Nucor Corporation"/>
          <xsd:enumeration value="Numerica Credit Union"/>
          <xsd:enumeration value="Nuveen Investments Inc"/>
          <xsd:enumeration value="NV Bekaert SA"/>
          <xsd:enumeration value="NVIDIA"/>
          <xsd:enumeration value="NVR Incorporated"/>
          <xsd:enumeration value="NY State Off of Mental Health"/>
          <xsd:enumeration value="NYC Health &amp; Hospital Corp"/>
          <xsd:enumeration value="Nygard International Partnership"/>
          <xsd:enumeration value="NYU Langone Medical Center"/>
          <xsd:enumeration value="NYU School of Medicine"/>
          <xsd:enumeration value="Oakwood Healthcare Inc"/>
          <xsd:enumeration value="Obrascon Huarte Lain SA"/>
          <xsd:enumeration value="OC Oerlikon Corporation AG"/>
          <xsd:enumeration value="Occidental Chemical"/>
          <xsd:enumeration value="Ocean Reef Club"/>
          <xsd:enumeration value="Ocean Spray Cranberries Inc"/>
          <xsd:enumeration value="Oceaneering International, Inc."/>
          <xsd:enumeration value="O'Charleys Inc"/>
          <xsd:enumeration value="Ochsner Health System"/>
          <xsd:enumeration value="ODL Inc"/>
          <xsd:enumeration value="Odyssey HealthCare"/>
          <xsd:enumeration value="Oetker-Gruppe"/>
          <xsd:enumeration value="Office Depot Inc"/>
          <xsd:enumeration value="Officemax"/>
          <xsd:enumeration value="OFS"/>
          <xsd:enumeration value="OFSTED"/>
          <xsd:enumeration value="Ohio National Guard"/>
          <xsd:enumeration value="Ohio State University"/>
          <xsd:enumeration value="Ohio State University Medical Center"/>
          <xsd:enumeration value="OhioHealth"/>
          <xsd:enumeration value="Okla. Career Tech"/>
          <xsd:enumeration value="Oklahoma Votech"/>
          <xsd:enumeration value="Olam International Ltd"/>
          <xsd:enumeration value="Old Mutual plc"/>
          <xsd:enumeration value="Old National Bancorp"/>
          <xsd:enumeration value="Oldcastle Inc"/>
          <xsd:enumeration value="Olin Corporation"/>
          <xsd:enumeration value="Olymel Sec"/>
          <xsd:enumeration value="Olympus Corp"/>
          <xsd:enumeration value="Omega Engineering, Inc."/>
          <xsd:enumeration value="Omni Hotel"/>
          <xsd:enumeration value="Omni Services Inc"/>
          <xsd:enumeration value="Omnicare Inc"/>
          <xsd:enumeration value="Omnicom Group Inc."/>
          <xsd:enumeration value="Omniflight Inc"/>
          <xsd:enumeration value="Omnilogic"/>
          <xsd:enumeration value="Omron Electronics"/>
          <xsd:enumeration value="OMV Group"/>
          <xsd:enumeration value="Omya AG"/>
          <xsd:enumeration value="On Semiconductor"/>
          <xsd:enumeration value="One Beacon Insurance"/>
          <xsd:enumeration value="Oneida Health System"/>
          <xsd:enumeration value="Oneok Corporation"/>
          <xsd:enumeration value="Ontario Hospital Association"/>
          <xsd:enumeration value="Ontario Hospitals"/>
          <xsd:enumeration value="Ontario Medical Association"/>
          <xsd:enumeration value="Ontario Power Authority"/>
          <xsd:enumeration value="Ontario Power Generation Inc"/>
          <xsd:enumeration value="Openwave Systems Inc"/>
          <xsd:enumeration value="Options Clearing Corp"/>
          <xsd:enumeration value="Optodev Inc."/>
          <xsd:enumeration value="Oracle Corporation"/>
          <xsd:enumeration value="Orange Group"/>
          <xsd:enumeration value="Orange Lake Resorts"/>
          <xsd:enumeration value="Orascom Development Holding AG"/>
          <xsd:enumeration value="Orchard Brands Corporation"/>
          <xsd:enumeration value="Oregon CC"/>
          <xsd:enumeration value="Oregon Department of Community Colleges &amp; Workforce Developoment"/>
          <xsd:enumeration value="Oregon Health &amp; Science Univ. Hosp."/>
          <xsd:enumeration value="Organon Inc"/>
          <xsd:enumeration value="Orica"/>
          <xsd:enumeration value="OrionHealth"/>
          <xsd:enumeration value="Orlando Regional Healthcare"/>
          <xsd:enumeration value="OroHealth Corp"/>
          <xsd:enumeration value="OrthoCarolina"/>
          <xsd:enumeration value="OSF Healthcare System"/>
          <xsd:enumeration value="Oshkosh Corporation"/>
          <xsd:enumeration value="Osram Licht AG"/>
          <xsd:enumeration value="Oticon International"/>
          <xsd:enumeration value="Otsuka"/>
          <xsd:enumeration value="Ottawa Healthcare Group"/>
          <xsd:enumeration value="Otter Tail Corporation"/>
          <xsd:enumeration value="Otto Bock Holding GmbH &amp; Co. KG"/>
          <xsd:enumeration value="Outboard Marine Corporation"/>
          <xsd:enumeration value="Ove Arup Partnership Trust Corporation Ltd"/>
          <xsd:enumeration value="Overhead Door"/>
          <xsd:enumeration value="Owens &amp; Minor"/>
          <xsd:enumeration value="Owens Corning"/>
          <xsd:enumeration value="Owens-Illinois Inc"/>
          <xsd:enumeration value="Oxford Health Plans"/>
          <xsd:enumeration value="Oxford Industries Inc"/>
          <xsd:enumeration value="Oy Karl Fazer Ab"/>
          <xsd:enumeration value="Oy Rastor Ab"/>
          <xsd:enumeration value="P A Bergner &amp; Co"/>
          <xsd:enumeration value="P&amp;H Mining Equipment Inc"/>
          <xsd:enumeration value="PACCAR Inc"/>
          <xsd:enumeration value="Pacific Coast Building Products"/>
          <xsd:enumeration value="Pacific Gas &amp; Electric"/>
          <xsd:enumeration value="Pacific Health Development Corp"/>
          <xsd:enumeration value="Pacific Leader International Holdings Limited"/>
          <xsd:enumeration value="Pacific Magazines Pty Limited"/>
          <xsd:enumeration value="Pacific Mutual Holding Company"/>
          <xsd:enumeration value="Pacific Palisades Hotel"/>
          <xsd:enumeration value="Pacific Seafood Group"/>
          <xsd:enumeration value="PacifiCare Health Systems"/>
          <xsd:enumeration value="PacificSource"/>
          <xsd:enumeration value="Packaging Corp of America (PCA)"/>
          <xsd:enumeration value="Pactiv Corporation"/>
          <xsd:enumeration value="Pac-West Telecomm"/>
          <xsd:enumeration value="Palfinger AG"/>
          <xsd:enumeration value="Pall Corporation"/>
          <xsd:enumeration value="Palliser Furniture Ltd"/>
          <xsd:enumeration value="Palm Inc"/>
          <xsd:enumeration value="Palmetto Health Alliance"/>
          <xsd:enumeration value="Paloma Co., Ltd."/>
          <xsd:enumeration value="Palomar Pomerado Health"/>
          <xsd:enumeration value="Pan Pacific Hotels And Resorts"/>
          <xsd:enumeration value="Panalpina Inc"/>
          <xsd:enumeration value="Panalpina Welttransport (Holding) AG"/>
          <xsd:enumeration value="Panasonic Corporation"/>
          <xsd:enumeration value="Panda Restaurant Group Inc"/>
          <xsd:enumeration value="Pandora A/S"/>
          <xsd:enumeration value="Par Pharmaceuticals Inc"/>
          <xsd:enumeration value="Paragon Steakhouse Restaurants"/>
          <xsd:enumeration value="Paramed"/>
          <xsd:enumeration value="PAREXEL International Corporation"/>
          <xsd:enumeration value="Park Water Company"/>
          <xsd:enumeration value="Parker Hannifin"/>
          <xsd:enumeration value="Park-Ohio Holdings"/>
          <xsd:enumeration value="Parkview Health"/>
          <xsd:enumeration value="Parmalat Canada"/>
          <xsd:enumeration value="Partners Healthcare System"/>
          <xsd:enumeration value="Party City Corporation"/>
          <xsd:enumeration value="Pasar"/>
          <xsd:enumeration value="Patheon Inc"/>
          <xsd:enumeration value="Patriot National Insurance Group"/>
          <xsd:enumeration value="Paul Hastings Janofsky &amp; Walker LLP"/>
          <xsd:enumeration value="Pavia Health Group"/>
          <xsd:enumeration value="Paychex Inc"/>
          <xsd:enumeration value="Payless Cashways Inc"/>
          <xsd:enumeration value="Payless Holdings"/>
          <xsd:enumeration value="Paypal Inc"/>
          <xsd:enumeration value="PB"/>
          <xsd:enumeration value="PCCW Limited"/>
          <xsd:enumeration value="PCL Family of Companies"/>
          <xsd:enumeration value="Peabody Energy"/>
          <xsd:enumeration value="Peace River Coal"/>
          <xsd:enumeration value="PeaceHealth"/>
          <xsd:enumeration value="Pearson plc"/>
          <xsd:enumeration value="Peek &amp; Cloppenburg Düsseldorf KG"/>
          <xsd:enumeration value="Peek&amp;Cloppenburg KG"/>
          <xsd:enumeration value="Pella Corporation"/>
          <xsd:enumeration value="Pendum LLC"/>
          <xsd:enumeration value="Penn Mutual Life"/>
          <xsd:enumeration value="Penn National Gaming Inc"/>
          <xsd:enumeration value="Penn National Insurance"/>
          <xsd:enumeration value="Penn State University"/>
          <xsd:enumeration value="Pentair Inc"/>
          <xsd:enumeration value="Peopleclick"/>
          <xsd:enumeration value="People's United Financial"/>
          <xsd:enumeration value="PeopleSoft"/>
          <xsd:enumeration value="Peoplesoft, Inc."/>
          <xsd:enumeration value="PEPCO"/>
          <xsd:enumeration value="Pepperl + Fuchs GmbH"/>
          <xsd:enumeration value="PepsiCo Inc"/>
          <xsd:enumeration value="Peralta CCD"/>
          <xsd:enumeration value="Perdue Farms Inc"/>
          <xsd:enumeration value="Peregrine Systems Inc"/>
          <xsd:enumeration value="Perfetti Van Melle S.p.A."/>
          <xsd:enumeration value="Performance Food Group Co."/>
          <xsd:enumeration value="Peri-Werk Artur Schwörer GmbH &amp; Co. KG"/>
          <xsd:enumeration value="PerkinElmer Inc"/>
          <xsd:enumeration value="Pernod Ricard"/>
          <xsd:enumeration value="Perot Systems"/>
          <xsd:enumeration value="Perpetual Limited"/>
          <xsd:enumeration value="Perrigo Company"/>
          <xsd:enumeration value="Personnel Decisions International (PDI)"/>
          <xsd:enumeration value="Petroliam Nasional Berhad"/>
          <xsd:enumeration value="PetSmart, Inc."/>
          <xsd:enumeration value="Peugeot S.A."/>
          <xsd:enumeration value="Pew Charitable Trusts"/>
          <xsd:enumeration value="PF Changs China Bistro Inc"/>
          <xsd:enumeration value="Pfd Food Services Pty Ltd"/>
          <xsd:enumeration value="Pfizer Inc"/>
          <xsd:enumeration value="PGT Industries"/>
          <xsd:enumeration value="Phelps Dodge"/>
          <xsd:enumeration value="PHI (Presbyterian Homes Inc)"/>
          <xsd:enumeration value="Philadelphia Corp Of Aging"/>
          <xsd:enumeration value="Philadelphia Gas Works"/>
          <xsd:enumeration value="Philip Morris USA"/>
          <xsd:enumeration value="Philip Services Corporation"/>
          <xsd:enumeration value="Philips"/>
          <xsd:enumeration value="Phillips 66"/>
          <xsd:enumeration value="Phoenix Contact Group"/>
          <xsd:enumeration value="Phoenix Mecano AG"/>
          <xsd:enumeration value="PHOENIX Pharmahandel Aktiengesellschaft &amp; Co KG"/>
          <xsd:enumeration value="Physicians Immediate Care, Inc."/>
          <xsd:enumeration value="Picis Inc"/>
          <xsd:enumeration value="Piedmont Healthcare Atlanta"/>
          <xsd:enumeration value="Piedmont Natural Gas Co"/>
          <xsd:enumeration value="Piepenbrock Unternehmensgruppe GmbH + Co. KG"/>
          <xsd:enumeration value="Pier 1 Imports Inc"/>
          <xsd:enumeration value="Pilgrim's Pride Corp"/>
          <xsd:enumeration value="Pilkington"/>
          <xsd:enumeration value="Pilot Corporation"/>
          <xsd:enumeration value="Pinehurst Company"/>
          <xsd:enumeration value="Pinellas Realtor Organization"/>
          <xsd:enumeration value="Pinkertons Inc."/>
          <xsd:enumeration value="Pinnacle Entertainment Inc"/>
          <xsd:enumeration value="Pinnacle Health System"/>
          <xsd:enumeration value="Pinnacle West Capital Corporation"/>
          <xsd:enumeration value="Pioneer Chlor Alkali Company Inc"/>
          <xsd:enumeration value="Pioneer Companies, Inc."/>
          <xsd:enumeration value="PIONEER CORPORATION"/>
          <xsd:enumeration value="Pioneer Hi-Bred"/>
          <xsd:enumeration value="Pioneer Natural Resources Company"/>
          <xsd:enumeration value="Pirelli &amp; C. SpA"/>
          <xsd:enumeration value="Pitney Bowes"/>
          <xsd:enumeration value="Pittsburgh Corning Corporation"/>
          <xsd:enumeration value="Pittsburgh Mercy Health System"/>
          <xsd:enumeration value="Pittsburgh Tribune Review"/>
          <xsd:enumeration value="PJM Interconnection LLC"/>
          <xsd:enumeration value="Plant Operation"/>
          <xsd:enumeration value="Plastipak Packaging Inc"/>
          <xsd:enumeration value="Platinum Equity LLC"/>
          <xsd:enumeration value="Plato Learning Inc"/>
          <xsd:enumeration value="PLDS Group"/>
          <xsd:enumeration value="Plexus Corp"/>
          <xsd:enumeration value="Pliant Corporation"/>
          <xsd:enumeration value="PMA Insurance Group (The)"/>
          <xsd:enumeration value="PMI Food Equipment Group"/>
          <xsd:enumeration value="PNC Financial Services Group"/>
          <xsd:enumeration value="Pocono Health Systems"/>
          <xsd:enumeration value="Pogo Producing Company"/>
          <xsd:enumeration value="Polaris Industries Inc"/>
          <xsd:enumeration value="Polaroid Corporation"/>
          <xsd:enumeration value="Policy Studies Inc (PSI)"/>
          <xsd:enumeration value="Polo Ralph Lauren Corporation"/>
          <xsd:enumeration value="Poly-Foam International, Inc"/>
          <xsd:enumeration value="Polymer Group Inc"/>
          <xsd:enumeration value="PolyOne Corporation"/>
          <xsd:enumeration value="Polypore"/>
          <xsd:enumeration value="Popular Inc"/>
          <xsd:enumeration value="Porr AG"/>
          <xsd:enumeration value="Porter Health"/>
          <xsd:enumeration value="Porter Memorial Hospital"/>
          <xsd:enumeration value="Portola"/>
          <xsd:enumeration value="Ports America"/>
          <xsd:enumeration value="Possehl-Stiftung"/>
          <xsd:enumeration value="Post &amp; Courier"/>
          <xsd:enumeration value="Potlatch Corp"/>
          <xsd:enumeration value="Power Financial Corporation"/>
          <xsd:enumeration value="Power Hiring"/>
          <xsd:enumeration value="PPD Inc"/>
          <xsd:enumeration value="PPG Industries"/>
          <xsd:enumeration value="PPL"/>
          <xsd:enumeration value="PRA International"/>
          <xsd:enumeration value="Prairie Packaging"/>
          <xsd:enumeration value="Praxair"/>
          <xsd:enumeration value="Precise Technology"/>
          <xsd:enumeration value="Precision Drilling Corporation"/>
          <xsd:enumeration value="Precor"/>
          <xsd:enumeration value="Premier Farnell Corp"/>
          <xsd:enumeration value="Premier Global Services"/>
          <xsd:enumeration value="Premier Health Partners"/>
          <xsd:enumeration value="Presbyterian Healthcare Services"/>
          <xsd:enumeration value="Presence Health"/>
          <xsd:enumeration value="PRESTIGE INSURANCE HOLDINGS LTD"/>
          <xsd:enumeration value="PricewaterhouseCoopers"/>
          <xsd:enumeration value="Prime Healthcare Services"/>
          <xsd:enumeration value="Prime Therapeutics"/>
          <xsd:enumeration value="Primedia Inc"/>
          <xsd:enumeration value="Primondo Gruppe"/>
          <xsd:enumeration value="Prince Court Medical Centre"/>
          <xsd:enumeration value="Princeton University"/>
          <xsd:enumeration value="Principal Financial"/>
          <xsd:enumeration value="PrintPack"/>
          <xsd:enumeration value="Pro Clean Bldg Maintenance"/>
          <xsd:enumeration value="ProBuild Holdings"/>
          <xsd:enumeration value="ProCredit Holding AG &amp; Co.KGaA"/>
          <xsd:enumeration value="Procter &amp; Gamble"/>
          <xsd:enumeration value="Proficient Data Systems"/>
          <xsd:enumeration value="Progress Energy Inc"/>
          <xsd:enumeration value="Progressive Insurance"/>
          <xsd:enumeration value="ProLogis"/>
          <xsd:enumeration value="ProMedica Health System"/>
          <xsd:enumeration value="Promina"/>
          <xsd:enumeration value="Promise Regional Medical Center"/>
          <xsd:enumeration value="ProSiebenSat.1 Group"/>
          <xsd:enumeration value="Proudfoot Consulting"/>
          <xsd:enumeration value="Prov Gov CA - Alberta"/>
          <xsd:enumeration value="Prov Gov CA - British Columbia"/>
          <xsd:enumeration value="Prov Gov CA - Manitoba"/>
          <xsd:enumeration value="Prov Gov CA - New Brunswick"/>
          <xsd:enumeration value="Prov Gov CA - Newfoundland"/>
          <xsd:enumeration value="Prov Gov CA - Northwest Territories"/>
          <xsd:enumeration value="Prov Gov CA - Nova Scotia"/>
          <xsd:enumeration value="Prov Gov CA - Ontario"/>
          <xsd:enumeration value="Prov Gov CA - Other"/>
          <xsd:enumeration value="Prov Gov CA - Quebec"/>
          <xsd:enumeration value="Prov Gov CA - Saskatchewan"/>
          <xsd:enumeration value="Prov Gov CA - Yukon"/>
          <xsd:enumeration value="Provant"/>
          <xsd:enumeration value="Provena Health"/>
          <xsd:enumeration value="Providence Health &amp; Services"/>
          <xsd:enumeration value="Provident Bank"/>
          <xsd:enumeration value="Province Healthcare Company"/>
          <xsd:enumeration value="Provincial Health Services Authority"/>
          <xsd:enumeration value="Pru-Care"/>
          <xsd:enumeration value="Prudential Europe"/>
          <xsd:enumeration value="Prudential Ins Co Of America"/>
          <xsd:enumeration value="PSA Peugeot"/>
          <xsd:enumeration value="Psychiatric Solutions Inc"/>
          <xsd:enumeration value="PT Daya Dimensi"/>
          <xsd:enumeration value="PT Daya Dimensi Indonesia"/>
          <xsd:enumeration value="PTI Group"/>
          <xsd:enumeration value="Public School System"/>
          <xsd:enumeration value="Public Service Co Of New Mexico"/>
          <xsd:enumeration value="Public Service Enterprise Group Inc"/>
          <xsd:enumeration value="Public Storage Inc"/>
          <xsd:enumeration value="Publicis Groupe S.A."/>
          <xsd:enumeration value="Publicis Inc"/>
          <xsd:enumeration value="Publishers Circulation Fulfillment"/>
          <xsd:enumeration value="Publix Supermarkets Inc"/>
          <xsd:enumeration value="Puget Energy"/>
          <xsd:enumeration value="Pulmonetic Systems"/>
          <xsd:enumeration value="Pulse Electronics Corp"/>
          <xsd:enumeration value="Pulte Group"/>
          <xsd:enumeration value="Puma"/>
          <xsd:enumeration value="Purdue Pharma L.P."/>
          <xsd:enumeration value="Purdue University"/>
          <xsd:enumeration value="Purolator Courier"/>
          <xsd:enumeration value="PVH Corp."/>
          <xsd:enumeration value="PWC"/>
          <xsd:enumeration value="QAD Inc"/>
          <xsd:enumeration value="Qantas Airways Ltd"/>
          <xsd:enumeration value="QBE Insurance Group"/>
          <xsd:enumeration value="Qimonda"/>
          <xsd:enumeration value="QR Limited"/>
          <xsd:enumeration value="Quad Graphics Inc"/>
          <xsd:enumeration value="Quadion"/>
          <xsd:enumeration value="Quadramed"/>
          <xsd:enumeration value="Quadrivius Inc"/>
          <xsd:enumeration value="Qualcomm"/>
          <xsd:enumeration value="Quality Meat Group Ltd"/>
          <xsd:enumeration value="Quantum"/>
          <xsd:enumeration value="Quest Diagnostics Inc"/>
          <xsd:enumeration value="Quest Software"/>
          <xsd:enumeration value="Quinte Healthcare Corporation"/>
          <xsd:enumeration value="Quintiles Transnational Corp."/>
          <xsd:enumeration value="QVC"/>
          <xsd:enumeration value="Qwest Communications Int'l"/>
          <xsd:enumeration value="R R Donnelley &amp; Sons"/>
          <xsd:enumeration value="Rabobank Groep N.V."/>
          <xsd:enumeration value="RaceTrac"/>
          <xsd:enumeration value="Radeberger Group"/>
          <xsd:enumeration value="Radian Group Inc."/>
          <xsd:enumeration value="Radio Rentals Limited"/>
          <xsd:enumeration value="RadioShack Corp"/>
          <xsd:enumeration value="RAG AG"/>
          <xsd:enumeration value="RAG American Coal Holding Inc"/>
          <xsd:enumeration value="Raiffeisen"/>
          <xsd:enumeration value="RAIFFEISEN-HOLDING NIEDERÖSTERREICH-WIEN registrierte Genossenschaft mit beschränkter Haftung"/>
          <xsd:enumeration value="Raiffeisen-Landesbanken-Holding GmbH"/>
          <xsd:enumeration value="Rain Bird"/>
          <xsd:enumeration value="Ralcorp Holdings"/>
          <xsd:enumeration value="Raley's"/>
          <xsd:enumeration value="Ralston Purina Co"/>
          <xsd:enumeration value="RAMCAR Foodgroup"/>
          <xsd:enumeration value="Rancho Santiago CCD"/>
          <xsd:enumeration value="Randstad North America"/>
          <xsd:enumeration value="Rank Group"/>
          <xsd:enumeration value="Rapid City Regional Hospital"/>
          <xsd:enumeration value="Rare Hospitality Group"/>
          <xsd:enumeration value="Raritan Bay Medical Center"/>
          <xsd:enumeration value="Raymond James Financial Inc"/>
          <xsd:enumeration value="Rayonier, International"/>
          <xsd:enumeration value="Raytheon"/>
          <xsd:enumeration value="RCCL"/>
          <xsd:enumeration value="RCN Corporation"/>
          <xsd:enumeration value="Readers Digest"/>
          <xsd:enumeration value="Realogy Corporation"/>
          <xsd:enumeration value="RealPage, Inc."/>
          <xsd:enumeration value="Reckitt Benckiser"/>
          <xsd:enumeration value="Recourse Communications Inc. (RCI)"/>
          <xsd:enumeration value="Recruitmax"/>
          <xsd:enumeration value="Red Bull"/>
          <xsd:enumeration value="Red Hat, Inc"/>
          <xsd:enumeration value="Red Roof Inns"/>
          <xsd:enumeration value="Reebok International"/>
          <xsd:enumeration value="Reed Elsevier Inc"/>
          <xsd:enumeration value="Regal Beloit Corporation"/>
          <xsd:enumeration value="Regal Entertainment Group"/>
          <xsd:enumeration value="Regency Hospital Company"/>
          <xsd:enumeration value="Regeneration Technologies, Inc"/>
          <xsd:enumeration value="Region of Peel"/>
          <xsd:enumeration value="Regional West Medical Center"/>
          <xsd:enumeration value="Regions Financial Corporation"/>
          <xsd:enumeration value="Regis Corporation"/>
          <xsd:enumeration value="RehabCare Group"/>
          <xsd:enumeration value="Rehabilitation Institute of Chicago"/>
          <xsd:enumeration value="REI, Incorporated"/>
          <xsd:enumeration value="Reilly Industries Inc"/>
          <xsd:enumeration value="Reinsurance Group of America, Incorporated"/>
          <xsd:enumeration value="Reliance Industries Limited"/>
          <xsd:enumeration value="Reliant Energy Inc"/>
          <xsd:enumeration value="Remy International, Inc."/>
          <xsd:enumeration value="Renaissance Energy Ltd."/>
          <xsd:enumeration value="Renal Care Group Inc"/>
          <xsd:enumeration value="Renegade Productions"/>
          <xsd:enumeration value="Renolit Group"/>
          <xsd:enumeration value="Renown Health"/>
          <xsd:enumeration value="Rent-A-Center"/>
          <xsd:enumeration value="Rentech, Inc."/>
          <xsd:enumeration value="Rent-Way Inc"/>
          <xsd:enumeration value="Republic Airways Holdings Inc."/>
          <xsd:enumeration value="Republic Austria"/>
          <xsd:enumeration value="Republic Financial Services"/>
          <xsd:enumeration value="Republic National Distributing Company"/>
          <xsd:enumeration value="Republic Services"/>
          <xsd:enumeration value="ResCare"/>
          <xsd:enumeration value="Research In Motion Limited"/>
          <xsd:enumeration value="Reseller"/>
          <xsd:enumeration value="Resmed"/>
          <xsd:enumeration value="Resource America, Inc."/>
          <xsd:enumeration value="Resurgence Health Group"/>
          <xsd:enumeration value="Resurrection Health Care"/>
          <xsd:enumeration value="Rethmann AG + Co. KG"/>
          <xsd:enumeration value="Retired Persons Services In"/>
          <xsd:enumeration value="Revcor Inc."/>
          <xsd:enumeration value="Revera Inc"/>
          <xsd:enumeration value="Rewe Group"/>
          <xsd:enumeration value="Rexam"/>
          <xsd:enumeration value="Rexel SA"/>
          <xsd:enumeration value="Reynolds &amp; Reynolds"/>
          <xsd:enumeration value="Reynolds Metals Company"/>
          <xsd:enumeration value="Reznick Group"/>
          <xsd:enumeration value="RG Barry Corporation"/>
          <xsd:enumeration value="RH Donnelley Corporation"/>
          <xsd:enumeration value="Rheinische Post Mediengruppe"/>
          <xsd:enumeration value="Rheinmetall Group"/>
          <xsd:enumeration value="Rhenus Gruppe"/>
          <xsd:enumeration value="RHI Group"/>
          <xsd:enumeration value="Rhodia SA"/>
          <xsd:enumeration value="RHR International"/>
          <xsd:enumeration value="Rich Products"/>
          <xsd:enumeration value="Richemont Group"/>
          <xsd:enumeration value="Richmond Savings Credit Union"/>
          <xsd:enumeration value="Ricoh Corporation"/>
          <xsd:enumeration value="Rider University"/>
          <xsd:enumeration value="Ridgefield Bank"/>
          <xsd:enumeration value="Riggs Bank"/>
          <xsd:enumeration value="Right Management Consultants"/>
          <xsd:enumeration value="RIM"/>
          <xsd:enumeration value="Ringier Holding AG"/>
          <xsd:enumeration value="Rio Tinto"/>
          <xsd:enumeration value="Rite Aid Corporation"/>
          <xsd:enumeration value="Riverside Health Org"/>
          <xsd:enumeration value="Riverside Healthcare System-Montefiore"/>
          <xsd:enumeration value="RJA Group Inc."/>
          <xsd:enumeration value="RMC Industries Corp"/>
          <xsd:enumeration value="Robbins &amp; Myers Inc"/>
          <xsd:enumeration value="Robert Bosch GmbH"/>
          <xsd:enumeration value="Robert Half International"/>
          <xsd:enumeration value="Robert Horne Group"/>
          <xsd:enumeration value="Robert Wood Johnson Health Network"/>
          <xsd:enumeration value="Roche"/>
          <xsd:enumeration value="Roche (Deactivated)"/>
          <xsd:enumeration value="Roche Holding Ltd."/>
          <xsd:enumeration value="Röchling SE &amp; Co. KG"/>
          <xsd:enumeration value="Rockford Health System"/>
          <xsd:enumeration value="Rock-Tenn Company"/>
          <xsd:enumeration value="Rockwater Energy Solutions, Inc."/>
          <xsd:enumeration value="Rockwell Automation"/>
          <xsd:enumeration value="Rockwell Collins"/>
          <xsd:enumeration value="Rockwell Intl"/>
          <xsd:enumeration value="Rockwell Land Corporation"/>
          <xsd:enumeration value="Roehl Transport"/>
          <xsd:enumeration value="Rogers Communications Inc"/>
          <xsd:enumeration value="Rogers Video"/>
          <xsd:enumeration value="Rohde &amp; Schwarz GmbH &amp; Co. KG"/>
          <xsd:enumeration value="Rohm &amp; Haas"/>
          <xsd:enumeration value="Roll Global LLC"/>
          <xsd:enumeration value="Roll International Corp"/>
          <xsd:enumeration value="ROLLS-ROYCE"/>
          <xsd:enumeration value="Rolls-Royce, North America"/>
          <xsd:enumeration value="Rompetrol Group N.V."/>
          <xsd:enumeration value="Rona Inc"/>
          <xsd:enumeration value="Ronal AG"/>
          <xsd:enumeration value="Rooms to Go"/>
          <xsd:enumeration value="Roper Industries Inc"/>
          <xsd:enumeration value="Roper St. Francis HC"/>
          <xsd:enumeration value="Rosetta Marketing"/>
          <xsd:enumeration value="Ross Stores Inc"/>
          <xsd:enumeration value="Rossmann Beteiligungs GmbH"/>
          <xsd:enumeration value="Roundy's Supermarkets Inc"/>
          <xsd:enumeration value="Rowan International"/>
          <xsd:enumeration value="Rowe Furniture"/>
          <xsd:enumeration value="Royal Ahold NV"/>
          <xsd:enumeration value="Royal Bank Of Canada"/>
          <xsd:enumeration value="Royal Bank Of Scotland"/>
          <xsd:enumeration value="Royal DSM, NV"/>
          <xsd:enumeration value="Royal FrieslandCampina"/>
          <xsd:enumeration value="Royal Insurance"/>
          <xsd:enumeration value="Royal Victoria Hospital"/>
          <xsd:enumeration value="RPC Inc"/>
          <xsd:enumeration value="RPM"/>
          <xsd:enumeration value="Rrh Corporation"/>
          <xsd:enumeration value="RTI International"/>
          <xsd:enumeration value="RTM Restaurant Group"/>
          <xsd:enumeration value="rue21, inc."/>
          <xsd:enumeration value="Rug Doctor, Inc."/>
          <xsd:enumeration value="Rural Metro Corporation"/>
          <xsd:enumeration value="Rush Enterprises, Inc."/>
          <xsd:enumeration value="Rush University Medical Center"/>
          <xsd:enumeration value="Russell Corporation"/>
          <xsd:enumeration value="Russell Investment Group"/>
          <xsd:enumeration value="Russell Montgomery &amp; Assoc"/>
          <xsd:enumeration value="Rütgers-Konzern"/>
          <xsd:enumeration value="RWE AG"/>
          <xsd:enumeration value="Ryan &amp; Co"/>
          <xsd:enumeration value="Ryder"/>
          <xsd:enumeration value="Ryerson"/>
          <xsd:enumeration value="Ryerson University"/>
          <xsd:enumeration value="Ryland Group"/>
          <xsd:enumeration value="Ryobi"/>
          <xsd:enumeration value="S C Johnson &amp; Son Inc"/>
          <xsd:enumeration value="S1 Corporation"/>
          <xsd:enumeration value="Sabis"/>
          <xsd:enumeration value="SABMiller"/>
          <xsd:enumeration value="Sabre Holdings"/>
          <xsd:enumeration value="Sabre Industries"/>
          <xsd:enumeration value="SAE"/>
          <xsd:enumeration value="Safe Auto"/>
          <xsd:enumeration value="Safeco"/>
          <xsd:enumeration value="Safeguard Business Systems"/>
          <xsd:enumeration value="Safelite Glass Corp"/>
          <xsd:enumeration value="Safety-Kleen Corp"/>
          <xsd:enumeration value="Safeway"/>
          <xsd:enumeration value="Safran Group"/>
          <xsd:enumeration value="Sage Group"/>
          <xsd:enumeration value="Saint Barnabus Health Care"/>
          <xsd:enumeration value="Saint Francis Hospital Inc"/>
          <xsd:enumeration value="Saks Incorporated"/>
          <xsd:enumeration value="Salesforce.com Incorporated"/>
          <xsd:enumeration value="Salix Pharmaceuticals"/>
          <xsd:enumeration value="Salzgitter Group"/>
          <xsd:enumeration value="Sammons Financial Group"/>
          <xsd:enumeration value="Samsung Electronics Co., Ltd."/>
          <xsd:enumeration value="Samvardhana Motherson Automotive Systems Group B.V."/>
          <xsd:enumeration value="San Diego CCD"/>
          <xsd:enumeration value="San Mateo CCD"/>
          <xsd:enumeration value="San Miguel Corporation"/>
          <xsd:enumeration value="Sandisk Corp"/>
          <xsd:enumeration value="Sandman Hotels Inns &amp; Suites"/>
          <xsd:enumeration value="Sandvik Steel"/>
          <xsd:enumeration value="Sanford Health-MeritCare"/>
          <xsd:enumeration value="Sanford/Newell Rubbermaid"/>
          <xsd:enumeration value="Sanmina Corporation"/>
          <xsd:enumeration value="Sanofi-Aventis"/>
          <xsd:enumeration value="Santen"/>
          <xsd:enumeration value="Sanwa Bank"/>
          <xsd:enumeration value="SANY Group Co Ltd"/>
          <xsd:enumeration value="SAP AG"/>
          <xsd:enumeration value="Sappi Limited"/>
          <xsd:enumeration value="Saputo Cheese &amp; Protein"/>
          <xsd:enumeration value="Saputo Inc"/>
          <xsd:enumeration value="Sarasota Memorial Health Care System"/>
          <xsd:enumeration value="Saratoga Care Inc"/>
          <xsd:enumeration value="Sargento Foods Inc"/>
          <xsd:enumeration value="Sarnia Lambton"/>
          <xsd:enumeration value="SAS Institute, Inc."/>
          <xsd:enumeration value="Sasol Limited"/>
          <xsd:enumeration value="Sattler Group"/>
          <xsd:enumeration value="Sauder Group Of Companies"/>
          <xsd:enumeration value="Sauer-Danfoss"/>
          <xsd:enumeration value="Save The Children"/>
          <xsd:enumeration value="Sazerac"/>
          <xsd:enumeration value="Sbarro Inc"/>
          <xsd:enumeration value="SCA Tissue"/>
          <xsd:enumeration value="SCANA Corporation"/>
          <xsd:enumeration value="Scandlines GmbH"/>
          <xsd:enumeration value="SCCI Hospitals"/>
          <xsd:enumeration value="Schaeffler Group"/>
          <xsd:enumeration value="Schaeffler Gruppe"/>
          <xsd:enumeration value="Schaeffler Technologies GmbH &amp; Co. KG"/>
          <xsd:enumeration value="Schaller Anderson"/>
          <xsd:enumeration value="Schawk Inc"/>
          <xsd:enumeration value="Schenectady International Inc"/>
          <xsd:enumeration value="Schenker-Winkler Holding AG"/>
          <xsd:enumeration value="Schering AG"/>
          <xsd:enumeration value="Schering-Plough"/>
          <xsd:enumeration value="Schindler Elevator"/>
          <xsd:enumeration value="Schindler Holding AG"/>
          <xsd:enumeration value="Schlumberger Limited"/>
          <xsd:enumeration value="Schmalbach-Lubeca AG"/>
          <xsd:enumeration value="Schneider Electric SA"/>
          <xsd:enumeration value="Schneider National, Inc."/>
          <xsd:enumeration value="Schnellecke Group AG &amp; Co. KG"/>
          <xsd:enumeration value="Schnitzer Steel Industries, Inc."/>
          <xsd:enumeration value="Scholastic"/>
          <xsd:enumeration value="Scholle Corporation"/>
          <xsd:enumeration value="Schott Group"/>
          <xsd:enumeration value="Schottenstein Stores Corp"/>
          <xsd:enumeration value="Schreiber Foods"/>
          <xsd:enumeration value="Schroders plc"/>
          <xsd:enumeration value="Schwan's Sales Enterprises Inc"/>
          <xsd:enumeration value="Schwarz Beteiligungs-KG"/>
          <xsd:enumeration value="Schweitzer Mauduit International"/>
          <xsd:enumeration value="Schweizerische Eidgenossenschaft"/>
          <xsd:enumeration value="Science Applications International Corp"/>
          <xsd:enumeration value="Scientific Atlanta"/>
          <xsd:enumeration value="Scot Forge Company"/>
          <xsd:enumeration value="Scotiabank Group"/>
          <xsd:enumeration value="Scott &amp; White"/>
          <xsd:enumeration value="Scottsdale Health System"/>
          <xsd:enumeration value="Scottsdale Lincoln Health Network"/>
          <xsd:enumeration value="ScottsMiracle-Gro"/>
          <xsd:enumeration value="Scripps"/>
          <xsd:enumeration value="SeaDrill"/>
          <xsd:enumeration value="Seagate Technology Inc"/>
          <xsd:enumeration value="Sealed Air"/>
          <xsd:enumeration value="Seariver Maritime Inc"/>
          <xsd:enumeration value="Sears Holdings"/>
          <xsd:enumeration value="Seattle Children's"/>
          <xsd:enumeration value="SeaWorld Parks &amp; Entertainment"/>
          <xsd:enumeration value="SECU Credit Union"/>
          <xsd:enumeration value="Securitas AB"/>
          <xsd:enumeration value="Security Benefit"/>
          <xsd:enumeration value="SEH America, Inc"/>
          <xsd:enumeration value="SEI"/>
          <xsd:enumeration value="SEIKO HOLDINGS CORPORATION"/>
          <xsd:enumeration value="Select International"/>
          <xsd:enumeration value="Select Medical Corporation"/>
          <xsd:enumeration value="Self Help"/>
          <xsd:enumeration value="Seminole Electric Cooperative"/>
          <xsd:enumeration value="SemperCare"/>
          <xsd:enumeration value="Sempra Energy"/>
          <xsd:enumeration value="Senior Home Care Companies"/>
          <xsd:enumeration value="Sensata Technologies"/>
          <xsd:enumeration value="Sensis"/>
          <xsd:enumeration value="Sentara Healthcare"/>
          <xsd:enumeration value="Serca Foodservice"/>
          <xsd:enumeration value="Serco Group plc"/>
          <xsd:enumeration value="Service Corporation International"/>
          <xsd:enumeration value="ServiceMaster"/>
          <xsd:enumeration value="Services Group of America, Inc."/>
          <xsd:enumeration value="Servicios Corp CIE SA DE CV"/>
          <xsd:enumeration value="Servicios de Salud Episcopales"/>
          <xsd:enumeration value="Seton Healthcare Network"/>
          <xsd:enumeration value="Severstal OAO"/>
          <xsd:enumeration value="SGL Carbon"/>
          <xsd:enumeration value="SGL Group"/>
          <xsd:enumeration value="SGS SA"/>
          <xsd:enumeration value="SGV-DDI"/>
          <xsd:enumeration value="Shale-Inland Holdings LLC"/>
          <xsd:enumeration value="Shands HealthCare"/>
          <xsd:enumeration value="Shanghai Bosideng International Fashion Co., Ltd."/>
          <xsd:enumeration value="Shanghai Bright Dairy &amp; Food Co., Ltd."/>
          <xsd:enumeration value="Sharp Corporation"/>
          <xsd:enumeration value="Sharp Healthcare"/>
          <xsd:enumeration value="Shaw Communications Inc"/>
          <xsd:enumeration value="Shaw Group"/>
          <xsd:enumeration value="Shaw Industries"/>
          <xsd:enumeration value="ShawCor Ltd."/>
          <xsd:enumeration value="Sheetz, Inc."/>
          <xsd:enumeration value="Shefflield Limited"/>
          <xsd:enumeration value="Shell Canada Limited"/>
          <xsd:enumeration value="Shell Oil Co"/>
          <xsd:enumeration value="Shelter Insurance Companies"/>
          <xsd:enumeration value="Sheppard Pratt Health System"/>
          <xsd:enumeration value="Sheraton Hotels"/>
          <xsd:enumeration value="Sherman Oaks Health System"/>
          <xsd:enumeration value="Sherritt International"/>
          <xsd:enumeration value="Sherwin-Williams Co"/>
          <xsd:enumeration value="Shire plc"/>
          <xsd:enumeration value="SHL Group"/>
          <xsd:enumeration value="Shoemart"/>
          <xsd:enumeration value="Shoneys South"/>
          <xsd:enumeration value="Shoppers Drug Mart"/>
          <xsd:enumeration value="Shore Health System"/>
          <xsd:enumeration value="Shore Health System of Maryland"/>
          <xsd:enumeration value="Shougang Corporation"/>
          <xsd:enumeration value="SHP Employee Services"/>
          <xsd:enumeration value="Shriners Hospitals for Children"/>
          <xsd:enumeration value="Shure"/>
          <xsd:enumeration value="SHV Holdings NV"/>
          <xsd:enumeration value="Sick Group"/>
          <xsd:enumeration value="Sidley Austin, LLP"/>
          <xsd:enumeration value="Siebel Systems Inc."/>
          <xsd:enumeration value="Siegwerk Group"/>
          <xsd:enumeration value="Siemag Weiss GmbH &amp; Co. KG"/>
          <xsd:enumeration value="Siemens AG"/>
          <xsd:enumeration value="Sierra Pacific Power"/>
          <xsd:enumeration value="Sierra Vista Regional Health Center"/>
          <xsd:enumeration value="Sigma Aldrich Corporation"/>
          <xsd:enumeration value="Silgan Holdings Inc"/>
          <xsd:enumeration value="SilkRoad Technologies"/>
          <xsd:enumeration value="SilverBirch Hotels and Resorts Limited"/>
          <xsd:enumeration value="Simmons Company"/>
          <xsd:enumeration value="Simon Debartolo Corp"/>
          <xsd:enumeration value="Simonton Windows"/>
          <xsd:enumeration value="Sims Group"/>
          <xsd:enumeration value="Sinclair Knight Merz"/>
          <xsd:enumeration value="Sinclair Oil Corp"/>
          <xsd:enumeration value="Singapore Management University"/>
          <xsd:enumeration value="Singapore Technologies Engineering"/>
          <xsd:enumeration value="SingTel"/>
          <xsd:enumeration value="Sioux Valley Hospitals &amp; Health System"/>
          <xsd:enumeration value="Sistema Universitario Ana G Mendez"/>
          <xsd:enumeration value="Sisters Of Charity"/>
          <xsd:enumeration value="Sisters Of Charity Leavenworth Hlth Sys"/>
          <xsd:enumeration value="Sisters of Charity of St Elizabeth"/>
          <xsd:enumeration value="Sisters Of Mercy - St Louis"/>
          <xsd:enumeration value="Sisters of Providence Health System"/>
          <xsd:enumeration value="Sisters Of St Francis Order"/>
          <xsd:enumeration value="Sita"/>
          <xsd:enumeration value="Sitel Corp"/>
          <xsd:enumeration value="Six Flags, Inc"/>
          <xsd:enumeration value="Six L's Packaging"/>
          <xsd:enumeration value="Siy Cha Group of Companies"/>
          <xsd:enumeration value="Sizzler Restaurants"/>
          <xsd:enumeration value="Skadden Arps Etc"/>
          <xsd:enumeration value="Skanska AB"/>
          <xsd:enumeration value="SKD Automotive Group"/>
          <xsd:enumeration value="Skilled Group Limited"/>
          <xsd:enumeration value="Skilled Healthcare Group"/>
          <xsd:enumeration value="SkillSoft"/>
          <xsd:enumeration value="Skyworks Solutions Inc"/>
          <xsd:enumeration value="SLC Technologies"/>
          <xsd:enumeration value="SLM Corporation"/>
          <xsd:enumeration value="SM&amp;P Utility"/>
          <xsd:enumeration value="SMC CORPORATION"/>
          <xsd:enumeration value="Smith &amp; Nephew"/>
          <xsd:enumeration value="Smith International, Inc."/>
          <xsd:enumeration value="Smithbucklin Corporation"/>
          <xsd:enumeration value="Smithfield Foods Inc"/>
          <xsd:enumeration value="Smiths Group"/>
          <xsd:enumeration value="SMS Holdings"/>
          <xsd:enumeration value="Smurfit Kappa Group Public Limited Company"/>
          <xsd:enumeration value="Smurfit-Stone Container Corp"/>
          <xsd:enumeration value="Snap-On Tools Corporation"/>
          <xsd:enumeration value="SNCF Group"/>
          <xsd:enumeration value="SNC-Lavalin"/>
          <xsd:enumeration value="Snecma Group"/>
          <xsd:enumeration value="Snyder's-Lance, Inc."/>
          <xsd:enumeration value="Sobeys"/>
          <xsd:enumeration value="Societe Generale"/>
          <xsd:enumeration value="Sodexo"/>
          <xsd:enumeration value="Softbank Corp."/>
          <xsd:enumeration value="Solaris Health System"/>
          <xsd:enumeration value="SolarWinds, Inc."/>
          <xsd:enumeration value="Solectron Corp"/>
          <xsd:enumeration value="Solo Cup Company"/>
          <xsd:enumeration value="Solutia Inc"/>
          <xsd:enumeration value="Solvay SA"/>
          <xsd:enumeration value="Sonepar S.A."/>
          <xsd:enumeration value="Sonoco Products"/>
          <xsd:enumeration value="Sonova AG"/>
          <xsd:enumeration value="Sony"/>
          <xsd:enumeration value="Sorin Group"/>
          <xsd:enumeration value="Sourceright Solutions"/>
          <xsd:enumeration value="South Carolina CC"/>
          <xsd:enumeration value="South Central Community Health"/>
          <xsd:enumeration value="South Coast Health System"/>
          <xsd:enumeration value="South Financial Group"/>
          <xsd:enumeration value="South Fraser Health Region"/>
          <xsd:enumeration value="South Jersey Health System"/>
          <xsd:enumeration value="South Orange CCD"/>
          <xsd:enumeration value="Southco Inc"/>
          <xsd:enumeration value="Southeast Georgia Health System"/>
          <xsd:enumeration value="Southeastern Freight Lines"/>
          <xsd:enumeration value="Southeastern Pennsylvania Transit Authority"/>
          <xsd:enumeration value="Southern CA (AAA)"/>
          <xsd:enumeration value="Southern California Gas Company"/>
          <xsd:enumeration value="Southern California Healthcare System"/>
          <xsd:enumeration value="Southern Co"/>
          <xsd:enumeration value="Southern Maryland Health System"/>
          <xsd:enumeration value="Southern Research Institute"/>
          <xsd:enumeration value="SouthTrust Corporation"/>
          <xsd:enumeration value="Southwest"/>
          <xsd:enumeration value="Southwest Gas Corporation"/>
          <xsd:enumeration value="Southwestern Illinois College"/>
          <xsd:enumeration value="Southwire Company"/>
          <xsd:enumeration value="Sovereign Bancorp Inc"/>
          <xsd:enumeration value="Spansion"/>
          <xsd:enumeration value="Spartan Light Metal Products"/>
          <xsd:enumeration value="Spartanburg Regional Healthcare System"/>
          <xsd:enumeration value="Spartech"/>
          <xsd:enumeration value="Specialty Granules Inc."/>
          <xsd:enumeration value="Spectrum Brands Inc"/>
          <xsd:enumeration value="Spectrum Health"/>
          <xsd:enumeration value="Spheris"/>
          <xsd:enumeration value="Spirent Communications Inc"/>
          <xsd:enumeration value="Spirit AeroSystems"/>
          <xsd:enumeration value="Spirit Mountain Gaming Corporation"/>
          <xsd:enumeration value="Sports Authority, Inc (The)"/>
          <xsd:enumeration value="Spotless Group Limited"/>
          <xsd:enumeration value="Springs Industries Inc"/>
          <xsd:enumeration value="Sprint Corporation"/>
          <xsd:enumeration value="Sprouts Farmers Market, Inc."/>
          <xsd:enumeration value="SPS Technologies Inc"/>
          <xsd:enumeration value="SPX/Sealed Power"/>
          <xsd:enumeration value="Square D Company"/>
          <xsd:enumeration value="SSM Health Care"/>
          <xsd:enumeration value="St Catherine Healthcare"/>
          <xsd:enumeration value="St Clares Health System"/>
          <xsd:enumeration value="St Davids Healthcare"/>
          <xsd:enumeration value="St Gobain Group"/>
          <xsd:enumeration value="St Josephs Healthcare System"/>
          <xsd:enumeration value="St Jude Children's Research Hospital"/>
          <xsd:enumeration value="St Lukes Northland Hospital"/>
          <xsd:enumeration value="St Microelectronics Group"/>
          <xsd:enumeration value="ST of TX HC Agencies"/>
          <xsd:enumeration value="St Vincent Catholic Medical Centers"/>
          <xsd:enumeration value="St. John Health System"/>
          <xsd:enumeration value="St. Joseph Health System"/>
          <xsd:enumeration value="St. Josephs-Candler HS"/>
          <xsd:enumeration value="St. Jude Medical Inc"/>
          <xsd:enumeration value="St. Luke's Health System"/>
          <xsd:enumeration value="St. Luke's Health System - Idaho"/>
          <xsd:enumeration value="St. Lukes Hospital &amp; Health"/>
          <xsd:enumeration value="St. Vincent Health System"/>
          <xsd:enumeration value="St. Vincent Hospitals &amp; Health Services"/>
          <xsd:enumeration value="Stage Stores Inc"/>
          <xsd:enumeration value="Standard Insurance"/>
          <xsd:enumeration value="Standard Products Company"/>
          <xsd:enumeration value="Standard Register"/>
          <xsd:enumeration value="Stanford Health Care"/>
          <xsd:enumeration value="Stanley Black &amp; Decker, Inc."/>
          <xsd:enumeration value="Stantec Inc"/>
          <xsd:enumeration value="Staples"/>
          <xsd:enumeration value="Star Trac"/>
          <xsd:enumeration value="Starbucks Coffee Company"/>
          <xsd:enumeration value="Starcom Mediavest Group"/>
          <xsd:enumeration value="Starwood Hotels &amp; Resorts Worldwide, Inc"/>
          <xsd:enumeration value="State Center CCD"/>
          <xsd:enumeration value="State Farm Insurance"/>
          <xsd:enumeration value="State Gov - Alabama"/>
          <xsd:enumeration value="State Gov - Alaska"/>
          <xsd:enumeration value="State Gov - Arizona"/>
          <xsd:enumeration value="State Gov - Arkansas"/>
          <xsd:enumeration value="State Gov - California"/>
          <xsd:enumeration value="State Gov - Colorado"/>
          <xsd:enumeration value="State Gov - Commonwealth Puerto Rico"/>
          <xsd:enumeration value="State Gov - Connecticut"/>
          <xsd:enumeration value="State Gov - Delaware"/>
          <xsd:enumeration value="State Gov - District Of Columbia"/>
          <xsd:enumeration value="State Gov - EG&amp;G"/>
          <xsd:enumeration value="State Gov - Florida"/>
          <xsd:enumeration value="State Gov - Georgia"/>
          <xsd:enumeration value="State Gov - Hawaii"/>
          <xsd:enumeration value="State Gov - Idaho"/>
          <xsd:enumeration value="State Gov - Illinois"/>
          <xsd:enumeration value="State Gov - Indiana"/>
          <xsd:enumeration value="State Gov - Iowa"/>
          <xsd:enumeration value="State Gov - Kansas"/>
          <xsd:enumeration value="State Gov - Kentucky"/>
          <xsd:enumeration value="State Gov - Louisiana"/>
          <xsd:enumeration value="State Gov - Maine"/>
          <xsd:enumeration value="State Gov - Maryland"/>
          <xsd:enumeration value="State Gov - Massachusetts"/>
          <xsd:enumeration value="State Gov - Michigan"/>
          <xsd:enumeration value="State Gov - Minnesota"/>
          <xsd:enumeration value="State Gov - Mississippi"/>
          <xsd:enumeration value="State Gov - Missouri"/>
          <xsd:enumeration value="State Gov - Montana"/>
          <xsd:enumeration value="State Gov - Nebraska"/>
          <xsd:enumeration value="State Gov - Nevada"/>
          <xsd:enumeration value="State Gov - New Hampshire"/>
          <xsd:enumeration value="State Gov - New Jersey"/>
          <xsd:enumeration value="State Gov - New Mexico"/>
          <xsd:enumeration value="State Gov - New York"/>
          <xsd:enumeration value="State Gov - North Carolina"/>
          <xsd:enumeration value="State Gov - North Dakota"/>
          <xsd:enumeration value="State Gov - Ohio"/>
          <xsd:enumeration value="State Gov - Oklahoma"/>
          <xsd:enumeration value="State Gov - Oregon"/>
          <xsd:enumeration value="State Gov - Other"/>
          <xsd:enumeration value="State Gov - Pennsylvania"/>
          <xsd:enumeration value="State Gov - Rhode Island"/>
          <xsd:enumeration value="State Gov - South Carolina"/>
          <xsd:enumeration value="State Gov - South Dakota"/>
          <xsd:enumeration value="State Gov - Tennessee"/>
          <xsd:enumeration value="State Gov - Texas"/>
          <xsd:enumeration value="State Gov - Utah"/>
          <xsd:enumeration value="State Gov - Vermont"/>
          <xsd:enumeration value="State Gov - Virginia"/>
          <xsd:enumeration value="State Gov - Washington"/>
          <xsd:enumeration value="State Gov - West Virginia"/>
          <xsd:enumeration value="State Gov - Wisconsin"/>
          <xsd:enumeration value="State Gov - Wyoming"/>
          <xsd:enumeration value="State of Texas"/>
          <xsd:enumeration value="State Street Corporation"/>
          <xsd:enumeration value="Station Casinos"/>
          <xsd:enumeration value="Steelcase Inc"/>
          <xsd:enumeration value="Stelco Inc"/>
          <xsd:enumeration value="Steria Group"/>
          <xsd:enumeration value="Stericycle Inc"/>
          <xsd:enumeration value="Steris Corp"/>
          <xsd:enumeration value="Sterling Commerce"/>
          <xsd:enumeration value="Steward Health Care System"/>
          <xsd:enumeration value="Stewart &amp; Stevenson"/>
          <xsd:enumeration value="Stewart Information Services Corporation"/>
          <xsd:enumeration value="Stiefel Laboratories"/>
          <xsd:enumeration value="Stihl Holding AG &amp; Co KG"/>
          <xsd:enumeration value="STMicroelectronics N.V."/>
          <xsd:enumeration value="Sto Corp"/>
          <xsd:enumeration value="Stockland Corporation Limited"/>
          <xsd:enumeration value="Stolt Tankers B.V."/>
          <xsd:enumeration value="Stone &amp; Webster Inc"/>
          <xsd:enumeration value="Stoneridge Inc"/>
          <xsd:enumeration value="Storaenso"/>
          <xsd:enumeration value="Storage Technology Corporation"/>
          <xsd:enumeration value="Storaketek"/>
          <xsd:enumeration value="Stormont-Vail Healthcare"/>
          <xsd:enumeration value="STRABAG SE"/>
          <xsd:enumeration value="Straumann-Gruppe"/>
          <xsd:enumeration value="Strayer"/>
          <xsd:enumeration value="Stroh Brewery Co"/>
          <xsd:enumeration value="Strube und Koch GmbH"/>
          <xsd:enumeration value="Stryker Institute"/>
          <xsd:enumeration value="Student Loan Finance Corp"/>
          <xsd:enumeration value="Suburban Propane Partners LP"/>
          <xsd:enumeration value="Successfactors"/>
          <xsd:enumeration value="Suddenlink"/>
          <xsd:enumeration value="Suez Group"/>
          <xsd:enumeration value="Sulzer Ltd"/>
          <xsd:enumeration value="Sumitomo Corporation"/>
          <xsd:enumeration value="Summa Health System"/>
          <xsd:enumeration value="Summit Group"/>
          <xsd:enumeration value="Summit Health"/>
          <xsd:enumeration value="Summit Racing Equipment"/>
          <xsd:enumeration value="SumTotal"/>
          <xsd:enumeration value="Sun Bancorp Inc"/>
          <xsd:enumeration value="Sun Chemical"/>
          <xsd:enumeration value="Sun Health"/>
          <xsd:enumeration value="Sun Healthcare Group"/>
          <xsd:enumeration value="Sun Life Financial Group"/>
          <xsd:enumeration value="Sun Microsystems"/>
          <xsd:enumeration value="Sun Products Corporation"/>
          <xsd:enumeration value="Sun Rich Fresh Foods"/>
          <xsd:enumeration value="Sunclipse"/>
          <xsd:enumeration value="Suncor Energy Inc"/>
          <xsd:enumeration value="Sungard Capital Corp."/>
          <xsd:enumeration value="SunLink Healthcare Corp"/>
          <xsd:enumeration value="Sunoco Inc"/>
          <xsd:enumeration value="SunPower Corporation"/>
          <xsd:enumeration value="Sunrise Medical Inc"/>
          <xsd:enumeration value="Sunrise Senior Living"/>
          <xsd:enumeration value="SunTrust Banks Inc"/>
          <xsd:enumeration value="SUNY"/>
          <xsd:enumeration value="Superior Design Intl Inc"/>
          <xsd:enumeration value="Superior Energy Services, Inc."/>
          <xsd:enumeration value="Superior Essex"/>
          <xsd:enumeration value="Superior Plus LP"/>
          <xsd:enumeration value="Supermarkets General"/>
          <xsd:enumeration value="Supershuttle International Inc"/>
          <xsd:enumeration value="SuperValu Inc"/>
          <xsd:enumeration value="Surgical Specialties"/>
          <xsd:enumeration value="Survey Sampling International LLC"/>
          <xsd:enumeration value="Susquehanna Health System"/>
          <xsd:enumeration value="Sutter Health"/>
          <xsd:enumeration value="Suzlon Energy Limited"/>
          <xsd:enumeration value="SVB Financial"/>
          <xsd:enumeration value="Swagelok Company"/>
          <xsd:enumeration value="Swarovski Group"/>
          <xsd:enumeration value="Sweetheart Plastics"/>
          <xsd:enumeration value="Swift"/>
          <xsd:enumeration value="Swire Group"/>
          <xsd:enumeration value="Swiss Re"/>
          <xsd:enumeration value="Sybase"/>
          <xsd:enumeration value="Sybron Chemical Inc"/>
          <xsd:enumeration value="Sydney Opera House Trust"/>
          <xsd:enumeration value="Sykes Enterprises"/>
          <xsd:enumeration value="Symantec Corporation"/>
          <xsd:enumeration value="Symbol Technologies Inc"/>
          <xsd:enumeration value="Symmetricom"/>
          <xsd:enumeration value="Symrise Group"/>
          <xsd:enumeration value="Syngenta AG"/>
          <xsd:enumeration value="Syniverse"/>
          <xsd:enumeration value="Synnex Corporation"/>
          <xsd:enumeration value="Synovus"/>
          <xsd:enumeration value="SYSCO Corporation"/>
          <xsd:enumeration value="Sysmex Corporation"/>
          <xsd:enumeration value="T. Rowe Price Inc"/>
          <xsd:enumeration value="T.D.Williamson Inc"/>
          <xsd:enumeration value="TAFE"/>
          <xsd:enumeration value="Takata"/>
          <xsd:enumeration value="Takeda Pharmaceuticals"/>
          <xsd:enumeration value="Talanx Gruppe"/>
          <xsd:enumeration value="Taleo"/>
          <xsd:enumeration value="Tamko Asphalt Products Inc"/>
          <xsd:enumeration value="Tandem Health Care Inc"/>
          <xsd:enumeration value="Tanner Companies"/>
          <xsd:enumeration value="TAQA"/>
          <xsd:enumeration value="Taratec Development Corporation"/>
          <xsd:enumeration value="Target Corporation"/>
          <xsd:enumeration value="Target-DDI"/>
          <xsd:enumeration value="Targray Technology International"/>
          <xsd:enumeration value="Tarrant County College"/>
          <xsd:enumeration value="Tata Motors"/>
          <xsd:enumeration value="Tata Steel Limited"/>
          <xsd:enumeration value="Tauck World Discovery"/>
          <xsd:enumeration value="Taurus Consulting Group"/>
          <xsd:enumeration value="Taurus Group Consulting"/>
          <xsd:enumeration value="Taylor Corporation"/>
          <xsd:enumeration value="Taylor Nelson Sofres Plc"/>
          <xsd:enumeration value="TCF Financial Corporation"/>
          <xsd:enumeration value="TD Ameritrade Holding Corporation"/>
          <xsd:enumeration value="TD Bank Financial Group"/>
          <xsd:enumeration value="TE Connectivity Ltd."/>
          <xsd:enumeration value="Team Health Holdings Inc"/>
          <xsd:enumeration value="Tech Data"/>
          <xsd:enumeration value="Technicolor"/>
          <xsd:enumeration value="Technip Group"/>
          <xsd:enumeration value="Technischer Überwachungs-Verein Rheinland Berlin Brandenburg Pfalz e.V."/>
          <xsd:enumeration value="TECK RESOURCES LTD."/>
          <xsd:enumeration value="TECO Energy Inc"/>
          <xsd:enumeration value="Tektronix"/>
          <xsd:enumeration value="Telecare Corp"/>
          <xsd:enumeration value="Teledyne Technologies Inc"/>
          <xsd:enumeration value="Teleflex Inc"/>
          <xsd:enumeration value="Telefonica SA"/>
          <xsd:enumeration value="Telekom Austria Group"/>
          <xsd:enumeration value="Telekom Malaysia Berhad"/>
          <xsd:enumeration value="Telephone &amp; Data Systems"/>
          <xsd:enumeration value="TeleTech Holdings, Inc"/>
          <xsd:enumeration value="Tellabs, Inc"/>
          <xsd:enumeration value="Telstra Corporation Limited"/>
          <xsd:enumeration value="Telus"/>
          <xsd:enumeration value="TelVista, Inc"/>
          <xsd:enumeration value="Temple Inland"/>
          <xsd:enumeration value="Temple University Health System"/>
          <xsd:enumeration value="Tenaga Nasional Berhad"/>
          <xsd:enumeration value="Tenaris"/>
          <xsd:enumeration value="Tenet Healthcare"/>
          <xsd:enumeration value="Tengelmann Warenhandelsgesellschaft KG"/>
          <xsd:enumeration value="Tenneco"/>
          <xsd:enumeration value="Tennessee CC"/>
          <xsd:enumeration value="Terabeam Networks Inc."/>
          <xsd:enumeration value="Teradata Corporation"/>
          <xsd:enumeration value="Teradyne Inc"/>
          <xsd:enumeration value="Terex Corporation"/>
          <xsd:enumeration value="Terex Cranes"/>
          <xsd:enumeration value="Terumo Corporation"/>
          <xsd:enumeration value="Tervita Corporation"/>
          <xsd:enumeration value="Tesa Tape, Inc"/>
          <xsd:enumeration value="Tesoro Petroleum Corporation"/>
          <xsd:enumeration value="Tetra Laval Holdings B.V."/>
          <xsd:enumeration value="Tetra Tech Inc"/>
          <xsd:enumeration value="Teva Pharmaceuticals"/>
          <xsd:enumeration value="Texas Children's Hospital"/>
          <xsd:enumeration value="Texas Health Resources"/>
          <xsd:enumeration value="Texas Industries Inc"/>
          <xsd:enumeration value="Texas Instruments"/>
          <xsd:enumeration value="Texas Trust Credit Union"/>
          <xsd:enumeration value="Texas Utilities Co"/>
          <xsd:enumeration value="Textron"/>
          <xsd:enumeration value="Thales"/>
          <xsd:enumeration value="The Aditya Birla Group"/>
          <xsd:enumeration value="The Allied Group Inc"/>
          <xsd:enumeration value="The American Society for the Prevention of Cruelty to Animals"/>
          <xsd:enumeration value="The Bank of East Asia, Limited"/>
          <xsd:enumeration value="The Bank of New York Mellon Corporation"/>
          <xsd:enumeration value="The BIDVest Group Limited"/>
          <xsd:enumeration value="The Calgary Exhibition &amp; Stampede"/>
          <xsd:enumeration value="The Callos Group"/>
          <xsd:enumeration value="The Cerplex Group"/>
          <xsd:enumeration value="The Cobalt Group"/>
          <xsd:enumeration value="The Cooper Companies"/>
          <xsd:enumeration value="The Cooper Health System"/>
          <xsd:enumeration value="The Co-Operators Group Of Companies"/>
          <xsd:enumeration value="The Doe Run Company"/>
          <xsd:enumeration value="The Donaldson Group"/>
          <xsd:enumeration value="The Esab Group Inc"/>
          <xsd:enumeration value="The Forzani Group"/>
          <xsd:enumeration value="The Gates Corporation (USA)"/>
          <xsd:enumeration value="The Good Guys Inc"/>
          <xsd:enumeration value="The HAVI Group, LP"/>
          <xsd:enumeration value="The Hillman Group"/>
          <xsd:enumeration value="The Home Depot"/>
          <xsd:enumeration value="The Hongkong and Shanghai Hotels, Limited"/>
          <xsd:enumeration value="The Jones Financial Companies Lllp"/>
          <xsd:enumeration value="The Jones Group, Inc"/>
          <xsd:enumeration value="The Katz Group"/>
          <xsd:enumeration value="The Macerich Company"/>
          <xsd:enumeration value="The Manitowoc Company, Inc"/>
          <xsd:enumeration value="The Medical City"/>
          <xsd:enumeration value="The Minor Food Group"/>
          <xsd:enumeration value="The Morgan Crucible Company plc"/>
          <xsd:enumeration value="The Mount Sinai Medical Center"/>
          <xsd:enumeration value="The Mutual Of Omaha Companies"/>
          <xsd:enumeration value="The Neil Jones Food Company"/>
          <xsd:enumeration value="The Nielsen Company"/>
          <xsd:enumeration value="The Northwestern Mutual Life Ins Co"/>
          <xsd:enumeration value="The Pantry, Inc."/>
          <xsd:enumeration value="The Pep Boys - Manny, Moe &amp; Jack"/>
          <xsd:enumeration value="The Phoenix Companies Inc"/>
          <xsd:enumeration value="The PMI Group"/>
          <xsd:enumeration value="The Port Townsend Group"/>
          <xsd:enumeration value="The Power Group"/>
          <xsd:enumeration value="The PTT Group of Companies"/>
          <xsd:enumeration value="The Raymond Group Inc"/>
          <xsd:enumeration value="The Salvation Army"/>
          <xsd:enumeration value="The SI Organization, Inc."/>
          <xsd:enumeration value="The Siam Cement Group Of Companies"/>
          <xsd:enumeration value="The Sutton Place Hotels"/>
          <xsd:enumeration value="The Swatch Group Ltd"/>
          <xsd:enumeration value="The Tampa Banking Company"/>
          <xsd:enumeration value="The Toro Company"/>
          <xsd:enumeration value="The Walsh Group"/>
          <xsd:enumeration value="The Wawanesa Mutual Insurance Company"/>
          <xsd:enumeration value="The Westaim Corporation"/>
          <xsd:enumeration value="The Wet Seal, Inc."/>
          <xsd:enumeration value="Thermo Electron Corp."/>
          <xsd:enumeration value="Thermo Fisher Scientific Inc"/>
          <xsd:enumeration value="THINQ"/>
          <xsd:enumeration value="Thomas &amp; Betts Corporation"/>
          <xsd:enumeration value="Thomas &amp; Coffey Ltd"/>
          <xsd:enumeration value="Thomas Health System"/>
          <xsd:enumeration value="Thompson Rivers Univ Open Learning"/>
          <xsd:enumeration value="THOMSON Multimedia"/>
          <xsd:enumeration value="Thomson Reuters"/>
          <xsd:enumeration value="Thoratec"/>
          <xsd:enumeration value="Thrall Enterprises"/>
          <xsd:enumeration value="Three Rivers Hospital"/>
          <xsd:enumeration value="Thrifty Car Rental"/>
          <xsd:enumeration value="Thrivent Investment Management Inc"/>
          <xsd:enumeration value="Thyssen Krupp"/>
          <xsd:enumeration value="Thyssen-Krupp AG"/>
          <xsd:enumeration value="Thyssenkrupp Steel AG"/>
          <xsd:enumeration value="TI Automotive Ltd"/>
          <xsd:enumeration value="TIAA-CREF"/>
          <xsd:enumeration value="Tibbett &amp; Britten Group"/>
          <xsd:enumeration value="TIBCO"/>
          <xsd:enumeration value="Tiffany &amp; Co"/>
          <xsd:enumeration value="Timberwest Forest Corporation"/>
          <xsd:enumeration value="Time Warner Cable"/>
          <xsd:enumeration value="Time Warner Inc"/>
          <xsd:enumeration value="Times Mirror Cable"/>
          <xsd:enumeration value="Times Publishing Co"/>
          <xsd:enumeration value="Timken Co"/>
          <xsd:enumeration value="Tinnerman Palnut"/>
          <xsd:enumeration value="Titan Corporation"/>
          <xsd:enumeration value="TJX Companies Inc"/>
          <xsd:enumeration value="TLC Health Network"/>
          <xsd:enumeration value="TMK OAO"/>
          <xsd:enumeration value="T-NETIX"/>
          <xsd:enumeration value="TNS"/>
          <xsd:enumeration value="Tokio Marine Holdings Inc"/>
          <xsd:enumeration value="Tolko Industries Ltd"/>
          <xsd:enumeration value="Toll Holdings Limited"/>
          <xsd:enumeration value="Tomkins Industries"/>
          <xsd:enumeration value="TOPPAN PRINTING Co., Ltd."/>
          <xsd:enumeration value="TORAY INDUSTRIES, INC."/>
          <xsd:enumeration value="Torchmark Corporation"/>
          <xsd:enumeration value="Torrent Philippines"/>
          <xsd:enumeration value="Toshiba Corp"/>
          <xsd:enumeration value="Total Gruppe"/>
          <xsd:enumeration value="Total Logistic Control"/>
          <xsd:enumeration value="Touchstone Energy Cooperatives"/>
          <xsd:enumeration value="Tower Group International, Ltd."/>
          <xsd:enumeration value="Towers Automotive"/>
          <xsd:enumeration value="Towers Perrin"/>
          <xsd:enumeration value="Township of Upper St Clair"/>
          <xsd:enumeration value="TOYODA GOSEI CO., LTD."/>
          <xsd:enumeration value="TOYOTA BOSHOKU"/>
          <xsd:enumeration value="Toyota Motor Corp"/>
          <xsd:enumeration value="Toyoto Industries Corporation"/>
          <xsd:enumeration value="Toys R Us Inc"/>
          <xsd:enumeration value="Traco Inc"/>
          <xsd:enumeration value="Trans Healthcare Inc"/>
          <xsd:enumeration value="Transalta"/>
          <xsd:enumeration value="Transat A.T."/>
          <xsd:enumeration value="Transatlantic Reinsurance Company"/>
          <xsd:enumeration value="TransCanada PipeLines Ltd"/>
          <xsd:enumeration value="Transcontinental Inc."/>
          <xsd:enumeration value="Transdev Group"/>
          <xsd:enumeration value="Transend Networks"/>
          <xsd:enumeration value="Transnational Bankcard Inc."/>
          <xsd:enumeration value="Transnational Diversified Group Inc."/>
          <xsd:enumeration value="Transocean, Inc."/>
          <xsd:enumeration value="Transport Canada"/>
          <xsd:enumeration value="Travelcenters Of America"/>
          <xsd:enumeration value="Travelers Companies Inc (The)"/>
          <xsd:enumeration value="Travelport"/>
          <xsd:enumeration value="Tredegar Corp"/>
          <xsd:enumeration value="Trend Micro"/>
          <xsd:enumeration value="Treofan Group"/>
          <xsd:enumeration value="Trex Company Llc"/>
          <xsd:enumeration value="Triad Financial Corp"/>
          <xsd:enumeration value="Triad Systems Corp"/>
          <xsd:enumeration value="Triarc Companies Inc"/>
          <xsd:enumeration value="Tribune Company"/>
          <xsd:enumeration value="Tri-City Medical Center"/>
          <xsd:enumeration value="Trief Corporation SA"/>
          <xsd:enumeration value="Trihealth"/>
          <xsd:enumeration value="Trina Solar Limited (ADR)"/>
          <xsd:enumeration value="TriNet"/>
          <xsd:enumeration value="Trinity Health"/>
          <xsd:enumeration value="Trinity Health Systems"/>
          <xsd:enumeration value="Trinity Industries Inc"/>
          <xsd:enumeration value="Trinity Mother Frances Health System"/>
          <xsd:enumeration value="Trinity Regional Health System"/>
          <xsd:enumeration value="Trinity Services Group, Inc."/>
          <xsd:enumeration value="Tri-Star Healthcare Systems"/>
          <xsd:enumeration value="Triton PSC, Inc"/>
          <xsd:enumeration value="Triumph Group, Inc."/>
          <xsd:enumeration value="Triumph Health"/>
          <xsd:enumeration value="Triumph International Spiesshofer &amp; Braun Kommanditgesellschaft"/>
          <xsd:enumeration value="Trivirix"/>
          <xsd:enumeration value="Tronox Limited"/>
          <xsd:enumeration value="True Temper Sports"/>
          <xsd:enumeration value="Truenergy Services"/>
          <xsd:enumeration value="Truman Medical Centers"/>
          <xsd:enumeration value="Trump Entertainment Resorts, Inc."/>
          <xsd:enumeration value="TruServ Corp"/>
          <xsd:enumeration value="Trustmark"/>
          <xsd:enumeration value="TRW Automotive Holdings Corp"/>
          <xsd:enumeration value="TSYS"/>
          <xsd:enumeration value="TTM Technologies, Inc."/>
          <xsd:enumeration value="TUI AG"/>
          <xsd:enumeration value="Tupperware Brands Corporation"/>
          <xsd:enumeration value="Tuthill Corporation"/>
          <xsd:enumeration value="TÜV NORD AG"/>
          <xsd:enumeration value="TÜV Süd e.V."/>
          <xsd:enumeration value="TW Telecom"/>
          <xsd:enumeration value="Twentieth Century Fox Film Corp"/>
          <xsd:enumeration value="Tyco Electronics"/>
          <xsd:enumeration value="Tyco International Ltd"/>
          <xsd:enumeration value="Tyler Health System"/>
          <xsd:enumeration value="Tyson Foods Inc"/>
          <xsd:enumeration value="U.S. Anti-Doping Agency"/>
          <xsd:enumeration value="UABHS"/>
          <xsd:enumeration value="UAL Corp"/>
          <xsd:enumeration value="UBM plc"/>
          <xsd:enumeration value="UBS AG"/>
          <xsd:enumeration value="UBS Warburg"/>
          <xsd:enumeration value="UCB Chemical Corp"/>
          <xsd:enumeration value="UGI"/>
          <xsd:enumeration value="UGL Limited"/>
          <xsd:enumeration value="Ugly Duckling"/>
          <xsd:enumeration value="UHS Healthcare System"/>
          <xsd:enumeration value="UK HealthCare"/>
          <xsd:enumeration value="UK Sport"/>
          <xsd:enumeration value="Ukrop's Super Markets, Inc"/>
          <xsd:enumeration value="Uline"/>
          <xsd:enumeration value="Ulker"/>
          <xsd:enumeration value="Ulrich Geiger und Heinz Lattemann"/>
          <xsd:enumeration value="Ultramar Diamond Shamrock"/>
          <xsd:enumeration value="Umass Memorial Healthcare"/>
          <xsd:enumeration value="UMB"/>
          <xsd:enumeration value="Underwood Memorial Health System"/>
          <xsd:enumeration value="Underwriters Laboratories Inc"/>
          <xsd:enumeration value="Unedic"/>
          <xsd:enumeration value="Unedic Assedic Group"/>
          <xsd:enumeration value="Unger Group"/>
          <xsd:enumeration value="Unibail Group"/>
          <xsd:enumeration value="Unicco Service Company"/>
          <xsd:enumeration value="Unicom Corporation"/>
          <xsd:enumeration value="UniCredit S.p.A."/>
          <xsd:enumeration value="Unifi Mutual Holding Company"/>
          <xsd:enumeration value="Unified Foods Service"/>
          <xsd:enumeration value="Unified Western Grocers"/>
          <xsd:enumeration value="Unifrax Corporation"/>
          <xsd:enumeration value="Unilever N.V."/>
          <xsd:enumeration value="Unilever PLC"/>
          <xsd:enumeration value="Union Asphalt Inc"/>
          <xsd:enumeration value="Union Gas"/>
          <xsd:enumeration value="Union Pacific Railroad"/>
          <xsd:enumeration value="Union Tank Car Co"/>
          <xsd:enumeration value="UnionBanCal Corporation"/>
          <xsd:enumeration value="Unipro Foodservice"/>
          <xsd:enumeration value="UNIQA Versicherungen AG"/>
          <xsd:enumeration value="Unisys Corp"/>
          <xsd:enumeration value="United Brotherhood Carpenters &amp; Joiners"/>
          <xsd:enumeration value="United Continental Holdings Inc"/>
          <xsd:enumeration value="United Dominion Industries"/>
          <xsd:enumeration value="United Dominion Realty Trust"/>
          <xsd:enumeration value="United Federal Credit Union"/>
          <xsd:enumeration value="United Maritime Group"/>
          <xsd:enumeration value="United Nations"/>
          <xsd:enumeration value="United Natural Foods"/>
          <xsd:enumeration value="United Parcel Service"/>
          <xsd:enumeration value="United Rentals Inc"/>
          <xsd:enumeration value="United Sleep Products"/>
          <xsd:enumeration value="United Space Alliance"/>
          <xsd:enumeration value="United States Steel Corporation"/>
          <xsd:enumeration value="United Stationers Inc"/>
          <xsd:enumeration value="United Surgical Partners"/>
          <xsd:enumeration value="United Technologies Corp"/>
          <xsd:enumeration value="United Way Inc"/>
          <xsd:enumeration value="UnitedHealth Group"/>
          <xsd:enumeration value="Unitrin Property and Casualty Insurance"/>
          <xsd:enumeration value="Univ Of Medicine &amp; Dentistry Of NJ"/>
          <xsd:enumeration value="Univar Corporation"/>
          <xsd:enumeration value="Universal Foods"/>
          <xsd:enumeration value="Universal Health Services"/>
          <xsd:enumeration value="Universite D'Ottawa"/>
          <xsd:enumeration value="University"/>
          <xsd:enumeration value="University Community Health"/>
          <xsd:enumeration value="University Health Care System"/>
          <xsd:enumeration value="University Health Network"/>
          <xsd:enumeration value="University Hospitals"/>
          <xsd:enumeration value="University Of Arizona"/>
          <xsd:enumeration value="University of Arkansas"/>
          <xsd:enumeration value="UNIVERSITY OF CALIFORNIA"/>
          <xsd:enumeration value="University of California Health System"/>
          <xsd:enumeration value="University of Chicago HHS"/>
          <xsd:enumeration value="University Of Cincinnati"/>
          <xsd:enumeration value="University of Colorado"/>
          <xsd:enumeration value="University of Colorado Health"/>
          <xsd:enumeration value="University Of Florida"/>
          <xsd:enumeration value="University of Georgia"/>
          <xsd:enumeration value="University Of Illinois"/>
          <xsd:enumeration value="University Of Kansas Medical Center"/>
          <xsd:enumeration value="University of Louisville"/>
          <xsd:enumeration value="University of Maryland"/>
          <xsd:enumeration value="University of Maryland Health System"/>
          <xsd:enumeration value="University Of Memphis"/>
          <xsd:enumeration value="University Of Miami"/>
          <xsd:enumeration value="University Of Michigan"/>
          <xsd:enumeration value="University of Minnesota"/>
          <xsd:enumeration value="University Of Missouri"/>
          <xsd:enumeration value="University of Nebraska"/>
          <xsd:enumeration value="University Of Nevada"/>
          <xsd:enumeration value="University of New Mexico"/>
          <xsd:enumeration value="University Of North Carolina"/>
          <xsd:enumeration value="University Of North Carolina Health Sys"/>
          <xsd:enumeration value="University of Notre Dame"/>
          <xsd:enumeration value="University Of Pennsylvania"/>
          <xsd:enumeration value="University of Phoenix"/>
          <xsd:enumeration value="University of Pittsburgh"/>
          <xsd:enumeration value="University Of Puerto Rico"/>
          <xsd:enumeration value="University of Rochester"/>
          <xsd:enumeration value="University of South AL Hospitals"/>
          <xsd:enumeration value="University of Southern California"/>
          <xsd:enumeration value="University Of Tennessee"/>
          <xsd:enumeration value="University Of Texas"/>
          <xsd:enumeration value="University Of Texas Health Care System"/>
          <xsd:enumeration value="University of Texas Southwestern Medical Center"/>
          <xsd:enumeration value="University Of Virginia Health System"/>
          <xsd:enumeration value="University of West Florida"/>
          <xsd:enumeration value="University Of Wisconsin"/>
          <xsd:enumeration value="UNM Hospitals"/>
          <xsd:enumeration value="Unocal"/>
          <xsd:enumeration value="Unova"/>
          <xsd:enumeration value="Unternehmensgruppe Bentz KG"/>
          <xsd:enumeration value="Unum Group"/>
          <xsd:enumeration value="UOP"/>
          <xsd:enumeration value="Upenn Health System"/>
          <xsd:enumeration value="UPM Kymmene"/>
          <xsd:enumeration value="UPMC/University of Pitt Medical Center"/>
          <xsd:enumeration value="Upper Allegheny Health System"/>
          <xsd:enumeration value="Upper Chesapeake Health System"/>
          <xsd:enumeration value="Upper Valley ATC"/>
          <xsd:enumeration value="URS Corporation"/>
          <xsd:enumeration value="US Airways"/>
          <xsd:enumeration value="US Bancorp"/>
          <xsd:enumeration value="US Can Company"/>
          <xsd:enumeration value="US Concrete"/>
          <xsd:enumeration value="US Foods"/>
          <xsd:enumeration value="US Manufacturing Corporation"/>
          <xsd:enumeration value="US Public Health Service-Indian HS"/>
          <xsd:enumeration value="US Public Health Sys-Indian Health Srvs"/>
          <xsd:enumeration value="Us Sugar Corp"/>
          <xsd:enumeration value="USA Mobility"/>
          <xsd:enumeration value="USAA"/>
          <xsd:enumeration value="USG Corporation"/>
          <xsd:enumeration value="UST Global"/>
          <xsd:enumeration value="UST Inc"/>
          <xsd:enumeration value="UTi Worldwide Inc."/>
          <xsd:enumeration value="Utilicorp"/>
          <xsd:enumeration value="Utility Trailer Manufacturing"/>
          <xsd:enumeration value="UTStarcom"/>
          <xsd:enumeration value="UW Medicine"/>
          <xsd:enumeration value="Vail Resorts Inc"/>
          <xsd:enumeration value="Valassis Communications Inc"/>
          <xsd:enumeration value="Valeant"/>
          <xsd:enumeration value="Valeant Pharmaceuticals International, Inc."/>
          <xsd:enumeration value="Valencia College"/>
          <xsd:enumeration value="Valeo"/>
          <xsd:enumeration value="Valero Energy"/>
          <xsd:enumeration value="Valley Health System"/>
          <xsd:enumeration value="Valley Healthcare"/>
          <xsd:enumeration value="Vallourec Group"/>
          <xsd:enumeration value="Valmont Industries Inc"/>
          <xsd:enumeration value="Valspar Corp"/>
          <xsd:enumeration value="Valueoptions"/>
          <xsd:enumeration value="Vancouver Canucks"/>
          <xsd:enumeration value="Vancouver Coastal Health Authority"/>
          <xsd:enumeration value="Vancouver Health Region"/>
          <xsd:enumeration value="Vancouver Island Health Authority"/>
          <xsd:enumeration value="Vanderbilt University Medical Center"/>
          <xsd:enumeration value="Vanguard Group"/>
          <xsd:enumeration value="Vanguard Health System"/>
          <xsd:enumeration value="Varian"/>
          <xsd:enumeration value="Vattenfall Group"/>
          <xsd:enumeration value="Vaughn Communications Inc"/>
          <xsd:enumeration value="VCCS"/>
          <xsd:enumeration value="Vector Security, Inc."/>
          <xsd:enumeration value="Vectren Corporation"/>
          <xsd:enumeration value="Veka Group"/>
          <xsd:enumeration value="Ventura CCD"/>
          <xsd:enumeration value="Ventura Foods"/>
          <xsd:enumeration value="Veolia Environnement"/>
          <xsd:enumeration value="Veolia Transportation, Inc."/>
          <xsd:enumeration value="Veolia Water America, LLC"/>
          <xsd:enumeration value="Verizon Communications"/>
          <xsd:enumeration value="Verlagsgruppe Georg von Holtzbrinck GmbH"/>
          <xsd:enumeration value="Vermont State Colleges"/>
          <xsd:enumeration value="Versent Corporation"/>
          <xsd:enumeration value="Vestas"/>
          <xsd:enumeration value="Veyance"/>
          <xsd:enumeration value="VF Corp"/>
          <xsd:enumeration value="VHA Inc"/>
          <xsd:enumeration value="Via Christi Health System"/>
          <xsd:enumeration value="Via Health"/>
          <xsd:enumeration value="Via Rail Canada Inc"/>
          <xsd:enumeration value="Viacom"/>
          <xsd:enumeration value="Vidant Health"/>
          <xsd:enumeration value="Vienna Insurance Group"/>
          <xsd:enumeration value="Viessmann Werke GmbH &amp; Co KG"/>
          <xsd:enumeration value="Viewpoint Bank"/>
          <xsd:enumeration value="Ville De Montreal"/>
          <xsd:enumeration value="Vilmorin &amp; Cie"/>
          <xsd:enumeration value="Vimetco N.V."/>
          <xsd:enumeration value="Vinci Group"/>
          <xsd:enumeration value="VION NV"/>
          <xsd:enumeration value="Virgin Media Inc"/>
          <xsd:enumeration value="Virginia Commonwealth Univ Health Sys"/>
          <xsd:enumeration value="Virginia Mason Medical Center"/>
          <xsd:enumeration value="Virtua Health"/>
          <xsd:enumeration value="Visa Inc"/>
          <xsd:enumeration value="Vishay Intertechnology Inc"/>
          <xsd:enumeration value="Visiting Nurse Service of NY (VNSNY)"/>
          <xsd:enumeration value="Visiting Nurses Assoc"/>
          <xsd:enumeration value="Vista Chemical Co"/>
          <xsd:enumeration value="Vista Hospital Systems Inc"/>
          <xsd:enumeration value="Visteon Corporation"/>
          <xsd:enumeration value="Vivendi Universal Entertainment"/>
          <xsd:enumeration value="VLSI Technology Inc"/>
          <xsd:enumeration value="VMWare Inc"/>
          <xsd:enumeration value="Vodafone Group Plc."/>
          <xsd:enumeration value="voestalpine AG"/>
          <xsd:enumeration value="Voith"/>
          <xsd:enumeration value="Volkswagen AG"/>
          <xsd:enumeration value="Volt Information Sciences, Inc."/>
          <xsd:enumeration value="Volvo Group"/>
          <xsd:enumeration value="Vonage"/>
          <xsd:enumeration value="Vorwerk Group"/>
          <xsd:enumeration value="VP Buildings Inc"/>
          <xsd:enumeration value="Vulcan Materials Co"/>
          <xsd:enumeration value="VWR International"/>
          <xsd:enumeration value="W W Grainger"/>
          <xsd:enumeration value="W. L. Gore &amp; Associates"/>
          <xsd:enumeration value="W.R.Grace &amp; Co."/>
          <xsd:enumeration value="Wabco"/>
          <xsd:enumeration value="WABCO Holdings Inc"/>
          <xsd:enumeration value="Wachovia Corporation"/>
          <xsd:enumeration value="Wacker group"/>
          <xsd:enumeration value="Wacom Co., Ltd."/>
          <xsd:enumeration value="Wageworks"/>
          <xsd:enumeration value="Wake Forest Baptist Med Ctr"/>
          <xsd:enumeration value="Wakemed"/>
          <xsd:enumeration value="Walgreen"/>
          <xsd:enumeration value="Walkers Smiths"/>
          <xsd:enumeration value="Wallace Community College"/>
          <xsd:enumeration value="Wallem Group Limited"/>
          <xsd:enumeration value="Wal-Mart Stores Inc"/>
          <xsd:enumeration value="Walt Disney"/>
          <xsd:enumeration value="Wargaming Public Company LTD"/>
          <xsd:enumeration value="Warnaco"/>
          <xsd:enumeration value="Warner Brothers Inc"/>
          <xsd:enumeration value="Warner Chilcott"/>
          <xsd:enumeration value="Warner Music Group Corporation"/>
          <xsd:enumeration value="Warranty Corp of America"/>
          <xsd:enumeration value="Warren Equipment"/>
          <xsd:enumeration value="Washington CC"/>
          <xsd:enumeration value="Washington County Health System"/>
          <xsd:enumeration value="Washington Gas"/>
          <xsd:enumeration value="Washington Group International"/>
          <xsd:enumeration value="Washington Mutual Inc"/>
          <xsd:enumeration value="Washington Post Co."/>
          <xsd:enumeration value="Washington Savannah River Company"/>
          <xsd:enumeration value="Washington University In St Louis"/>
          <xsd:enumeration value="Washoe Health Systems"/>
          <xsd:enumeration value="Waste Connections Incorporated"/>
          <xsd:enumeration value="Waste Management Inc"/>
          <xsd:enumeration value="Waterford Hotel Group"/>
          <xsd:enumeration value="Waters Corporation"/>
          <xsd:enumeration value="Watkins Motor Lines"/>
          <xsd:enumeration value="Watlow"/>
          <xsd:enumeration value="Watson Pharmaceuticals Inc."/>
          <xsd:enumeration value="Watson Wyatt"/>
          <xsd:enumeration value="Watsons Personal Care Store"/>
          <xsd:enumeration value="Watts Water Tech Inc"/>
          <xsd:enumeration value="Wawa Inc"/>
          <xsd:enumeration value="Wayne County"/>
          <xsd:enumeration value="Wayne Memorial Health System"/>
          <xsd:enumeration value="WCI Communities"/>
          <xsd:enumeration value="WE Energies"/>
          <xsd:enumeration value="Weatherford International"/>
          <xsd:enumeration value="Weber Aircraft"/>
          <xsd:enumeration value="WebMD Corporation"/>
          <xsd:enumeration value="Webster Bank"/>
          <xsd:enumeration value="Wegmans Food Markets, Inc."/>
          <xsd:enumeration value="Weight Watchers International"/>
          <xsd:enumeration value="Welch Allyn Inc"/>
          <xsd:enumeration value="Welcome Break"/>
          <xsd:enumeration value="Wella AG"/>
          <xsd:enumeration value="Wellcare Health Plans"/>
          <xsd:enumeration value="Wellmont Health System"/>
          <xsd:enumeration value="Wellpoint Health Networks Inc"/>
          <xsd:enumeration value="Wells Dairy Inc"/>
          <xsd:enumeration value="Wells Fargo"/>
          <xsd:enumeration value="Wellspan Health"/>
          <xsd:enumeration value="Wellstar Health System"/>
          <xsd:enumeration value="Welocalize, Inc."/>
          <xsd:enumeration value="Wenatchee Valley Medical Center"/>
          <xsd:enumeration value="Wendy's Intl"/>
          <xsd:enumeration value="Werner Baier und Gerhard Mey"/>
          <xsd:enumeration value="Wesco International Inc"/>
          <xsd:enumeration value="Wescom Credit Union"/>
          <xsd:enumeration value="West Australian Newspapers Holdings"/>
          <xsd:enumeration value="West Corporation"/>
          <xsd:enumeration value="West Penn Allegheny Health System"/>
          <xsd:enumeration value="West Pharmaceutical Services"/>
          <xsd:enumeration value="West Tennessee Healthcare"/>
          <xsd:enumeration value="West Virginia University"/>
          <xsd:enumeration value="Westar Energy, Inc."/>
          <xsd:enumeration value="Western Digital"/>
          <xsd:enumeration value="Western Family Foods, Inc."/>
          <xsd:enumeration value="Western Life Insurance"/>
          <xsd:enumeration value="Western Maryland Health System"/>
          <xsd:enumeration value="Western Union"/>
          <xsd:enumeration value="Westin Hotel"/>
          <xsd:enumeration value="Westinghouse Electric"/>
          <xsd:enumeration value="WestJet Airlines"/>
          <xsd:enumeration value="Westlake Management Services, Inc."/>
          <xsd:enumeration value="Westmoreland Health System"/>
          <xsd:enumeration value="Westpac Banking Corp"/>
          <xsd:enumeration value="Westpoint Stevens"/>
          <xsd:enumeration value="Weyerhaeuser"/>
          <xsd:enumeration value="Wharf (Nominees) Limited"/>
          <xsd:enumeration value="Whataburger"/>
          <xsd:enumeration value="Wheaton Franciscan Services"/>
          <xsd:enumeration value="Wheels Inc"/>
          <xsd:enumeration value="Whirlpool Corporation"/>
          <xsd:enumeration value="White Directories"/>
          <xsd:enumeration value="Whole Foods Market Inc"/>
          <xsd:enumeration value="WideOpenWest Finance, LLC"/>
          <xsd:enumeration value="Wienerberger AG"/>
          <xsd:enumeration value="Willbros Group Inc"/>
          <xsd:enumeration value="William M. Mercer"/>
          <xsd:enumeration value="William Wrigley Jr. Company"/>
          <xsd:enumeration value="Williams Advanced Materials"/>
          <xsd:enumeration value="Williams Companies Inc"/>
          <xsd:enumeration value="Williams-Sonoma Inc"/>
          <xsd:enumeration value="Willis Group Holdings PLC"/>
          <xsd:enumeration value="Willis-Knighton Health System"/>
          <xsd:enumeration value="Wilson Learning"/>
          <xsd:enumeration value="Wilsonart Inc"/>
          <xsd:enumeration value="Wincor Nixdorf AG"/>
          <xsd:enumeration value="Windstream Corporation"/>
          <xsd:enumeration value="Winn-Dixie Stores Inc"/>
          <xsd:enumeration value="Winners"/>
          <xsd:enumeration value="Winpak Portion Packaging Co"/>
          <xsd:enumeration value="Winter - Start-ups"/>
          <xsd:enumeration value="Winthrop - University Hospital"/>
          <xsd:enumeration value="Winthrop South Nassau University HS"/>
          <xsd:enumeration value="WIPFLI Ullrich Bertelson LLP"/>
          <xsd:enumeration value="Wipro Limited"/>
          <xsd:enumeration value="Wire Rope Corp Of America"/>
          <xsd:enumeration value="WISAG Service Holding"/>
          <xsd:enumeration value="Wisconsin CC"/>
          <xsd:enumeration value="Wisconsin Winnebagos"/>
          <xsd:enumeration value="Wise Business Forms Inc"/>
          <xsd:enumeration value="Witco Corporation"/>
          <xsd:enumeration value="Wittington Investments Ltd"/>
          <xsd:enumeration value="WMS Gaming"/>
          <xsd:enumeration value="WMX Technologies"/>
          <xsd:enumeration value="Wolseley plc"/>
          <xsd:enumeration value="Wolters Kluwer"/>
          <xsd:enumeration value="Wolters Kluwer NV"/>
          <xsd:enumeration value="Wood Co (The)"/>
          <xsd:enumeration value="Woodbridge Corp"/>
          <xsd:enumeration value="Woodward"/>
          <xsd:enumeration value="Woolworths Limited"/>
          <xsd:enumeration value="Workflow One"/>
          <xsd:enumeration value="WorkScape"/>
          <xsd:enumeration value="World Color Press"/>
          <xsd:enumeration value="World Economic Forum"/>
          <xsd:enumeration value="World Health Organization"/>
          <xsd:enumeration value="World Vision"/>
          <xsd:enumeration value="World Wildlife Fund"/>
          <xsd:enumeration value="Worth Collection"/>
          <xsd:enumeration value="Worthington Industries"/>
          <xsd:enumeration value="Wounded Warrior Project, Inc."/>
          <xsd:enumeration value="WPP Group"/>
          <xsd:enumeration value="Wright National Flood Insurance Services, LLC"/>
          <xsd:enumeration value="WS Atkins PLC"/>
          <xsd:enumeration value="Würth Verwaltungsges. mbH"/>
          <xsd:enumeration value="Würth-Group"/>
          <xsd:enumeration value="Wüstenrot Stiftung Gemeinschaft der Freunde Deutscher Eigenheimvereine e.V."/>
          <xsd:enumeration value="WV United Health System"/>
          <xsd:enumeration value="Wyeth"/>
          <xsd:enumeration value="Wyndham Worldwide"/>
          <xsd:enumeration value="Wynn Resorts"/>
          <xsd:enumeration value="Wyoming Econ.Dev."/>
          <xsd:enumeration value="Wyoming Valley Health Care System"/>
          <xsd:enumeration value="Xcel Energy Inc"/>
          <xsd:enumeration value="Xenopharma"/>
          <xsd:enumeration value="Xerox Corporation"/>
          <xsd:enumeration value="XL Group plc"/>
          <xsd:enumeration value="XSTRATA"/>
          <xsd:enumeration value="Xylem Inc"/>
          <xsd:enumeration value="Yahoo! Inc"/>
          <xsd:enumeration value="YAI/NIPD"/>
          <xsd:enumeration value="Yale New Haven Health System"/>
          <xsd:enumeration value="Yamaha Corporation"/>
          <xsd:enumeration value="Yamana Gold Inc."/>
          <xsd:enumeration value="Yangshengtang Co., Ltd."/>
          <xsd:enumeration value="Yazaki Corporation"/>
          <xsd:enumeration value="Yell Group Plc"/>
          <xsd:enumeration value="Yellow Corporation"/>
          <xsd:enumeration value="Yellow Pages Group"/>
          <xsd:enumeration value="YMCA of Canada"/>
          <xsd:enumeration value="Yodle, Inc."/>
          <xsd:enumeration value="Yokogawa Electric Corporation"/>
          <xsd:enumeration value="Yokohama Rubber Co."/>
          <xsd:enumeration value="York County Community College"/>
          <xsd:enumeration value="York International Corp"/>
          <xsd:enumeration value="York Regional Hospitals"/>
          <xsd:enumeration value="Yosemite CCD"/>
          <xsd:enumeration value="Young's Market Company"/>
          <xsd:enumeration value="YRC Worldwide"/>
          <xsd:enumeration value="Yucaipa Companies"/>
          <xsd:enumeration value="Yuchengo Group of Companies"/>
          <xsd:enumeration value="Yum! Brands Incorporated"/>
          <xsd:enumeration value="Yves Rocher Group"/>
          <xsd:enumeration value="ZAD Consulting Inc"/>
          <xsd:enumeration value="Zale"/>
          <xsd:enumeration value="ZC Sterling Corporation"/>
          <xsd:enumeration value="ZC Sterling Insurance Inc"/>
          <xsd:enumeration value="Zebra Technologies"/>
          <xsd:enumeration value="Zenith Insurance"/>
          <xsd:enumeration value="Zeon Chemicals"/>
          <xsd:enumeration value="Zeus Industrial Products Inc"/>
          <xsd:enumeration value="ZF"/>
          <xsd:enumeration value="Zhejiang Alibaba E-Commerce Co., Ltd."/>
          <xsd:enumeration value="Zimmer Holdings, Inc"/>
          <xsd:enumeration value="Zions Bancorporation"/>
          <xsd:enumeration value="Zodiac Aerospace SA"/>
          <xsd:enumeration value="ZTE Corporation"/>
          <xsd:enumeration value="Zuellig Pharma Holdings Ltd."/>
          <xsd:enumeration value="Zurich Financial Services"/>
          <xsd:enumeration value="zzz- delete DaimlerChrysler"/>
        </xsd:restriction>
      </xsd:simpleType>
    </xsd:element>
    <xsd:element name="Industry" ma:index="11" nillable="true" ma:displayName="Industry" ma:format="Dropdown" ma:internalName="Industry">
      <xsd:simpleType>
        <xsd:restriction base="dms:Choice">
          <xsd:enumeration value=""/>
          <xsd:enumeration value="Accommodation"/>
          <xsd:enumeration value="Accommodation and Food Services"/>
          <xsd:enumeration value="Accomodation and Food Services"/>
          <xsd:enumeration value="Administrative/Support Services"/>
          <xsd:enumeration value="Agriculture/Forestry/Fishing"/>
          <xsd:enumeration value="Arts, Entertainment, and Recreation"/>
          <xsd:enumeration value="Construction"/>
          <xsd:enumeration value="Educational Services"/>
          <xsd:enumeration value="Educational Services - Colleges/Universities/Prof."/>
          <xsd:enumeration value="Educational Services - Elementary/Secondary"/>
          <xsd:enumeration value="Educational Services - Other Schools/Instruction"/>
          <xsd:enumeration value="Finance - Banks &amp; Credit Unions"/>
          <xsd:enumeration value="Finance - Monetary Authorities"/>
          <xsd:enumeration value="Finance - Securities/Commodity Contracts/Other"/>
          <xsd:enumeration value="Finance and Insurance - Insurance Carriers"/>
          <xsd:enumeration value="Finance/Insurance"/>
          <xsd:enumeration value="Food Services and Drinking Places"/>
          <xsd:enumeration value="Health Care - Ambulatory Services"/>
          <xsd:enumeration value="Health Care - Children's Hospitals"/>
          <xsd:enumeration value="Health Care - Health Care and Social Assistance"/>
          <xsd:enumeration value="Health Care - Hospitals"/>
          <xsd:enumeration value="Health Care - Nursing and Residental Care Fac."/>
          <xsd:enumeration value="Health Care - Social Assistance"/>
          <xsd:enumeration value="Information"/>
          <xsd:enumeration value="Information - Broadcasting"/>
          <xsd:enumeration value="Information - Internet Publishing and Broadcasting"/>
          <xsd:enumeration value="Information - ISP/Portals/Data Processing"/>
          <xsd:enumeration value="Information - Motion Picture and Sound Recording"/>
          <xsd:enumeration value="Information - Other Information Services"/>
          <xsd:enumeration value="Information - Publishing"/>
          <xsd:enumeration value="Information - Telecommunications"/>
          <xsd:enumeration value="Insurance - Carriers and Related Activities"/>
          <xsd:enumeration value="Management of Companies and Enterprises"/>
          <xsd:enumeration value="Manufacturing - Apparel"/>
          <xsd:enumeration value="Manufacturing - Beverage"/>
          <xsd:enumeration value="Manufacturing - Chemical"/>
          <xsd:enumeration value="Manufacturing - Computers &amp; Electronic Products"/>
          <xsd:enumeration value="Manufacturing - Elec. Equipment/Appliance/Comp."/>
          <xsd:enumeration value="Manufacturing - Fabricated Metal"/>
          <xsd:enumeration value="Manufacturing - Food"/>
          <xsd:enumeration value="Manufacturing - Furniture &amp; Related Products"/>
          <xsd:enumeration value="Manufacturing - Leather &amp; Allied Products"/>
          <xsd:enumeration value="Manufacturing - Machinery"/>
          <xsd:enumeration value="Manufacturing - Miscellaneous"/>
          <xsd:enumeration value="Manufacturing - Nonmetallic Mineral Products"/>
          <xsd:enumeration value="Manufacturing - Paper"/>
          <xsd:enumeration value="Manufacturing - Petroleum/Coal Products"/>
          <xsd:enumeration value="Manufacturing - Pharmaceutical &amp; Medicine"/>
          <xsd:enumeration value="Manufacturing - Photographic/Photocopying Eqmt."/>
          <xsd:enumeration value="Manufacturing - Primary Metal"/>
          <xsd:enumeration value="Manufacturing - Printing &amp; Related Products"/>
          <xsd:enumeration value="Manufacturing - Rubber &amp; Plastic Products"/>
          <xsd:enumeration value="Manufacturing - Textiles"/>
          <xsd:enumeration value="Manufacturing - Tobacco"/>
          <xsd:enumeration value="Manufacturing - Transportatation Equipment"/>
          <xsd:enumeration value="Manufacturing - Transportation Equipment"/>
          <xsd:enumeration value="Manufacturing - Wood Products"/>
          <xsd:enumeration value="Mining - Except Oil and Gas"/>
          <xsd:enumeration value="Mining - Oil &amp; Gas Extraction"/>
          <xsd:enumeration value="Other Services"/>
          <xsd:enumeration value="Postal Service"/>
          <xsd:enumeration value="Professional/Scientific/Technical Services"/>
          <xsd:enumeration value="Public Administration - Government (Fed/State)"/>
          <xsd:enumeration value="Public Administration-Government"/>
          <xsd:enumeration value="Real Estate and Rentals/Leasing"/>
          <xsd:enumeration value="Real Estate/Rentals"/>
          <xsd:enumeration value="Retail Trade - Building Materials/Garden"/>
          <xsd:enumeration value="Retail Trade - Clothing/Accessories"/>
          <xsd:enumeration value="Retail Trade - Electronics/Appliances"/>
          <xsd:enumeration value="Retail Trade - Food/Beverage"/>
          <xsd:enumeration value="Retail Trade - Furniture/Home Furnishings"/>
          <xsd:enumeration value="Retail Trade - Gasoline Stations"/>
          <xsd:enumeration value="Retail Trade - General Merchandise"/>
          <xsd:enumeration value="Retail Trade - Motor Vehicle &amp; Part Dealers"/>
          <xsd:enumeration value="Support Activities for Transportation"/>
          <xsd:enumeration value="Technology"/>
          <xsd:enumeration value="Transportation - Air"/>
          <xsd:enumeration value="Transportation - Pipeline"/>
          <xsd:enumeration value="Transportation - Rail"/>
          <xsd:enumeration value="Transportation - Support Activities"/>
          <xsd:enumeration value="Transportation - Transit &amp; Ground Passenger"/>
          <xsd:enumeration value="Transportation - Truck"/>
          <xsd:enumeration value="Transportation - Water"/>
          <xsd:enumeration value="Utilities"/>
          <xsd:enumeration value="Wholesale Trade - Durable Goods"/>
          <xsd:enumeration value="Wholesale Trade - Nondurable Goods"/>
        </xsd:restriction>
      </xsd:simpleType>
    </xsd:element>
    <xsd:element name="Internal_x0020_Use_x0020_Only" ma:index="12" nillable="true" ma:displayName="Internal Use Only" ma:default="Yes" ma:description="Is this document intended for DDI internal use only?" ma:format="Dropdown" ma:internalName="Internal_x0020_Use_x0020_Only" ma:readOnly="false">
      <xsd:simpleType>
        <xsd:restriction base="dms:Choice">
          <xsd:enumeration value="Yes"/>
          <xsd:enumeration value="No"/>
        </xsd:restriction>
      </xsd:simpleType>
    </xsd:element>
    <xsd:element name="Language" ma:index="13" nillable="true" ma:displayName="Language" ma:default="English (U.S.)" ma:format="Dropdown" ma:internalName="Language" ma:readOnly="false">
      <xsd:simpleType>
        <xsd:restriction base="dms:Choice">
          <xsd:enumeration value=""/>
          <xsd:enumeration value="English (U.S.)"/>
          <xsd:enumeration value="English (Anglicized)"/>
          <xsd:enumeration value="Arabic"/>
          <xsd:enumeration value="Bahasa Indonesia"/>
          <xsd:enumeration value="Cantonese (Traditional)"/>
          <xsd:enumeration value="Chinese (Simplified)"/>
          <xsd:enumeration value="Czech"/>
          <xsd:enumeration value="Dutch"/>
          <xsd:enumeration value="French (Canadian)"/>
          <xsd:enumeration value="French (France)"/>
          <xsd:enumeration value="German"/>
          <xsd:enumeration value="Greek"/>
          <xsd:enumeration value="Hebrew"/>
          <xsd:enumeration value="Hungarian"/>
          <xsd:enumeration value="Japanese"/>
          <xsd:enumeration value="Italian"/>
          <xsd:enumeration value="Korean"/>
          <xsd:enumeration value="Polish"/>
          <xsd:enumeration value="Portuguese"/>
          <xsd:enumeration value="Romanian"/>
          <xsd:enumeration value="Russian"/>
          <xsd:enumeration value="Spanish"/>
          <xsd:enumeration value="Swedish"/>
          <xsd:enumeration value="Thai"/>
          <xsd:enumeration value="Turkish"/>
        </xsd:restriction>
      </xsd:simpleType>
    </xsd:element>
    <xsd:element name="Owner" ma:index="15" nillable="true" ma:displayName="Owner" ma:description="Select the point of contact for this document." ma:list="UserInfo" ma:internalName="Owner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art_x0020_Number" ma:index="16" nillable="true" ma:displayName="Part Number" ma:description="Enter the unique identifier." ma:internalName="Part_x0020_Number">
      <xsd:simpleType>
        <xsd:restriction base="dms:Text">
          <xsd:maxLength value="50"/>
        </xsd:restriction>
      </xsd:simpleType>
    </xsd:element>
    <xsd:element name="Product_x002f_Service" ma:index="17" nillable="true" ma:displayName="Product/Service" ma:format="Dropdown" ma:internalName="Product_x002f_Service">
      <xsd:simpleType>
        <xsd:restriction base="dms:Choice">
          <xsd:enumeration value=""/>
          <xsd:enumeration value="41"/>
          <xsd:enumeration value="BREAKTHROUGH (22)"/>
          <xsd:enumeration value="BUSINESS IMPACT LEADERSHIP (13,20,21,23)"/>
          <xsd:enumeration value="COMPREHENSIVE SELECTION/ASSMNT (40,44,50,51,53,57)"/>
          <xsd:enumeration value="EXEC. ASSESS/CONSULT. (52,57)"/>
          <xsd:enumeration value="ICS (45,46)"/>
          <xsd:enumeration value="IM EX (17)"/>
          <xsd:enumeration value="IM:Exl (19)"/>
          <xsd:enumeration value="LEADERSHIP MIRROR (48)"/>
          <xsd:enumeration value="MANAGER READY"/>
          <xsd:enumeration value="MISC (1,2,3,4,6,98)"/>
          <xsd:enumeration value="MISC PROD (SA,49)"/>
          <xsd:enumeration value="OPAL (47)"/>
          <xsd:enumeration value="PERFORMANCE MGMT/EXECUTION (08,18)"/>
          <xsd:enumeration value="SERVICE PLUS (16)"/>
          <xsd:enumeration value="STRATEGIES/OTHER IM (12,14,15)"/>
          <xsd:enumeration value="Success Profile(55)"/>
          <xsd:enumeration value="TARGETED SELECTION (42)"/>
          <xsd:enumeration value="TDT ADMIN (TD)"/>
          <xsd:enumeration value="Techniques/WDS/IM ExP &lt;09&gt; &lt;10 &gt; &lt;11&gt;"/>
          <xsd:enumeration value="TESTS (54)"/>
        </xsd:restriction>
      </xsd:simpleType>
    </xsd:element>
    <xsd:element name="Project_x0020_Code" ma:index="18" nillable="true" ma:displayName="Project Code" ma:internalName="Project_x0020_Code">
      <xsd:simpleType>
        <xsd:restriction base="dms:Text">
          <xsd:maxLength value="6"/>
        </xsd:restriction>
      </xsd:simpleType>
    </xsd:element>
    <xsd:element name="Project_x0020_Stage" ma:index="19" nillable="true" ma:displayName="Project Stage" ma:format="Dropdown" ma:internalName="Project_x0020_Stage">
      <xsd:simpleType>
        <xsd:restriction base="dms:Choice">
          <xsd:enumeration value=""/>
          <xsd:enumeration value="1) Establish Relationship and Potential"/>
          <xsd:enumeration value="2) Acquire the Business"/>
          <xsd:enumeration value="3) Plan"/>
          <xsd:enumeration value="4) Analyze/Design"/>
          <xsd:enumeration value="5) Develop"/>
          <xsd:enumeration value="6) Implement"/>
          <xsd:enumeration value="7) Realize Results"/>
          <xsd:enumeration value="8) Maintain"/>
        </xsd:restriction>
      </xsd:simpleType>
    </xsd:element>
    <xsd:element name="Solutions_x0020_Group" ma:index="20" nillable="true" ma:displayName="Solutions Group" ma:format="Dropdown" ma:internalName="Solutions_x0020_Group">
      <xsd:simpleType>
        <xsd:restriction base="dms:Choice">
          <xsd:enumeration value=""/>
          <xsd:enumeration value="41"/>
          <xsd:enumeration value="EXECUTIVE LEADERSHIP"/>
          <xsd:enumeration value="LEADERSHIP"/>
          <xsd:enumeration value="SELECTION"/>
        </xsd:restriction>
      </xsd:simpleType>
    </xsd:element>
    <xsd:element name="Topic" ma:index="21" nillable="true" ma:displayName="Topic" ma:format="Dropdown" ma:internalName="Topic">
      <xsd:simpleType>
        <xsd:restriction base="dms:Choice">
          <xsd:enumeration value=""/>
          <xsd:enumeration value="360/Multirater Assessment"/>
          <xsd:enumeration value="Accountability &amp; Execution"/>
          <xsd:enumeration value="Coaching"/>
          <xsd:enumeration value="Competencies &amp; Success Profiles"/>
          <xsd:enumeration value="Customer Service"/>
          <xsd:enumeration value="Diversity"/>
          <xsd:enumeration value="Employee Engagement &amp; Retention"/>
          <xsd:enumeration value="Executive Assessment"/>
          <xsd:enumeration value="Executive Development"/>
          <xsd:enumeration value="Health Care"/>
          <xsd:enumeration value="Hiring &amp; Assessment/Testing"/>
          <xsd:enumeration value="HR Trends"/>
          <xsd:enumeration value="Labor Market"/>
          <xsd:enumeration value="Leadership Development"/>
          <xsd:enumeration value="Onboarding"/>
          <xsd:enumeration value="Online Learning &amp; Development"/>
          <xsd:enumeration value="Organizational Change"/>
          <xsd:enumeration value="Organizational Effectiveness"/>
          <xsd:enumeration value="Outsourcing"/>
          <xsd:enumeration value="Performance Management"/>
          <xsd:enumeration value="Quality Initiatives"/>
          <xsd:enumeration value="Re-engineering"/>
          <xsd:enumeration value="Sales Optimization/Productivity"/>
          <xsd:enumeration value="Start-ups &amp; Expansions"/>
          <xsd:enumeration value="Succession Management"/>
          <xsd:enumeration value="Teams"/>
          <xsd:enumeration value="Workforce Development"/>
        </xsd:restriction>
      </xsd:simpleType>
    </xsd:element>
    <xsd:element name="Platform" ma:index="24" nillable="true" ma:displayName="Platform" ma:description="If item is specific to a delivery platform, select the correct item." ma:format="Dropdown" ma:internalName="Platform">
      <xsd:simpleType>
        <xsd:restriction base="dms:Choice">
          <xsd:enumeration value="CD-ROM"/>
          <xsd:enumeration value="Consulting"/>
          <xsd:enumeration value="Classroom"/>
          <xsd:enumeration value="Paper &amp; Pencil"/>
          <xsd:enumeration value="Web-based"/>
        </xsd:restriction>
      </xsd:simpleType>
    </xsd:element>
    <xsd:element name="Job_x0020_Level" ma:index="25" nillable="true" ma:displayName="Job Level" ma:description="If item is specific to a job level, select the correct item." ma:format="Dropdown" ma:internalName="Job_x0020_Level">
      <xsd:simpleType>
        <xsd:restriction base="dms:Choice">
          <xsd:enumeration value="Individual Contributor"/>
          <xsd:enumeration value="Team Member"/>
          <xsd:enumeration value="Leader"/>
          <xsd:enumeration value="Executive"/>
        </xsd:restriction>
      </xsd:simpleType>
    </xsd:element>
    <xsd:element name="Job_x0020_Function" ma:index="26" nillable="true" ma:displayName="Job Function" ma:format="Dropdown" ma:internalName="Job_x0020_Function">
      <xsd:simpleType>
        <xsd:restriction base="dms:Choice">
          <xsd:enumeration value="Finance"/>
          <xsd:enumeration value="Manufacturing"/>
          <xsd:enumeration value="Research &amp; Development"/>
          <xsd:enumeration value="Sales"/>
          <xsd:enumeration value="Service"/>
        </xsd:restriction>
      </xsd:simpleType>
    </xsd:element>
    <xsd:element name="Location" ma:index="27" nillable="true" ma:displayName="Location" ma:default="United States" ma:description="If item is specific to a location, select the correct item." ma:format="Dropdown" ma:internalName="Location">
      <xsd:simpleType>
        <xsd:restriction base="dms:Choice">
          <xsd:enumeration value=""/>
          <xsd:enumeration value="Africa"/>
          <xsd:enumeration value="Asia"/>
          <xsd:enumeration value="Australia/New Zealand"/>
          <xsd:enumeration value="Canada"/>
          <xsd:enumeration value="Europe"/>
          <xsd:enumeration value="India"/>
          <xsd:enumeration value="Latin America"/>
          <xsd:enumeration value="Middle East"/>
          <xsd:enumeration value="South America"/>
          <xsd:enumeration value="United States"/>
          <xsd:enumeration value="Multinational"/>
        </xsd:restriction>
      </xsd:simpleType>
    </xsd:element>
    <xsd:element name="MediaServiceMetadata" ma:index="9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9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95" nillable="true" ma:displayName="MediaServiceAutoTags" ma:internalName="MediaServiceAutoTags" ma:readOnly="true">
      <xsd:simpleType>
        <xsd:restriction base="dms:Text"/>
      </xsd:simpleType>
    </xsd:element>
    <xsd:element name="MediaServiceOCR" ma:index="9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9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0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02" nillable="true" ma:taxonomy="true" ma:internalName="lcf76f155ced4ddcb4097134ff3c332f" ma:taxonomyFieldName="MediaServiceImageTags" ma:displayName="Image Tags" ma:readOnly="false" ma:fieldId="{5cf76f15-5ced-4ddc-b409-7134ff3c332f}" ma:taxonomyMulti="true" ma:sspId="fe04e258-68ed-4fc6-9a7d-fa2bd77f3f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0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0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eaccb7-c726-448a-9915-8c8096b8be7d" elementFormDefault="qualified">
    <xsd:import namespace="http://schemas.microsoft.com/office/2006/documentManagement/types"/>
    <xsd:import namespace="http://schemas.microsoft.com/office/infopath/2007/PartnerControls"/>
    <xsd:element name="SharedWithUsers" ma:index="9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180c36-e63a-457f-b527-7ae0d11b35fa" elementFormDefault="qualified">
    <xsd:import namespace="http://schemas.microsoft.com/office/2006/documentManagement/types"/>
    <xsd:import namespace="http://schemas.microsoft.com/office/infopath/2007/PartnerControls"/>
    <xsd:element name="TaxCatchAll" ma:index="103" nillable="true" ma:displayName="Taxonomy Catch All Column" ma:hidden="true" ma:list="{4f34101f-d9f8-4657-8dbd-1bbb13459df8}" ma:internalName="TaxCatchAll" ma:showField="CatchAllData" ma:web="a3eaccb7-c726-448a-9915-8c8096b8be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8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2EAEC1-E0A2-4676-9740-D3EE082BB97B}">
  <ds:schemaRefs>
    <ds:schemaRef ds:uri="http://purl.org/dc/dcmitype/"/>
    <ds:schemaRef ds:uri="31fc13c2-c056-4e02-a357-e870c07d9b18"/>
    <ds:schemaRef ds:uri="http://schemas.microsoft.com/office/2006/metadata/properties"/>
    <ds:schemaRef ds:uri="http://schemas.microsoft.com/sharepoint/v3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07180c36-e63a-457f-b527-7ae0d11b35fa"/>
    <ds:schemaRef ds:uri="a3eaccb7-c726-448a-9915-8c8096b8be7d"/>
    <ds:schemaRef ds:uri="http://purl.org/dc/terms/"/>
    <ds:schemaRef ds:uri="29797198-d3c6-4d26-8378-6d40c1285993"/>
    <ds:schemaRef ds:uri="6ecf3c26-384e-457d-95ec-7a1024297ad9"/>
  </ds:schemaRefs>
</ds:datastoreItem>
</file>

<file path=customXml/itemProps2.xml><?xml version="1.0" encoding="utf-8"?>
<ds:datastoreItem xmlns:ds="http://schemas.openxmlformats.org/officeDocument/2006/customXml" ds:itemID="{91CA1474-89F2-420A-893C-82F0F3BD25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11BD79-551C-4936-AB6A-43440D52F5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1fc13c2-c056-4e02-a357-e870c07d9b18"/>
    <ds:schemaRef ds:uri="a3eaccb7-c726-448a-9915-8c8096b8be7d"/>
    <ds:schemaRef ds:uri="07180c36-e63a-457f-b527-7ae0d11b35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348</Words>
  <Application>Microsoft Office PowerPoint</Application>
  <PresentationFormat>宽屏</PresentationFormat>
  <Paragraphs>82</Paragraphs>
  <Slides>32</Slides>
  <Notes>32</Notes>
  <HiddenSlides>0</HiddenSlides>
  <MMClips>0</MMClips>
  <ScaleCrop>false</ScaleCrop>
  <HeadingPairs>
    <vt:vector size="4" baseType="variant">
      <vt:variant>
        <vt:lpstr>主题</vt:lpstr>
      </vt:variant>
      <vt:variant>
        <vt:i4>4</vt:i4>
      </vt:variant>
      <vt:variant>
        <vt:lpstr>幻灯片标题</vt:lpstr>
      </vt:variant>
      <vt:variant>
        <vt:i4>32</vt:i4>
      </vt:variant>
    </vt:vector>
  </HeadingPairs>
  <TitlesOfParts>
    <vt:vector size="36" baseType="lpstr">
      <vt:lpstr>DDI Gray Series</vt:lpstr>
      <vt:lpstr>DDI Standard White</vt:lpstr>
      <vt:lpstr>DDI Cover and Section Slides</vt:lpstr>
      <vt:lpstr>DDI Brand</vt:lpstr>
      <vt:lpstr> this chat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Branding</dc:title>
  <dc:creator>Susan Ryan</dc:creator>
  <cp:lastModifiedBy>Mazza, Robin</cp:lastModifiedBy>
  <cp:revision>4</cp:revision>
  <dcterms:created xsi:type="dcterms:W3CDTF">2020-12-02T17:34:46Z</dcterms:created>
  <dcterms:modified xsi:type="dcterms:W3CDTF">2026-01-12T09:24:36Z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0x010100A92DC786B293BB47BF4220E20CED9BFB</vt:lpwstr>
  </property>
  <property fmtid="{D5CDD505-2E9C-101B-9397-08002B2CF9AE}" pid="3" name="MSIP_Label_c2a9ba5a-04bf-48bc-bbac-e0a79bda9f06_Enabled">
    <vt:lpwstr>true</vt:lpwstr>
  </property>
  <property fmtid="{D5CDD505-2E9C-101B-9397-08002B2CF9AE}" pid="4" name="MSIP_Label_c2a9ba5a-04bf-48bc-bbac-e0a79bda9f06_SetDate">
    <vt:lpwstr>2024-04-11T18:44:48Z</vt:lpwstr>
  </property>
  <property fmtid="{D5CDD505-2E9C-101B-9397-08002B2CF9AE}" pid="5" name="MSIP_Label_c2a9ba5a-04bf-48bc-bbac-e0a79bda9f06_Method">
    <vt:lpwstr>Standard</vt:lpwstr>
  </property>
  <property fmtid="{D5CDD505-2E9C-101B-9397-08002B2CF9AE}" pid="6" name="MSIP_Label_c2a9ba5a-04bf-48bc-bbac-e0a79bda9f06_Name">
    <vt:lpwstr>c2a9ba5a-04bf-48bc-bbac-e0a79bda9f06</vt:lpwstr>
  </property>
  <property fmtid="{D5CDD505-2E9C-101B-9397-08002B2CF9AE}" pid="7" name="MSIP_Label_c2a9ba5a-04bf-48bc-bbac-e0a79bda9f06_SiteId">
    <vt:lpwstr>5a50bdd9-5b35-4c1f-a977-f078974e6d10</vt:lpwstr>
  </property>
  <property fmtid="{D5CDD505-2E9C-101B-9397-08002B2CF9AE}" pid="8" name="MSIP_Label_c2a9ba5a-04bf-48bc-bbac-e0a79bda9f06_ActionId">
    <vt:lpwstr>1839ebde-a554-46bc-8942-7a1a37b5cbde</vt:lpwstr>
  </property>
  <property fmtid="{D5CDD505-2E9C-101B-9397-08002B2CF9AE}" pid="9" name="MSIP_Label_c2a9ba5a-04bf-48bc-bbac-e0a79bda9f06_ContentBits">
    <vt:lpwstr>0</vt:lpwstr>
  </property>
  <property fmtid="{D5CDD505-2E9C-101B-9397-08002B2CF9AE}" pid="10" name="MediaServiceImageTags">
    <vt:lpwstr/>
  </property>
</Properties>
</file>